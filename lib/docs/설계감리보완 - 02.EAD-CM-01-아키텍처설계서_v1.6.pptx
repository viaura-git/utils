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4"/>
  </p:sldMasterIdLst>
  <p:notesMasterIdLst>
    <p:notesMasterId r:id="rId19"/>
  </p:notesMasterIdLst>
  <p:handoutMasterIdLst>
    <p:handoutMasterId r:id="rId20"/>
  </p:handoutMasterIdLst>
  <p:sldIdLst>
    <p:sldId id="5453" r:id="rId5"/>
    <p:sldId id="5796" r:id="rId6"/>
    <p:sldId id="5782" r:id="rId7"/>
    <p:sldId id="5785" r:id="rId8"/>
    <p:sldId id="5786" r:id="rId9"/>
    <p:sldId id="5787" r:id="rId10"/>
    <p:sldId id="5788" r:id="rId11"/>
    <p:sldId id="5789" r:id="rId12"/>
    <p:sldId id="5790" r:id="rId13"/>
    <p:sldId id="5797" r:id="rId14"/>
    <p:sldId id="5799" r:id="rId15"/>
    <p:sldId id="5800" r:id="rId16"/>
    <p:sldId id="5801" r:id="rId17"/>
    <p:sldId id="5798" r:id="rId18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kumimoji="1" sz="9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6pPr>
    <a:lvl7pPr marL="2743200" algn="l" defTabSz="914400" rtl="0" eaLnBrk="1" latinLnBrk="1" hangingPunct="1">
      <a:defRPr kumimoji="1" sz="9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7pPr>
    <a:lvl8pPr marL="3200400" algn="l" defTabSz="914400" rtl="0" eaLnBrk="1" latinLnBrk="1" hangingPunct="1">
      <a:defRPr kumimoji="1" sz="9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8pPr>
    <a:lvl9pPr marL="3657600" algn="l" defTabSz="914400" rtl="0" eaLnBrk="1" latinLnBrk="1" hangingPunct="1">
      <a:defRPr kumimoji="1" sz="9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8" userDrawn="1">
          <p15:clr>
            <a:srgbClr val="A4A3A4"/>
          </p15:clr>
        </p15:guide>
        <p15:guide id="3" orient="horz" pos="232" userDrawn="1">
          <p15:clr>
            <a:srgbClr val="A4A3A4"/>
          </p15:clr>
        </p15:guide>
        <p15:guide id="4" orient="horz" pos="5" userDrawn="1">
          <p15:clr>
            <a:srgbClr val="A4A3A4"/>
          </p15:clr>
        </p15:guide>
        <p15:guide id="5" pos="6068">
          <p15:clr>
            <a:srgbClr val="A4A3A4"/>
          </p15:clr>
        </p15:guide>
        <p15:guide id="6" pos="172">
          <p15:clr>
            <a:srgbClr val="A4A3A4"/>
          </p15:clr>
        </p15:guide>
        <p15:guide id="7" pos="3120">
          <p15:clr>
            <a:srgbClr val="A4A3A4"/>
          </p15:clr>
        </p15:guide>
        <p15:guide id="8" pos="4141" userDrawn="1">
          <p15:clr>
            <a:srgbClr val="A4A3A4"/>
          </p15:clr>
        </p15:guide>
        <p15:guide id="9" orient="horz" pos="799" userDrawn="1">
          <p15:clr>
            <a:srgbClr val="A4A3A4"/>
          </p15:clr>
        </p15:guide>
        <p15:guide id="10" pos="909" userDrawn="1">
          <p15:clr>
            <a:srgbClr val="A4A3A4"/>
          </p15:clr>
        </p15:guide>
        <p15:guide id="11" pos="1873" userDrawn="1">
          <p15:clr>
            <a:srgbClr val="A4A3A4"/>
          </p15:clr>
        </p15:guide>
        <p15:guide id="12" pos="5331" userDrawn="1">
          <p15:clr>
            <a:srgbClr val="A4A3A4"/>
          </p15:clr>
        </p15:guide>
        <p15:guide id="13" orient="horz" pos="24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FBFBF"/>
    <a:srgbClr val="0000FF"/>
    <a:srgbClr val="E6B9B8"/>
    <a:srgbClr val="FF0000"/>
    <a:srgbClr val="7F7F7F"/>
    <a:srgbClr val="DDDDDD"/>
    <a:srgbClr val="EAEAEA"/>
    <a:srgbClr val="D9D9D9"/>
    <a:srgbClr val="06255D"/>
    <a:srgbClr val="0B3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30" autoAdjust="0"/>
    <p:restoredTop sz="95494" autoAdjust="0"/>
  </p:normalViewPr>
  <p:slideViewPr>
    <p:cSldViewPr showGuides="1">
      <p:cViewPr varScale="1">
        <p:scale>
          <a:sx n="111" d="100"/>
          <a:sy n="111" d="100"/>
        </p:scale>
        <p:origin x="1458" y="96"/>
      </p:cViewPr>
      <p:guideLst>
        <p:guide orient="horz" pos="3918"/>
        <p:guide orient="horz" pos="232"/>
        <p:guide orient="horz" pos="5"/>
        <p:guide pos="6068"/>
        <p:guide pos="172"/>
        <p:guide pos="3120"/>
        <p:guide pos="4141"/>
        <p:guide orient="horz" pos="799"/>
        <p:guide pos="909"/>
        <p:guide pos="1873"/>
        <p:guide pos="5331"/>
        <p:guide orient="horz" pos="24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12348"/>
    </p:cViewPr>
  </p:sorterViewPr>
  <p:notesViewPr>
    <p:cSldViewPr showGuides="1">
      <p:cViewPr varScale="1">
        <p:scale>
          <a:sx n="61" d="100"/>
          <a:sy n="61" d="100"/>
        </p:scale>
        <p:origin x="-3414" y="-90"/>
      </p:cViewPr>
      <p:guideLst>
        <p:guide orient="horz" pos="3127"/>
        <p:guide pos="2142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247" cy="496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362" tIns="45681" rIns="91362" bIns="45681" numCol="1" anchor="ctr" anchorCtr="0" compatLnSpc="1">
            <a:prstTxWarp prst="textNoShape">
              <a:avLst/>
            </a:prstTxWarp>
          </a:bodyPr>
          <a:lstStyle>
            <a:lvl1pPr algn="l" defTabSz="913896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Arial" pitchFamily="34" charset="0"/>
                <a:ea typeface="HY태명조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429" y="0"/>
            <a:ext cx="2946247" cy="496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362" tIns="45681" rIns="91362" bIns="45681" numCol="1" anchor="ctr" anchorCtr="0" compatLnSpc="1">
            <a:prstTxWarp prst="textNoShape">
              <a:avLst/>
            </a:prstTxWarp>
          </a:bodyPr>
          <a:lstStyle>
            <a:lvl1pPr algn="r" defTabSz="913896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Arial" pitchFamily="34" charset="0"/>
                <a:ea typeface="HY태명조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907"/>
            <a:ext cx="2946247" cy="496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362" tIns="45681" rIns="91362" bIns="45681" numCol="1" anchor="b" anchorCtr="0" compatLnSpc="1">
            <a:prstTxWarp prst="textNoShape">
              <a:avLst/>
            </a:prstTxWarp>
          </a:bodyPr>
          <a:lstStyle>
            <a:lvl1pPr algn="l" defTabSz="913896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Arial" pitchFamily="34" charset="0"/>
                <a:ea typeface="HY태명조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429" y="9429907"/>
            <a:ext cx="2946247" cy="496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362" tIns="45681" rIns="91362" bIns="45681" numCol="1" anchor="b" anchorCtr="0" compatLnSpc="1">
            <a:prstTxWarp prst="textNoShape">
              <a:avLst/>
            </a:prstTxWarp>
          </a:bodyPr>
          <a:lstStyle>
            <a:lvl1pPr algn="r" defTabSz="913080">
              <a:defRPr kumimoji="0" sz="1200">
                <a:latin typeface="Arial" panose="020B0604020202020204" pitchFamily="34" charset="0"/>
                <a:ea typeface="HY태명조"/>
                <a:cs typeface="HY태명조"/>
              </a:defRPr>
            </a:lvl1pPr>
          </a:lstStyle>
          <a:p>
            <a:fld id="{9D883452-E4E0-45C2-BE7A-577B73B7EA61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247" cy="4967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vert="horz" wrap="square" lIns="91362" tIns="45681" rIns="91362" bIns="45681" numCol="1" anchor="t" anchorCtr="0" compatLnSpc="1">
            <a:prstTxWarp prst="textNoShape">
              <a:avLst/>
            </a:prstTxWarp>
          </a:bodyPr>
          <a:lstStyle>
            <a:lvl1pPr algn="l" defTabSz="913896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Arial" pitchFamily="34" charset="0"/>
                <a:ea typeface="HY태명조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1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5963" y="739775"/>
            <a:ext cx="5387975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3580" y="4713357"/>
            <a:ext cx="4990516" cy="84651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907"/>
            <a:ext cx="2946247" cy="4967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vert="horz" wrap="square" lIns="91362" tIns="45681" rIns="91362" bIns="45681" numCol="1" anchor="b" anchorCtr="0" compatLnSpc="1">
            <a:prstTxWarp prst="textNoShape">
              <a:avLst/>
            </a:prstTxWarp>
          </a:bodyPr>
          <a:lstStyle>
            <a:lvl1pPr algn="l" defTabSz="913896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Arial" pitchFamily="34" charset="0"/>
                <a:ea typeface="HY태명조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429" y="9429907"/>
            <a:ext cx="2946247" cy="4967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vert="horz" wrap="square" lIns="91362" tIns="45681" rIns="91362" bIns="45681" numCol="1" anchor="b" anchorCtr="0" compatLnSpc="1">
            <a:prstTxWarp prst="textNoShape">
              <a:avLst/>
            </a:prstTxWarp>
          </a:bodyPr>
          <a:lstStyle>
            <a:lvl1pPr algn="r" defTabSz="913080">
              <a:defRPr kumimoji="0" sz="1200">
                <a:latin typeface="Arial" panose="020B0604020202020204" pitchFamily="34" charset="0"/>
                <a:ea typeface="HY태명조"/>
                <a:cs typeface="HY태명조"/>
              </a:defRPr>
            </a:lvl1pPr>
          </a:lstStyle>
          <a:p>
            <a:fld id="{5391D938-B042-4306-8F13-A063DCF23EC6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06363" indent="-106363" algn="l" rtl="0" eaLnBrk="0" fontAlgn="base" latinLnBrk="1" hangingPunct="0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230188" indent="-122238" algn="l" rtl="0" eaLnBrk="0" fontAlgn="base" latinLnBrk="1" hangingPunct="0">
      <a:spcBef>
        <a:spcPct val="0"/>
      </a:spcBef>
      <a:spcAft>
        <a:spcPct val="0"/>
      </a:spcAft>
      <a:buChar char="¶"/>
      <a:defRPr kumimoji="1" sz="11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352425" indent="-106363" algn="l" rtl="0" eaLnBrk="0" fontAlgn="base" latinLnBrk="1" hangingPunct="0">
      <a:spcBef>
        <a:spcPct val="0"/>
      </a:spcBef>
      <a:spcAft>
        <a:spcPct val="0"/>
      </a:spcAft>
      <a:buChar char="•"/>
      <a:defRPr kumimoji="1" sz="11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477838" indent="-123825" algn="l" rtl="0" eaLnBrk="0" fontAlgn="base" latinLnBrk="1" hangingPunct="0">
      <a:spcBef>
        <a:spcPct val="0"/>
      </a:spcBef>
      <a:spcAft>
        <a:spcPct val="0"/>
      </a:spcAft>
      <a:buChar char="–"/>
      <a:defRPr kumimoji="1" sz="11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620713" indent="-106363" algn="l" rtl="0" eaLnBrk="0" fontAlgn="base" latinLnBrk="1" hangingPunct="0">
      <a:spcBef>
        <a:spcPct val="0"/>
      </a:spcBef>
      <a:spcAft>
        <a:spcPct val="0"/>
      </a:spcAft>
      <a:buChar char="·"/>
      <a:defRPr kumimoji="1" sz="11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93850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6428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bg>
      <p:bgPr>
        <a:pattFill prst="lgCheck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모서리가 둥근 직사각형 5">
            <a:extLst>
              <a:ext uri="{FF2B5EF4-FFF2-40B4-BE49-F238E27FC236}">
                <a16:creationId xmlns:a16="http://schemas.microsoft.com/office/drawing/2014/main" id="{7DEA2EAF-A494-40E0-8092-A1A6CE1AFAAA}"/>
              </a:ext>
            </a:extLst>
          </p:cNvPr>
          <p:cNvSpPr/>
          <p:nvPr userDrawn="1"/>
        </p:nvSpPr>
        <p:spPr>
          <a:xfrm>
            <a:off x="270646" y="286050"/>
            <a:ext cx="9360000" cy="6330652"/>
          </a:xfrm>
          <a:prstGeom prst="roundRect">
            <a:avLst>
              <a:gd name="adj" fmla="val 3237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>
            <a:outerShdw blurRad="635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7435709-D85C-458F-A9EE-661F6035FA6A}"/>
              </a:ext>
            </a:extLst>
          </p:cNvPr>
          <p:cNvSpPr/>
          <p:nvPr userDrawn="1"/>
        </p:nvSpPr>
        <p:spPr>
          <a:xfrm>
            <a:off x="628307" y="923352"/>
            <a:ext cx="8644157" cy="252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 latinLnBrk="0"/>
            <a:endParaRPr lang="ko-KR" altLang="en-US" sz="100" spc="-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68C4F56-0246-4B0D-8CA2-D5C1F136F14B}"/>
              </a:ext>
            </a:extLst>
          </p:cNvPr>
          <p:cNvSpPr/>
          <p:nvPr userDrawn="1"/>
        </p:nvSpPr>
        <p:spPr>
          <a:xfrm>
            <a:off x="631726" y="1196752"/>
            <a:ext cx="4248249" cy="4824536"/>
          </a:xfrm>
          <a:prstGeom prst="rect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/>
            <a:endParaRPr lang="ko-KR" altLang="en-US" sz="1400" spc="-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3AB87F5-5A53-428F-A95C-0ECE6EA5F67D}"/>
              </a:ext>
            </a:extLst>
          </p:cNvPr>
          <p:cNvSpPr/>
          <p:nvPr userDrawn="1"/>
        </p:nvSpPr>
        <p:spPr>
          <a:xfrm>
            <a:off x="5027856" y="1196752"/>
            <a:ext cx="4248249" cy="4824536"/>
          </a:xfrm>
          <a:prstGeom prst="rect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/>
            <a:endParaRPr lang="ko-KR" altLang="en-US" sz="1400" spc="-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자유형 26">
            <a:extLst>
              <a:ext uri="{FF2B5EF4-FFF2-40B4-BE49-F238E27FC236}">
                <a16:creationId xmlns:a16="http://schemas.microsoft.com/office/drawing/2014/main" id="{B3584B37-6D68-426B-8C67-1349DDE31404}"/>
              </a:ext>
            </a:extLst>
          </p:cNvPr>
          <p:cNvSpPr/>
          <p:nvPr/>
        </p:nvSpPr>
        <p:spPr>
          <a:xfrm flipV="1">
            <a:off x="4088904" y="596653"/>
            <a:ext cx="1728192" cy="329223"/>
          </a:xfrm>
          <a:custGeom>
            <a:avLst/>
            <a:gdLst>
              <a:gd name="connsiteX0" fmla="*/ 431800 w 1463270"/>
              <a:gd name="connsiteY0" fmla="*/ 415575 h 415575"/>
              <a:gd name="connsiteX1" fmla="*/ 731635 w 1463270"/>
              <a:gd name="connsiteY1" fmla="*/ 415385 h 415575"/>
              <a:gd name="connsiteX2" fmla="*/ 1031470 w 1463270"/>
              <a:gd name="connsiteY2" fmla="*/ 415575 h 415575"/>
              <a:gd name="connsiteX3" fmla="*/ 1031470 w 1463270"/>
              <a:gd name="connsiteY3" fmla="*/ 415196 h 415575"/>
              <a:gd name="connsiteX4" fmla="*/ 1078459 w 1463270"/>
              <a:gd name="connsiteY4" fmla="*/ 415166 h 415575"/>
              <a:gd name="connsiteX5" fmla="*/ 1204441 w 1463270"/>
              <a:gd name="connsiteY5" fmla="*/ 394629 h 415575"/>
              <a:gd name="connsiteX6" fmla="*/ 1296677 w 1463270"/>
              <a:gd name="connsiteY6" fmla="*/ 312762 h 415575"/>
              <a:gd name="connsiteX7" fmla="*/ 1463270 w 1463270"/>
              <a:gd name="connsiteY7" fmla="*/ 0 h 415575"/>
              <a:gd name="connsiteX8" fmla="*/ 1031470 w 1463270"/>
              <a:gd name="connsiteY8" fmla="*/ 0 h 415575"/>
              <a:gd name="connsiteX9" fmla="*/ 431800 w 1463270"/>
              <a:gd name="connsiteY9" fmla="*/ 0 h 415575"/>
              <a:gd name="connsiteX10" fmla="*/ 0 w 1463270"/>
              <a:gd name="connsiteY10" fmla="*/ 0 h 415575"/>
              <a:gd name="connsiteX11" fmla="*/ 166593 w 1463270"/>
              <a:gd name="connsiteY11" fmla="*/ 312762 h 415575"/>
              <a:gd name="connsiteX12" fmla="*/ 258829 w 1463270"/>
              <a:gd name="connsiteY12" fmla="*/ 394629 h 415575"/>
              <a:gd name="connsiteX13" fmla="*/ 384811 w 1463270"/>
              <a:gd name="connsiteY13" fmla="*/ 415166 h 415575"/>
              <a:gd name="connsiteX14" fmla="*/ 431800 w 1463270"/>
              <a:gd name="connsiteY14" fmla="*/ 415196 h 415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63270" h="415575">
                <a:moveTo>
                  <a:pt x="431800" y="415575"/>
                </a:moveTo>
                <a:lnTo>
                  <a:pt x="731635" y="415385"/>
                </a:lnTo>
                <a:lnTo>
                  <a:pt x="1031470" y="415575"/>
                </a:lnTo>
                <a:lnTo>
                  <a:pt x="1031470" y="415196"/>
                </a:lnTo>
                <a:lnTo>
                  <a:pt x="1078459" y="415166"/>
                </a:lnTo>
                <a:cubicBezTo>
                  <a:pt x="1153186" y="409973"/>
                  <a:pt x="1162447" y="414688"/>
                  <a:pt x="1204441" y="394629"/>
                </a:cubicBezTo>
                <a:cubicBezTo>
                  <a:pt x="1253041" y="373121"/>
                  <a:pt x="1251052" y="364001"/>
                  <a:pt x="1296677" y="312762"/>
                </a:cubicBezTo>
                <a:lnTo>
                  <a:pt x="1463270" y="0"/>
                </a:lnTo>
                <a:lnTo>
                  <a:pt x="1031470" y="0"/>
                </a:lnTo>
                <a:lnTo>
                  <a:pt x="431800" y="0"/>
                </a:lnTo>
                <a:lnTo>
                  <a:pt x="0" y="0"/>
                </a:lnTo>
                <a:lnTo>
                  <a:pt x="166593" y="312762"/>
                </a:lnTo>
                <a:cubicBezTo>
                  <a:pt x="212218" y="364001"/>
                  <a:pt x="210229" y="373121"/>
                  <a:pt x="258829" y="394629"/>
                </a:cubicBezTo>
                <a:cubicBezTo>
                  <a:pt x="300823" y="414688"/>
                  <a:pt x="310084" y="409973"/>
                  <a:pt x="384811" y="415166"/>
                </a:cubicBezTo>
                <a:lnTo>
                  <a:pt x="431800" y="41519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latinLnBrk="0"/>
            <a:endParaRPr lang="ko-KR" altLang="en-US" sz="1400" spc="-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1C560F05-75B6-4F11-9AED-B21688378E1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912" y="614379"/>
            <a:ext cx="1584176" cy="329222"/>
          </a:xfrm>
          <a:prstGeom prst="roundRect">
            <a:avLst>
              <a:gd name="adj" fmla="val 0"/>
            </a:avLst>
          </a:prstGeom>
          <a:noFill/>
          <a:ln w="19050">
            <a:noFill/>
            <a:miter lim="800000"/>
            <a:headEnd/>
            <a:tailEnd/>
          </a:ln>
        </p:spPr>
        <p:txBody>
          <a:bodyPr tIns="72000" anchor="ctr"/>
          <a:lstStyle/>
          <a:p>
            <a:pPr algn="ctr"/>
            <a:r>
              <a:rPr lang="en-US" altLang="ko-KR" sz="1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Verdana" panose="020B0604030504040204" pitchFamily="34" charset="0"/>
                <a:cs typeface="Arial" panose="020B0604020202020204" pitchFamily="34" charset="0"/>
              </a:rPr>
              <a:t>Contents List</a:t>
            </a:r>
            <a:endParaRPr lang="ko-KR" alt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550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008D083-0E9A-4206-81E6-8875464632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8"/>
            <a:ext cx="9906000" cy="6855044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73F238AC-59C9-46E8-BA96-40A6C533E69D}"/>
              </a:ext>
            </a:extLst>
          </p:cNvPr>
          <p:cNvGrpSpPr/>
          <p:nvPr userDrawn="1"/>
        </p:nvGrpSpPr>
        <p:grpSpPr>
          <a:xfrm>
            <a:off x="965675" y="2996952"/>
            <a:ext cx="7974650" cy="864096"/>
            <a:chOff x="2360712" y="3284984"/>
            <a:chExt cx="5184576" cy="864096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EF557695-4AB0-404B-B66B-A808018B0584}"/>
                </a:ext>
              </a:extLst>
            </p:cNvPr>
            <p:cNvCxnSpPr/>
            <p:nvPr userDrawn="1"/>
          </p:nvCxnSpPr>
          <p:spPr>
            <a:xfrm>
              <a:off x="2360712" y="3284984"/>
              <a:ext cx="51845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56670DC8-3ECF-49C1-8A31-A272244B8119}"/>
                </a:ext>
              </a:extLst>
            </p:cNvPr>
            <p:cNvCxnSpPr/>
            <p:nvPr userDrawn="1"/>
          </p:nvCxnSpPr>
          <p:spPr>
            <a:xfrm>
              <a:off x="2360712" y="4149080"/>
              <a:ext cx="5184576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8038693-CDC6-4CA6-BEF0-D0AE9E86D8A7}"/>
              </a:ext>
            </a:extLst>
          </p:cNvPr>
          <p:cNvSpPr txBox="1"/>
          <p:nvPr userDrawn="1"/>
        </p:nvSpPr>
        <p:spPr>
          <a:xfrm>
            <a:off x="4427402" y="2364364"/>
            <a:ext cx="1051224" cy="6423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0" tIns="180000" rIns="360000" bIns="180000" rtlCol="0" anchor="ctr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>
              <a:lnSpc>
                <a:spcPct val="110000"/>
              </a:lnSpc>
            </a:pPr>
            <a:r>
              <a:rPr lang="en-US" altLang="ko-KR" sz="1800" b="1" spc="-136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</a:rPr>
              <a:t>OO</a:t>
            </a:r>
            <a:endParaRPr lang="ko-KR" altLang="en-US" sz="1800" b="1" spc="-136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003614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간지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008D083-0E9A-4206-81E6-8875464632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8"/>
            <a:ext cx="9906000" cy="685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634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유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 rot="5400000">
            <a:off x="-3398400" y="3398400"/>
            <a:ext cx="6858000" cy="61200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 userDrawn="1"/>
        </p:nvSpPr>
        <p:spPr>
          <a:xfrm rot="5400000">
            <a:off x="6446377" y="3398377"/>
            <a:ext cx="6858000" cy="61246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4532AE99-E939-4BFE-A7D0-014ABE6316B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90295" y="6629814"/>
            <a:ext cx="32541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/>
            <a:r>
              <a:rPr lang="en-US" altLang="ko-KR" sz="10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- </a:t>
            </a:r>
            <a:fld id="{1BB9901C-7B72-45F9-972C-F3D5D422CC37}" type="slidenum">
              <a:rPr lang="en-US" altLang="ko-KR" sz="1000" b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 algn="ctr"/>
              <a:t>‹#›</a:t>
            </a:fld>
            <a:r>
              <a:rPr lang="en-US" altLang="ko-KR" sz="10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-</a:t>
            </a:r>
          </a:p>
        </p:txBody>
      </p:sp>
      <p:cxnSp>
        <p:nvCxnSpPr>
          <p:cNvPr id="18" name="직선 연결선 1"/>
          <p:cNvCxnSpPr/>
          <p:nvPr userDrawn="1"/>
        </p:nvCxnSpPr>
        <p:spPr>
          <a:xfrm>
            <a:off x="76912" y="6398460"/>
            <a:ext cx="9767843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/>
          <p:cNvGrpSpPr/>
          <p:nvPr userDrawn="1"/>
        </p:nvGrpSpPr>
        <p:grpSpPr>
          <a:xfrm>
            <a:off x="0" y="0"/>
            <a:ext cx="2522051" cy="664231"/>
            <a:chOff x="587076" y="0"/>
            <a:chExt cx="3034109" cy="1041400"/>
          </a:xfrm>
        </p:grpSpPr>
        <p:sp>
          <p:nvSpPr>
            <p:cNvPr id="17" name="직사각형 16"/>
            <p:cNvSpPr/>
            <p:nvPr/>
          </p:nvSpPr>
          <p:spPr>
            <a:xfrm>
              <a:off x="2715252" y="0"/>
              <a:ext cx="905933" cy="10414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1811867" y="0"/>
              <a:ext cx="905933" cy="10414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05934" y="0"/>
              <a:ext cx="905933" cy="1041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587076" y="0"/>
              <a:ext cx="318858" cy="1041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5" name="직사각형 24"/>
          <p:cNvSpPr/>
          <p:nvPr userDrawn="1"/>
        </p:nvSpPr>
        <p:spPr>
          <a:xfrm>
            <a:off x="2515913" y="0"/>
            <a:ext cx="7396437" cy="6642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양쪽 모서리가 둥근 사각형 26"/>
          <p:cNvSpPr/>
          <p:nvPr userDrawn="1"/>
        </p:nvSpPr>
        <p:spPr>
          <a:xfrm flipH="1">
            <a:off x="740567" y="59822"/>
            <a:ext cx="9104467" cy="604410"/>
          </a:xfrm>
          <a:prstGeom prst="round2SameRect">
            <a:avLst>
              <a:gd name="adj1" fmla="val 4459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이등변 삼각형 38"/>
          <p:cNvSpPr/>
          <p:nvPr userDrawn="1"/>
        </p:nvSpPr>
        <p:spPr>
          <a:xfrm rot="5400000">
            <a:off x="718888" y="297121"/>
            <a:ext cx="150368" cy="119254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/>
          <p:cNvSpPr/>
          <p:nvPr userDrawn="1"/>
        </p:nvSpPr>
        <p:spPr>
          <a:xfrm flipH="1">
            <a:off x="-2400" y="672678"/>
            <a:ext cx="9910800" cy="54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18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solidFill>
                  <a:srgbClr val="1C345A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3" name="그림 2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36" y="6540511"/>
            <a:ext cx="1318084" cy="173987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820" y="6571454"/>
            <a:ext cx="971686" cy="13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817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유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 rot="5400000">
            <a:off x="-3398400" y="3398400"/>
            <a:ext cx="6858000" cy="61200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 userDrawn="1"/>
        </p:nvSpPr>
        <p:spPr>
          <a:xfrm rot="5400000">
            <a:off x="6446377" y="3398377"/>
            <a:ext cx="6858000" cy="61246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38167D7-45F9-4ABB-AFF8-F964D4634790}"/>
              </a:ext>
            </a:extLst>
          </p:cNvPr>
          <p:cNvSpPr/>
          <p:nvPr userDrawn="1"/>
        </p:nvSpPr>
        <p:spPr>
          <a:xfrm>
            <a:off x="416495" y="1916098"/>
            <a:ext cx="9072164" cy="4176000"/>
          </a:xfrm>
          <a:prstGeom prst="rect">
            <a:avLst/>
          </a:prstGeom>
          <a:noFill/>
          <a:ln w="317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/>
            <a:endParaRPr lang="ko-KR" altLang="en-US" sz="1400" spc="-100" dirty="0">
              <a:solidFill>
                <a:srgbClr val="000000"/>
              </a:solidFill>
              <a:latin typeface="맑은 고딕" panose="00000300000000000000" pitchFamily="2" charset="-127"/>
              <a:ea typeface="맑은 고딕" panose="00000300000000000000" pitchFamily="2" charset="-127"/>
            </a:endParaRP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4532AE99-E939-4BFE-A7D0-014ABE6316B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90295" y="6629814"/>
            <a:ext cx="32541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/>
            <a:r>
              <a:rPr lang="en-US" altLang="ko-KR" sz="10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- </a:t>
            </a:r>
            <a:fld id="{1BB9901C-7B72-45F9-972C-F3D5D422CC37}" type="slidenum">
              <a:rPr lang="en-US" altLang="ko-KR" sz="1000" b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 algn="ctr"/>
              <a:t>‹#›</a:t>
            </a:fld>
            <a:r>
              <a:rPr lang="en-US" altLang="ko-KR" sz="10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-</a:t>
            </a:r>
          </a:p>
        </p:txBody>
      </p:sp>
      <p:cxnSp>
        <p:nvCxnSpPr>
          <p:cNvPr id="18" name="직선 연결선 1"/>
          <p:cNvCxnSpPr/>
          <p:nvPr userDrawn="1"/>
        </p:nvCxnSpPr>
        <p:spPr>
          <a:xfrm>
            <a:off x="76912" y="6398460"/>
            <a:ext cx="9767843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/>
          <p:cNvGrpSpPr/>
          <p:nvPr userDrawn="1"/>
        </p:nvGrpSpPr>
        <p:grpSpPr>
          <a:xfrm>
            <a:off x="0" y="0"/>
            <a:ext cx="2522051" cy="664231"/>
            <a:chOff x="587076" y="0"/>
            <a:chExt cx="3034109" cy="1041400"/>
          </a:xfrm>
        </p:grpSpPr>
        <p:sp>
          <p:nvSpPr>
            <p:cNvPr id="17" name="직사각형 16"/>
            <p:cNvSpPr/>
            <p:nvPr/>
          </p:nvSpPr>
          <p:spPr>
            <a:xfrm>
              <a:off x="2715252" y="0"/>
              <a:ext cx="905933" cy="10414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1811867" y="0"/>
              <a:ext cx="905933" cy="10414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05934" y="0"/>
              <a:ext cx="905933" cy="1041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587076" y="0"/>
              <a:ext cx="318858" cy="1041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5" name="직사각형 24"/>
          <p:cNvSpPr/>
          <p:nvPr userDrawn="1"/>
        </p:nvSpPr>
        <p:spPr>
          <a:xfrm>
            <a:off x="2515913" y="0"/>
            <a:ext cx="7396437" cy="6642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양쪽 모서리가 둥근 사각형 26"/>
          <p:cNvSpPr/>
          <p:nvPr userDrawn="1"/>
        </p:nvSpPr>
        <p:spPr>
          <a:xfrm flipH="1">
            <a:off x="740567" y="59822"/>
            <a:ext cx="9104467" cy="604410"/>
          </a:xfrm>
          <a:prstGeom prst="round2SameRect">
            <a:avLst>
              <a:gd name="adj1" fmla="val 4459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이등변 삼각형 38"/>
          <p:cNvSpPr/>
          <p:nvPr userDrawn="1"/>
        </p:nvSpPr>
        <p:spPr>
          <a:xfrm rot="5400000">
            <a:off x="718888" y="297121"/>
            <a:ext cx="150368" cy="119254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한쪽 모서리가 둥근 사각형 41"/>
          <p:cNvSpPr/>
          <p:nvPr userDrawn="1"/>
        </p:nvSpPr>
        <p:spPr>
          <a:xfrm flipH="1" flipV="1">
            <a:off x="6663190" y="59822"/>
            <a:ext cx="3181564" cy="239870"/>
          </a:xfrm>
          <a:prstGeom prst="round1Rect">
            <a:avLst/>
          </a:prstGeom>
          <a:solidFill>
            <a:srgbClr val="D9D9D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/>
          <p:cNvSpPr/>
          <p:nvPr userDrawn="1"/>
        </p:nvSpPr>
        <p:spPr>
          <a:xfrm flipH="1">
            <a:off x="-2400" y="672678"/>
            <a:ext cx="9910800" cy="54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18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solidFill>
                  <a:srgbClr val="1C345A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6" name="그룹 25"/>
          <p:cNvGrpSpPr/>
          <p:nvPr userDrawn="1"/>
        </p:nvGrpSpPr>
        <p:grpSpPr>
          <a:xfrm>
            <a:off x="3495080" y="821896"/>
            <a:ext cx="6137882" cy="645789"/>
            <a:chOff x="3495080" y="864707"/>
            <a:chExt cx="6137882" cy="620520"/>
          </a:xfrm>
        </p:grpSpPr>
        <p:grpSp>
          <p:nvGrpSpPr>
            <p:cNvPr id="29" name="그룹 28"/>
            <p:cNvGrpSpPr/>
            <p:nvPr/>
          </p:nvGrpSpPr>
          <p:grpSpPr>
            <a:xfrm>
              <a:off x="3495080" y="864707"/>
              <a:ext cx="6137882" cy="620520"/>
              <a:chOff x="3495080" y="864707"/>
              <a:chExt cx="6137882" cy="620520"/>
            </a:xfrm>
          </p:grpSpPr>
          <p:sp>
            <p:nvSpPr>
              <p:cNvPr id="33" name="직사각형 32"/>
              <p:cNvSpPr/>
              <p:nvPr/>
            </p:nvSpPr>
            <p:spPr bwMode="auto">
              <a:xfrm>
                <a:off x="3495080" y="864707"/>
                <a:ext cx="6137882" cy="62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96969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133856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2232" dirty="0">
                  <a:solidFill>
                    <a:prstClr val="white"/>
                  </a:solidFill>
                  <a:latin typeface="+mn-ea"/>
                </a:endParaRPr>
              </a:p>
            </p:txBody>
          </p:sp>
          <p:sp>
            <p:nvSpPr>
              <p:cNvPr id="34" name="직사각형 33"/>
              <p:cNvSpPr/>
              <p:nvPr/>
            </p:nvSpPr>
            <p:spPr bwMode="auto">
              <a:xfrm>
                <a:off x="3502024" y="871222"/>
                <a:ext cx="252601" cy="606339"/>
              </a:xfrm>
              <a:prstGeom prst="rect">
                <a:avLst/>
              </a:prstGeom>
              <a:solidFill>
                <a:srgbClr val="E2E2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85725" indent="-85725" algn="ctr" fontAlgn="auto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kumimoji="0" lang="ko-KR" altLang="en-US" sz="80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+mn-ea"/>
                  </a:rPr>
                  <a:t>범례</a:t>
                </a:r>
              </a:p>
            </p:txBody>
          </p:sp>
          <p:sp>
            <p:nvSpPr>
              <p:cNvPr id="35" name="곱하기 기호 629"/>
              <p:cNvSpPr/>
              <p:nvPr/>
            </p:nvSpPr>
            <p:spPr bwMode="auto">
              <a:xfrm>
                <a:off x="8689271" y="1019629"/>
                <a:ext cx="75530" cy="69120"/>
              </a:xfrm>
              <a:prstGeom prst="mathMultiply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latinLnBrk="1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800">
                  <a:solidFill>
                    <a:prstClr val="white"/>
                  </a:solidFill>
                  <a:latin typeface="+mn-ea"/>
                </a:endParaRPr>
              </a:p>
            </p:txBody>
          </p:sp>
          <p:grpSp>
            <p:nvGrpSpPr>
              <p:cNvPr id="36" name="그룹 35"/>
              <p:cNvGrpSpPr/>
              <p:nvPr/>
            </p:nvGrpSpPr>
            <p:grpSpPr>
              <a:xfrm>
                <a:off x="7190133" y="1170692"/>
                <a:ext cx="200793" cy="171765"/>
                <a:chOff x="6376853" y="1170692"/>
                <a:chExt cx="200793" cy="171765"/>
              </a:xfrm>
            </p:grpSpPr>
            <p:sp>
              <p:nvSpPr>
                <p:cNvPr id="152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6413699" y="1170692"/>
                  <a:ext cx="127101" cy="0"/>
                </a:xfrm>
                <a:prstGeom prst="line">
                  <a:avLst/>
                </a:prstGeom>
                <a:noFill/>
                <a:ln w="15875">
                  <a:solidFill>
                    <a:srgbClr val="57575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53" name="TextBox 152"/>
                <p:cNvSpPr txBox="1"/>
                <p:nvPr/>
              </p:nvSpPr>
              <p:spPr bwMode="auto">
                <a:xfrm>
                  <a:off x="6376853" y="1223963"/>
                  <a:ext cx="200793" cy="118494"/>
                </a:xfrm>
                <a:prstGeom prst="rect">
                  <a:avLst/>
                </a:prstGeom>
                <a:noFill/>
              </p:spPr>
              <p:txBody>
                <a:bodyPr lIns="0" tIns="0" rIns="0" bIns="0">
                  <a:spAutoFit/>
                </a:bodyPr>
                <a:lstStyle>
                  <a:defPPr>
                    <a:defRPr lang="en-US"/>
                  </a:defPPr>
                  <a:lvl1pPr algn="ctr">
                    <a:defRPr sz="7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+mn-ea"/>
                      <a:ea typeface="+mn-ea"/>
                    </a:defRPr>
                  </a:lvl1pPr>
                </a:lstStyle>
                <a:p>
                  <a:r>
                    <a:rPr lang="en-US" altLang="ko-KR" dirty="0"/>
                    <a:t>10G</a:t>
                  </a:r>
                  <a:endParaRPr lang="ko-KR" altLang="en-US" dirty="0"/>
                </a:p>
              </p:txBody>
            </p:sp>
          </p:grpSp>
          <p:grpSp>
            <p:nvGrpSpPr>
              <p:cNvPr id="37" name="그룹 36"/>
              <p:cNvGrpSpPr/>
              <p:nvPr/>
            </p:nvGrpSpPr>
            <p:grpSpPr>
              <a:xfrm>
                <a:off x="7417941" y="1173559"/>
                <a:ext cx="141167" cy="158126"/>
                <a:chOff x="6702615" y="1173559"/>
                <a:chExt cx="141167" cy="158126"/>
              </a:xfrm>
            </p:grpSpPr>
            <p:sp>
              <p:nvSpPr>
                <p:cNvPr id="150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6712330" y="1173559"/>
                  <a:ext cx="121736" cy="0"/>
                </a:xfrm>
                <a:prstGeom prst="line">
                  <a:avLst/>
                </a:prstGeom>
                <a:noFill/>
                <a:ln w="15875">
                  <a:solidFill>
                    <a:srgbClr val="A6A6A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51" name="TextBox 150"/>
                <p:cNvSpPr txBox="1"/>
                <p:nvPr/>
              </p:nvSpPr>
              <p:spPr bwMode="auto">
                <a:xfrm>
                  <a:off x="6702615" y="1223963"/>
                  <a:ext cx="141167" cy="107722"/>
                </a:xfrm>
                <a:prstGeom prst="rect">
                  <a:avLst/>
                </a:prstGeom>
                <a:noFill/>
              </p:spPr>
              <p:txBody>
                <a:bodyPr lIns="0" tIns="0" rIns="0" bIns="0">
                  <a:spAutoFit/>
                </a:bodyPr>
                <a:lstStyle>
                  <a:defPPr>
                    <a:defRPr lang="en-US"/>
                  </a:defPPr>
                  <a:lvl1pPr algn="ctr">
                    <a:defRPr sz="7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+mn-ea"/>
                      <a:ea typeface="+mn-ea"/>
                    </a:defRPr>
                  </a:lvl1pPr>
                </a:lstStyle>
                <a:p>
                  <a:r>
                    <a:rPr lang="en-US" altLang="ko-KR" dirty="0"/>
                    <a:t>1G</a:t>
                  </a:r>
                  <a:endParaRPr lang="ko-KR" altLang="en-US" dirty="0"/>
                </a:p>
              </p:txBody>
            </p:sp>
          </p:grpSp>
          <p:grpSp>
            <p:nvGrpSpPr>
              <p:cNvPr id="38" name="그룹 37"/>
              <p:cNvGrpSpPr/>
              <p:nvPr/>
            </p:nvGrpSpPr>
            <p:grpSpPr>
              <a:xfrm>
                <a:off x="6227894" y="933280"/>
                <a:ext cx="318426" cy="506173"/>
                <a:chOff x="4421588" y="933280"/>
                <a:chExt cx="318426" cy="506173"/>
              </a:xfrm>
            </p:grpSpPr>
            <p:grpSp>
              <p:nvGrpSpPr>
                <p:cNvPr id="123" name="그룹 586"/>
                <p:cNvGrpSpPr>
                  <a:grpSpLocks noChangeAspect="1"/>
                </p:cNvGrpSpPr>
                <p:nvPr/>
              </p:nvGrpSpPr>
              <p:grpSpPr bwMode="auto">
                <a:xfrm>
                  <a:off x="4488883" y="933280"/>
                  <a:ext cx="178180" cy="240177"/>
                  <a:chOff x="641533" y="2890029"/>
                  <a:chExt cx="312493" cy="554133"/>
                </a:xfrm>
              </p:grpSpPr>
              <p:sp>
                <p:nvSpPr>
                  <p:cNvPr id="125" name="모서리가 둥근 직사각형 1891"/>
                  <p:cNvSpPr/>
                  <p:nvPr/>
                </p:nvSpPr>
                <p:spPr>
                  <a:xfrm>
                    <a:off x="642193" y="2889755"/>
                    <a:ext cx="311413" cy="555403"/>
                  </a:xfrm>
                  <a:prstGeom prst="roundRect">
                    <a:avLst>
                      <a:gd name="adj" fmla="val 5605"/>
                    </a:avLst>
                  </a:prstGeom>
                  <a:solidFill>
                    <a:srgbClr val="96969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+mn-ea"/>
                    </a:endParaRPr>
                  </a:p>
                </p:txBody>
              </p:sp>
              <p:sp>
                <p:nvSpPr>
                  <p:cNvPr id="126" name="양쪽 모서리가 둥근 사각형 1892"/>
                  <p:cNvSpPr/>
                  <p:nvPr/>
                </p:nvSpPr>
                <p:spPr>
                  <a:xfrm flipV="1">
                    <a:off x="660785" y="3120715"/>
                    <a:ext cx="274229" cy="10998"/>
                  </a:xfrm>
                  <a:prstGeom prst="round2SameRect">
                    <a:avLst>
                      <a:gd name="adj1" fmla="val 2925"/>
                      <a:gd name="adj2" fmla="val 0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ko-KR" altLang="en-US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+mn-ea"/>
                    </a:endParaRPr>
                  </a:p>
                </p:txBody>
              </p:sp>
              <p:grpSp>
                <p:nvGrpSpPr>
                  <p:cNvPr id="127" name="그룹 696"/>
                  <p:cNvGrpSpPr>
                    <a:grpSpLocks/>
                  </p:cNvGrpSpPr>
                  <p:nvPr/>
                </p:nvGrpSpPr>
                <p:grpSpPr bwMode="auto">
                  <a:xfrm>
                    <a:off x="678641" y="3159235"/>
                    <a:ext cx="240046" cy="240880"/>
                    <a:chOff x="1295585" y="2705825"/>
                    <a:chExt cx="713872" cy="716350"/>
                  </a:xfrm>
                </p:grpSpPr>
                <p:sp>
                  <p:nvSpPr>
                    <p:cNvPr id="139" name="타원 138"/>
                    <p:cNvSpPr/>
                    <p:nvPr/>
                  </p:nvSpPr>
                  <p:spPr>
                    <a:xfrm>
                      <a:off x="1477467" y="2852924"/>
                      <a:ext cx="345562" cy="408837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ko-KR" altLang="en-US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latin typeface="+mn-ea"/>
                      </a:endParaRPr>
                    </a:p>
                  </p:txBody>
                </p:sp>
                <p:sp>
                  <p:nvSpPr>
                    <p:cNvPr id="140" name="오른쪽 화살표 1906"/>
                    <p:cNvSpPr/>
                    <p:nvPr/>
                  </p:nvSpPr>
                  <p:spPr>
                    <a:xfrm>
                      <a:off x="1643337" y="3032812"/>
                      <a:ext cx="359385" cy="81767"/>
                    </a:xfrm>
                    <a:prstGeom prst="rightArrow">
                      <a:avLst>
                        <a:gd name="adj1" fmla="val 34280"/>
                        <a:gd name="adj2" fmla="val 50000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ko-KR" altLang="en-US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latin typeface="+mn-ea"/>
                      </a:endParaRPr>
                    </a:p>
                  </p:txBody>
                </p:sp>
                <p:sp>
                  <p:nvSpPr>
                    <p:cNvPr id="141" name="오른쪽 화살표 1907"/>
                    <p:cNvSpPr/>
                    <p:nvPr/>
                  </p:nvSpPr>
                  <p:spPr>
                    <a:xfrm flipH="1">
                      <a:off x="1297775" y="3032812"/>
                      <a:ext cx="359385" cy="81767"/>
                    </a:xfrm>
                    <a:prstGeom prst="rightArrow">
                      <a:avLst>
                        <a:gd name="adj1" fmla="val 30351"/>
                        <a:gd name="adj2" fmla="val 50000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ko-KR" altLang="en-US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latin typeface="+mn-ea"/>
                      </a:endParaRPr>
                    </a:p>
                  </p:txBody>
                </p:sp>
                <p:sp>
                  <p:nvSpPr>
                    <p:cNvPr id="142" name="오른쪽 화살표 1908"/>
                    <p:cNvSpPr/>
                    <p:nvPr/>
                  </p:nvSpPr>
                  <p:spPr>
                    <a:xfrm rot="16200000">
                      <a:off x="1473819" y="2847615"/>
                      <a:ext cx="359777" cy="76026"/>
                    </a:xfrm>
                    <a:prstGeom prst="rightArrow">
                      <a:avLst>
                        <a:gd name="adj1" fmla="val 38210"/>
                        <a:gd name="adj2" fmla="val 50000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ko-KR" altLang="en-US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latin typeface="+mn-ea"/>
                      </a:endParaRPr>
                    </a:p>
                  </p:txBody>
                </p:sp>
                <p:sp>
                  <p:nvSpPr>
                    <p:cNvPr id="143" name="오른쪽 화살표 1909"/>
                    <p:cNvSpPr/>
                    <p:nvPr/>
                  </p:nvSpPr>
                  <p:spPr>
                    <a:xfrm rot="5400000" flipV="1">
                      <a:off x="1473819" y="3207392"/>
                      <a:ext cx="359777" cy="76026"/>
                    </a:xfrm>
                    <a:prstGeom prst="rightArrow">
                      <a:avLst>
                        <a:gd name="adj1" fmla="val 42141"/>
                        <a:gd name="adj2" fmla="val 50000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ko-KR" altLang="en-US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latin typeface="+mn-ea"/>
                      </a:endParaRPr>
                    </a:p>
                  </p:txBody>
                </p:sp>
                <p:grpSp>
                  <p:nvGrpSpPr>
                    <p:cNvPr id="144" name="그룹 71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312448" y="2883342"/>
                      <a:ext cx="678440" cy="372833"/>
                      <a:chOff x="1312448" y="2883342"/>
                      <a:chExt cx="678440" cy="372833"/>
                    </a:xfrm>
                  </p:grpSpPr>
                  <p:sp>
                    <p:nvSpPr>
                      <p:cNvPr id="148" name="오른쪽 화살표 1914"/>
                      <p:cNvSpPr/>
                      <p:nvPr/>
                    </p:nvSpPr>
                    <p:spPr>
                      <a:xfrm rot="8252421" flipV="1">
                        <a:off x="1311599" y="3253579"/>
                        <a:ext cx="359386" cy="81767"/>
                      </a:xfrm>
                      <a:prstGeom prst="rightArrow">
                        <a:avLst>
                          <a:gd name="adj1" fmla="val 33589"/>
                          <a:gd name="adj2" fmla="val 50000"/>
                        </a:avLst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>
                          <a:defRPr/>
                        </a:pPr>
                        <a:endParaRPr lang="ko-KR" altLang="en-US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latin typeface="+mn-ea"/>
                        </a:endParaRPr>
                      </a:p>
                    </p:txBody>
                  </p:sp>
                  <p:sp>
                    <p:nvSpPr>
                      <p:cNvPr id="149" name="오른쪽 화살표 1915"/>
                      <p:cNvSpPr/>
                      <p:nvPr/>
                    </p:nvSpPr>
                    <p:spPr>
                      <a:xfrm rot="8252421" flipH="1">
                        <a:off x="1629517" y="2885629"/>
                        <a:ext cx="359386" cy="81767"/>
                      </a:xfrm>
                      <a:prstGeom prst="rightArrow">
                        <a:avLst>
                          <a:gd name="adj1" fmla="val 35749"/>
                          <a:gd name="adj2" fmla="val 50000"/>
                        </a:avLst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>
                          <a:defRPr/>
                        </a:pPr>
                        <a:endParaRPr lang="ko-KR" altLang="en-US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45" name="그룹 714"/>
                    <p:cNvGrpSpPr>
                      <a:grpSpLocks/>
                    </p:cNvGrpSpPr>
                    <p:nvPr/>
                  </p:nvGrpSpPr>
                  <p:grpSpPr bwMode="auto">
                    <a:xfrm flipV="1">
                      <a:off x="1331017" y="2883342"/>
                      <a:ext cx="678440" cy="372833"/>
                      <a:chOff x="1312448" y="2883342"/>
                      <a:chExt cx="678440" cy="372833"/>
                    </a:xfrm>
                  </p:grpSpPr>
                  <p:sp>
                    <p:nvSpPr>
                      <p:cNvPr id="146" name="오른쪽 화살표 1912"/>
                      <p:cNvSpPr/>
                      <p:nvPr/>
                    </p:nvSpPr>
                    <p:spPr>
                      <a:xfrm rot="8252421" flipV="1">
                        <a:off x="1313763" y="3172121"/>
                        <a:ext cx="359386" cy="81767"/>
                      </a:xfrm>
                      <a:prstGeom prst="rightArrow">
                        <a:avLst>
                          <a:gd name="adj1" fmla="val 33097"/>
                          <a:gd name="adj2" fmla="val 50000"/>
                        </a:avLst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>
                          <a:defRPr/>
                        </a:pPr>
                        <a:endParaRPr lang="ko-KR" altLang="en-US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latin typeface="+mn-ea"/>
                        </a:endParaRPr>
                      </a:p>
                    </p:txBody>
                  </p:sp>
                  <p:sp>
                    <p:nvSpPr>
                      <p:cNvPr id="147" name="오른쪽 화살표 1913"/>
                      <p:cNvSpPr/>
                      <p:nvPr/>
                    </p:nvSpPr>
                    <p:spPr>
                      <a:xfrm rot="8252421" flipH="1">
                        <a:off x="1631681" y="2804171"/>
                        <a:ext cx="359386" cy="81767"/>
                      </a:xfrm>
                      <a:prstGeom prst="rightArrow">
                        <a:avLst>
                          <a:gd name="adj1" fmla="val 33343"/>
                          <a:gd name="adj2" fmla="val 50000"/>
                        </a:avLst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>
                          <a:defRPr/>
                        </a:pPr>
                        <a:endParaRPr lang="ko-KR" altLang="en-US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latin typeface="+mn-ea"/>
                        </a:endParaRPr>
                      </a:p>
                    </p:txBody>
                  </p:sp>
                </p:grpSp>
              </p:grpSp>
              <p:grpSp>
                <p:nvGrpSpPr>
                  <p:cNvPr id="128" name="그룹 697"/>
                  <p:cNvGrpSpPr>
                    <a:grpSpLocks/>
                  </p:cNvGrpSpPr>
                  <p:nvPr/>
                </p:nvGrpSpPr>
                <p:grpSpPr bwMode="auto">
                  <a:xfrm>
                    <a:off x="665798" y="2922506"/>
                    <a:ext cx="269690" cy="165075"/>
                    <a:chOff x="1257392" y="1988694"/>
                    <a:chExt cx="802028" cy="490915"/>
                  </a:xfrm>
                </p:grpSpPr>
                <p:sp>
                  <p:nvSpPr>
                    <p:cNvPr id="129" name="모서리가 둥근 직사각형 1895"/>
                    <p:cNvSpPr/>
                    <p:nvPr/>
                  </p:nvSpPr>
                  <p:spPr>
                    <a:xfrm>
                      <a:off x="1256308" y="1989420"/>
                      <a:ext cx="290273" cy="139002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ko-KR" altLang="en-US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latin typeface="+mn-ea"/>
                      </a:endParaRPr>
                    </a:p>
                  </p:txBody>
                </p:sp>
                <p:sp>
                  <p:nvSpPr>
                    <p:cNvPr id="130" name="모서리가 둥근 직사각형 1896"/>
                    <p:cNvSpPr/>
                    <p:nvPr/>
                  </p:nvSpPr>
                  <p:spPr>
                    <a:xfrm>
                      <a:off x="1767741" y="1989420"/>
                      <a:ext cx="290273" cy="139002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ko-KR" altLang="en-US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latin typeface="+mn-ea"/>
                      </a:endParaRPr>
                    </a:p>
                  </p:txBody>
                </p:sp>
                <p:sp>
                  <p:nvSpPr>
                    <p:cNvPr id="131" name="모서리가 둥근 직사각형 1897"/>
                    <p:cNvSpPr/>
                    <p:nvPr/>
                  </p:nvSpPr>
                  <p:spPr>
                    <a:xfrm>
                      <a:off x="1256308" y="2341019"/>
                      <a:ext cx="290273" cy="139008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ko-KR" altLang="en-US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latin typeface="+mn-ea"/>
                      </a:endParaRPr>
                    </a:p>
                  </p:txBody>
                </p:sp>
                <p:sp>
                  <p:nvSpPr>
                    <p:cNvPr id="132" name="모서리가 둥근 직사각형 1898"/>
                    <p:cNvSpPr/>
                    <p:nvPr/>
                  </p:nvSpPr>
                  <p:spPr>
                    <a:xfrm>
                      <a:off x="1767741" y="2341019"/>
                      <a:ext cx="290273" cy="139008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ko-KR" altLang="en-US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latin typeface="+mn-ea"/>
                      </a:endParaRPr>
                    </a:p>
                  </p:txBody>
                </p:sp>
                <p:cxnSp>
                  <p:nvCxnSpPr>
                    <p:cNvPr id="133" name="직선 연결선 132"/>
                    <p:cNvCxnSpPr/>
                    <p:nvPr/>
                  </p:nvCxnSpPr>
                  <p:spPr>
                    <a:xfrm>
                      <a:off x="1512027" y="2095716"/>
                      <a:ext cx="290273" cy="269836"/>
                    </a:xfrm>
                    <a:prstGeom prst="line">
                      <a:avLst/>
                    </a:prstGeom>
                    <a:ln w="31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4" name="직선 연결선 133"/>
                    <p:cNvCxnSpPr/>
                    <p:nvPr/>
                  </p:nvCxnSpPr>
                  <p:spPr>
                    <a:xfrm flipH="1">
                      <a:off x="1525849" y="2095716"/>
                      <a:ext cx="276450" cy="261657"/>
                    </a:xfrm>
                    <a:prstGeom prst="line">
                      <a:avLst/>
                    </a:prstGeom>
                    <a:ln w="31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5" name="직선 연결선 134"/>
                    <p:cNvCxnSpPr/>
                    <p:nvPr/>
                  </p:nvCxnSpPr>
                  <p:spPr>
                    <a:xfrm>
                      <a:off x="1456737" y="2063009"/>
                      <a:ext cx="387030" cy="0"/>
                    </a:xfrm>
                    <a:prstGeom prst="line">
                      <a:avLst/>
                    </a:prstGeom>
                    <a:ln w="31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" name="직선 연결선 135"/>
                    <p:cNvCxnSpPr/>
                    <p:nvPr/>
                  </p:nvCxnSpPr>
                  <p:spPr>
                    <a:xfrm>
                      <a:off x="1456737" y="2422786"/>
                      <a:ext cx="387030" cy="0"/>
                    </a:xfrm>
                    <a:prstGeom prst="line">
                      <a:avLst/>
                    </a:prstGeom>
                    <a:ln w="31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7" name="직선 연결선 136"/>
                    <p:cNvCxnSpPr/>
                    <p:nvPr/>
                  </p:nvCxnSpPr>
                  <p:spPr>
                    <a:xfrm rot="5400000">
                      <a:off x="1220288" y="2251077"/>
                      <a:ext cx="376131" cy="0"/>
                    </a:xfrm>
                    <a:prstGeom prst="line">
                      <a:avLst/>
                    </a:prstGeom>
                    <a:ln w="31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8" name="직선 연결선 137"/>
                    <p:cNvCxnSpPr/>
                    <p:nvPr/>
                  </p:nvCxnSpPr>
                  <p:spPr>
                    <a:xfrm rot="5400000">
                      <a:off x="1724812" y="2251077"/>
                      <a:ext cx="376131" cy="0"/>
                    </a:xfrm>
                    <a:prstGeom prst="line">
                      <a:avLst/>
                    </a:prstGeom>
                    <a:ln w="31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24" name="TextBox 123"/>
                <p:cNvSpPr txBox="1"/>
                <p:nvPr/>
              </p:nvSpPr>
              <p:spPr bwMode="auto">
                <a:xfrm>
                  <a:off x="4421588" y="1224009"/>
                  <a:ext cx="318426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>
                  <a:defPPr>
                    <a:defRPr lang="en-US"/>
                  </a:defPPr>
                  <a:lvl1pPr algn="ctr">
                    <a:defRPr sz="7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+mn-ea"/>
                      <a:ea typeface="+mn-ea"/>
                    </a:defRPr>
                  </a:lvl1pPr>
                </a:lstStyle>
                <a:p>
                  <a:r>
                    <a:rPr lang="en-US" altLang="ko-KR" dirty="0"/>
                    <a:t>L3</a:t>
                  </a:r>
                  <a:br>
                    <a:rPr lang="en-US" altLang="ko-KR" dirty="0"/>
                  </a:br>
                  <a:r>
                    <a:rPr lang="ko-KR" altLang="en-US" dirty="0"/>
                    <a:t>스위치</a:t>
                  </a:r>
                </a:p>
              </p:txBody>
            </p:sp>
          </p:grpSp>
          <p:grpSp>
            <p:nvGrpSpPr>
              <p:cNvPr id="40" name="그룹 39"/>
              <p:cNvGrpSpPr/>
              <p:nvPr/>
            </p:nvGrpSpPr>
            <p:grpSpPr>
              <a:xfrm>
                <a:off x="6573335" y="1031058"/>
                <a:ext cx="269898" cy="405990"/>
                <a:chOff x="4756445" y="1031058"/>
                <a:chExt cx="269898" cy="405990"/>
              </a:xfrm>
            </p:grpSpPr>
            <p:sp>
              <p:nvSpPr>
                <p:cNvPr id="121" name="자유형 1968"/>
                <p:cNvSpPr>
                  <a:spLocks noChangeAspect="1"/>
                </p:cNvSpPr>
                <p:nvPr/>
              </p:nvSpPr>
              <p:spPr bwMode="auto">
                <a:xfrm>
                  <a:off x="4808061" y="1031058"/>
                  <a:ext cx="177564" cy="139430"/>
                </a:xfrm>
                <a:custGeom>
                  <a:avLst/>
                  <a:gdLst>
                    <a:gd name="connsiteX0" fmla="*/ 51642 w 352101"/>
                    <a:gd name="connsiteY0" fmla="*/ 0 h 407488"/>
                    <a:gd name="connsiteX1" fmla="*/ 300460 w 352101"/>
                    <a:gd name="connsiteY1" fmla="*/ 0 h 407488"/>
                    <a:gd name="connsiteX2" fmla="*/ 352101 w 352101"/>
                    <a:gd name="connsiteY2" fmla="*/ 52121 h 407488"/>
                    <a:gd name="connsiteX3" fmla="*/ 352101 w 352101"/>
                    <a:gd name="connsiteY3" fmla="*/ 355368 h 407488"/>
                    <a:gd name="connsiteX4" fmla="*/ 300460 w 352101"/>
                    <a:gd name="connsiteY4" fmla="*/ 407488 h 407488"/>
                    <a:gd name="connsiteX5" fmla="*/ 51642 w 352101"/>
                    <a:gd name="connsiteY5" fmla="*/ 407488 h 407488"/>
                    <a:gd name="connsiteX6" fmla="*/ 0 w 352101"/>
                    <a:gd name="connsiteY6" fmla="*/ 355368 h 407488"/>
                    <a:gd name="connsiteX7" fmla="*/ 0 w 352101"/>
                    <a:gd name="connsiteY7" fmla="*/ 52121 h 407488"/>
                    <a:gd name="connsiteX8" fmla="*/ 51642 w 352101"/>
                    <a:gd name="connsiteY8" fmla="*/ 0 h 407488"/>
                    <a:gd name="connsiteX9" fmla="*/ 243305 w 352101"/>
                    <a:gd name="connsiteY9" fmla="*/ 81102 h 407488"/>
                    <a:gd name="connsiteX10" fmla="*/ 253195 w 352101"/>
                    <a:gd name="connsiteY10" fmla="*/ 98905 h 407488"/>
                    <a:gd name="connsiteX11" fmla="*/ 168137 w 352101"/>
                    <a:gd name="connsiteY11" fmla="*/ 146380 h 407488"/>
                    <a:gd name="connsiteX12" fmla="*/ 181984 w 352101"/>
                    <a:gd name="connsiteY12" fmla="*/ 170117 h 407488"/>
                    <a:gd name="connsiteX13" fmla="*/ 267042 w 352101"/>
                    <a:gd name="connsiteY13" fmla="*/ 122643 h 407488"/>
                    <a:gd name="connsiteX14" fmla="*/ 276932 w 352101"/>
                    <a:gd name="connsiteY14" fmla="*/ 142424 h 407488"/>
                    <a:gd name="connsiteX15" fmla="*/ 294735 w 352101"/>
                    <a:gd name="connsiteY15" fmla="*/ 112752 h 407488"/>
                    <a:gd name="connsiteX16" fmla="*/ 314516 w 352101"/>
                    <a:gd name="connsiteY16" fmla="*/ 81102 h 407488"/>
                    <a:gd name="connsiteX17" fmla="*/ 276932 w 352101"/>
                    <a:gd name="connsiteY17" fmla="*/ 81102 h 407488"/>
                    <a:gd name="connsiteX18" fmla="*/ 243305 w 352101"/>
                    <a:gd name="connsiteY18" fmla="*/ 81102 h 407488"/>
                    <a:gd name="connsiteX19" fmla="*/ 280890 w 352101"/>
                    <a:gd name="connsiteY19" fmla="*/ 170116 h 407488"/>
                    <a:gd name="connsiteX20" fmla="*/ 280890 w 352101"/>
                    <a:gd name="connsiteY20" fmla="*/ 189897 h 407488"/>
                    <a:gd name="connsiteX21" fmla="*/ 187919 w 352101"/>
                    <a:gd name="connsiteY21" fmla="*/ 189897 h 407488"/>
                    <a:gd name="connsiteX22" fmla="*/ 187919 w 352101"/>
                    <a:gd name="connsiteY22" fmla="*/ 217590 h 407488"/>
                    <a:gd name="connsiteX23" fmla="*/ 280890 w 352101"/>
                    <a:gd name="connsiteY23" fmla="*/ 217590 h 407488"/>
                    <a:gd name="connsiteX24" fmla="*/ 280890 w 352101"/>
                    <a:gd name="connsiteY24" fmla="*/ 241327 h 407488"/>
                    <a:gd name="connsiteX25" fmla="*/ 308583 w 352101"/>
                    <a:gd name="connsiteY25" fmla="*/ 221546 h 407488"/>
                    <a:gd name="connsiteX26" fmla="*/ 338254 w 352101"/>
                    <a:gd name="connsiteY26" fmla="*/ 203744 h 407488"/>
                    <a:gd name="connsiteX27" fmla="*/ 308583 w 352101"/>
                    <a:gd name="connsiteY27" fmla="*/ 189897 h 407488"/>
                    <a:gd name="connsiteX28" fmla="*/ 280890 w 352101"/>
                    <a:gd name="connsiteY28" fmla="*/ 170116 h 407488"/>
                    <a:gd name="connsiteX29" fmla="*/ 106818 w 352101"/>
                    <a:gd name="connsiteY29" fmla="*/ 170116 h 407488"/>
                    <a:gd name="connsiteX30" fmla="*/ 106818 w 352101"/>
                    <a:gd name="connsiteY30" fmla="*/ 189897 h 407488"/>
                    <a:gd name="connsiteX31" fmla="*/ 7913 w 352101"/>
                    <a:gd name="connsiteY31" fmla="*/ 189897 h 407488"/>
                    <a:gd name="connsiteX32" fmla="*/ 7913 w 352101"/>
                    <a:gd name="connsiteY32" fmla="*/ 217590 h 407488"/>
                    <a:gd name="connsiteX33" fmla="*/ 106818 w 352101"/>
                    <a:gd name="connsiteY33" fmla="*/ 217590 h 407488"/>
                    <a:gd name="connsiteX34" fmla="*/ 106818 w 352101"/>
                    <a:gd name="connsiteY34" fmla="*/ 241327 h 407488"/>
                    <a:gd name="connsiteX35" fmla="*/ 136490 w 352101"/>
                    <a:gd name="connsiteY35" fmla="*/ 221546 h 407488"/>
                    <a:gd name="connsiteX36" fmla="*/ 164183 w 352101"/>
                    <a:gd name="connsiteY36" fmla="*/ 203744 h 407488"/>
                    <a:gd name="connsiteX37" fmla="*/ 136490 w 352101"/>
                    <a:gd name="connsiteY37" fmla="*/ 189897 h 407488"/>
                    <a:gd name="connsiteX38" fmla="*/ 106818 w 352101"/>
                    <a:gd name="connsiteY38" fmla="*/ 170116 h 407488"/>
                    <a:gd name="connsiteX39" fmla="*/ 181984 w 352101"/>
                    <a:gd name="connsiteY39" fmla="*/ 235394 h 407488"/>
                    <a:gd name="connsiteX40" fmla="*/ 168137 w 352101"/>
                    <a:gd name="connsiteY40" fmla="*/ 259132 h 407488"/>
                    <a:gd name="connsiteX41" fmla="*/ 253195 w 352101"/>
                    <a:gd name="connsiteY41" fmla="*/ 306606 h 407488"/>
                    <a:gd name="connsiteX42" fmla="*/ 243305 w 352101"/>
                    <a:gd name="connsiteY42" fmla="*/ 326387 h 407488"/>
                    <a:gd name="connsiteX43" fmla="*/ 276932 w 352101"/>
                    <a:gd name="connsiteY43" fmla="*/ 326387 h 407488"/>
                    <a:gd name="connsiteX44" fmla="*/ 314516 w 352101"/>
                    <a:gd name="connsiteY44" fmla="*/ 326387 h 407488"/>
                    <a:gd name="connsiteX45" fmla="*/ 294735 w 352101"/>
                    <a:gd name="connsiteY45" fmla="*/ 292759 h 407488"/>
                    <a:gd name="connsiteX46" fmla="*/ 276932 w 352101"/>
                    <a:gd name="connsiteY46" fmla="*/ 265066 h 407488"/>
                    <a:gd name="connsiteX47" fmla="*/ 267042 w 352101"/>
                    <a:gd name="connsiteY47" fmla="*/ 282869 h 407488"/>
                    <a:gd name="connsiteX48" fmla="*/ 181984 w 352101"/>
                    <a:gd name="connsiteY48" fmla="*/ 235394 h 407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</a:cxnLst>
                  <a:rect l="l" t="t" r="r" b="b"/>
                  <a:pathLst>
                    <a:path w="352101" h="407488">
                      <a:moveTo>
                        <a:pt x="51642" y="0"/>
                      </a:moveTo>
                      <a:cubicBezTo>
                        <a:pt x="300460" y="0"/>
                        <a:pt x="300460" y="0"/>
                        <a:pt x="300460" y="0"/>
                      </a:cubicBezTo>
                      <a:cubicBezTo>
                        <a:pt x="328628" y="0"/>
                        <a:pt x="352101" y="23691"/>
                        <a:pt x="352101" y="52121"/>
                      </a:cubicBezTo>
                      <a:lnTo>
                        <a:pt x="352101" y="355368"/>
                      </a:lnTo>
                      <a:cubicBezTo>
                        <a:pt x="352101" y="383797"/>
                        <a:pt x="328628" y="407488"/>
                        <a:pt x="300460" y="407488"/>
                      </a:cubicBezTo>
                      <a:cubicBezTo>
                        <a:pt x="51642" y="407488"/>
                        <a:pt x="51642" y="407488"/>
                        <a:pt x="51642" y="407488"/>
                      </a:cubicBezTo>
                      <a:cubicBezTo>
                        <a:pt x="23474" y="407488"/>
                        <a:pt x="0" y="383797"/>
                        <a:pt x="0" y="355368"/>
                      </a:cubicBezTo>
                      <a:cubicBezTo>
                        <a:pt x="0" y="52121"/>
                        <a:pt x="0" y="52121"/>
                        <a:pt x="0" y="52121"/>
                      </a:cubicBezTo>
                      <a:cubicBezTo>
                        <a:pt x="0" y="23691"/>
                        <a:pt x="23474" y="0"/>
                        <a:pt x="51642" y="0"/>
                      </a:cubicBezTo>
                      <a:close/>
                      <a:moveTo>
                        <a:pt x="243305" y="81102"/>
                      </a:moveTo>
                      <a:lnTo>
                        <a:pt x="253195" y="98905"/>
                      </a:lnTo>
                      <a:lnTo>
                        <a:pt x="168137" y="146380"/>
                      </a:lnTo>
                      <a:lnTo>
                        <a:pt x="181984" y="170117"/>
                      </a:lnTo>
                      <a:lnTo>
                        <a:pt x="267042" y="122643"/>
                      </a:lnTo>
                      <a:lnTo>
                        <a:pt x="276932" y="142424"/>
                      </a:lnTo>
                      <a:lnTo>
                        <a:pt x="294735" y="112752"/>
                      </a:lnTo>
                      <a:lnTo>
                        <a:pt x="314516" y="81102"/>
                      </a:lnTo>
                      <a:lnTo>
                        <a:pt x="276932" y="81102"/>
                      </a:lnTo>
                      <a:lnTo>
                        <a:pt x="243305" y="81102"/>
                      </a:lnTo>
                      <a:close/>
                      <a:moveTo>
                        <a:pt x="280890" y="170116"/>
                      </a:moveTo>
                      <a:lnTo>
                        <a:pt x="280890" y="189897"/>
                      </a:lnTo>
                      <a:lnTo>
                        <a:pt x="187919" y="189897"/>
                      </a:lnTo>
                      <a:lnTo>
                        <a:pt x="187919" y="217590"/>
                      </a:lnTo>
                      <a:lnTo>
                        <a:pt x="280890" y="217590"/>
                      </a:lnTo>
                      <a:lnTo>
                        <a:pt x="280890" y="241327"/>
                      </a:lnTo>
                      <a:lnTo>
                        <a:pt x="308583" y="221546"/>
                      </a:lnTo>
                      <a:lnTo>
                        <a:pt x="338254" y="203744"/>
                      </a:lnTo>
                      <a:lnTo>
                        <a:pt x="308583" y="189897"/>
                      </a:lnTo>
                      <a:lnTo>
                        <a:pt x="280890" y="170116"/>
                      </a:lnTo>
                      <a:close/>
                      <a:moveTo>
                        <a:pt x="106818" y="170116"/>
                      </a:moveTo>
                      <a:lnTo>
                        <a:pt x="106818" y="189897"/>
                      </a:lnTo>
                      <a:lnTo>
                        <a:pt x="7913" y="189897"/>
                      </a:lnTo>
                      <a:lnTo>
                        <a:pt x="7913" y="217590"/>
                      </a:lnTo>
                      <a:lnTo>
                        <a:pt x="106818" y="217590"/>
                      </a:lnTo>
                      <a:lnTo>
                        <a:pt x="106818" y="241327"/>
                      </a:lnTo>
                      <a:lnTo>
                        <a:pt x="136490" y="221546"/>
                      </a:lnTo>
                      <a:lnTo>
                        <a:pt x="164183" y="203744"/>
                      </a:lnTo>
                      <a:lnTo>
                        <a:pt x="136490" y="189897"/>
                      </a:lnTo>
                      <a:lnTo>
                        <a:pt x="106818" y="170116"/>
                      </a:lnTo>
                      <a:close/>
                      <a:moveTo>
                        <a:pt x="181984" y="235394"/>
                      </a:moveTo>
                      <a:lnTo>
                        <a:pt x="168137" y="259132"/>
                      </a:lnTo>
                      <a:lnTo>
                        <a:pt x="253195" y="306606"/>
                      </a:lnTo>
                      <a:lnTo>
                        <a:pt x="243305" y="326387"/>
                      </a:lnTo>
                      <a:lnTo>
                        <a:pt x="276932" y="326387"/>
                      </a:lnTo>
                      <a:lnTo>
                        <a:pt x="314516" y="326387"/>
                      </a:lnTo>
                      <a:lnTo>
                        <a:pt x="294735" y="292759"/>
                      </a:lnTo>
                      <a:lnTo>
                        <a:pt x="276932" y="265066"/>
                      </a:lnTo>
                      <a:lnTo>
                        <a:pt x="267042" y="282869"/>
                      </a:lnTo>
                      <a:lnTo>
                        <a:pt x="181984" y="235394"/>
                      </a:lnTo>
                      <a:close/>
                    </a:path>
                  </a:pathLst>
                </a:custGeom>
                <a:solidFill>
                  <a:srgbClr val="969696"/>
                </a:solidFill>
                <a:ln>
                  <a:noFill/>
                </a:ln>
              </p:spPr>
              <p:txBody>
                <a:bodyPr/>
                <a:lstStyle/>
                <a:p>
                  <a:pPr>
                    <a:defRPr/>
                  </a:pPr>
                  <a:endParaRPr lang="ko-KR" altLang="en-US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122" name="TextBox 121"/>
                <p:cNvSpPr txBox="1"/>
                <p:nvPr/>
              </p:nvSpPr>
              <p:spPr bwMode="auto">
                <a:xfrm>
                  <a:off x="4756445" y="1221604"/>
                  <a:ext cx="269898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>
                  <a:defPPr>
                    <a:defRPr lang="en-US"/>
                  </a:defPPr>
                  <a:lvl1pPr algn="ctr">
                    <a:defRPr sz="7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+mn-ea"/>
                      <a:ea typeface="+mn-ea"/>
                    </a:defRPr>
                  </a:lvl1pPr>
                </a:lstStyle>
                <a:p>
                  <a:r>
                    <a:rPr lang="en-US" altLang="ko-KR" dirty="0"/>
                    <a:t>L4</a:t>
                  </a:r>
                  <a:br>
                    <a:rPr lang="en-US" altLang="ko-KR" dirty="0"/>
                  </a:br>
                  <a:r>
                    <a:rPr lang="ko-KR" altLang="en-US" dirty="0"/>
                    <a:t>스위치</a:t>
                  </a:r>
                </a:p>
              </p:txBody>
            </p:sp>
          </p:grpSp>
          <p:grpSp>
            <p:nvGrpSpPr>
              <p:cNvPr id="41" name="그룹 40"/>
              <p:cNvGrpSpPr/>
              <p:nvPr/>
            </p:nvGrpSpPr>
            <p:grpSpPr>
              <a:xfrm>
                <a:off x="6870248" y="1039820"/>
                <a:ext cx="292870" cy="401864"/>
                <a:chOff x="7057290" y="1039820"/>
                <a:chExt cx="292870" cy="401864"/>
              </a:xfrm>
            </p:grpSpPr>
            <p:sp>
              <p:nvSpPr>
                <p:cNvPr id="119" name="자유형 1970"/>
                <p:cNvSpPr>
                  <a:spLocks noChangeAspect="1"/>
                </p:cNvSpPr>
                <p:nvPr/>
              </p:nvSpPr>
              <p:spPr bwMode="auto">
                <a:xfrm>
                  <a:off x="7114281" y="1039820"/>
                  <a:ext cx="178888" cy="139431"/>
                </a:xfrm>
                <a:custGeom>
                  <a:avLst/>
                  <a:gdLst>
                    <a:gd name="connsiteX0" fmla="*/ 55445 w 351150"/>
                    <a:gd name="connsiteY0" fmla="*/ 0 h 401872"/>
                    <a:gd name="connsiteX1" fmla="*/ 295705 w 351150"/>
                    <a:gd name="connsiteY1" fmla="*/ 0 h 401872"/>
                    <a:gd name="connsiteX2" fmla="*/ 351150 w 351150"/>
                    <a:gd name="connsiteY2" fmla="*/ 51402 h 401872"/>
                    <a:gd name="connsiteX3" fmla="*/ 351150 w 351150"/>
                    <a:gd name="connsiteY3" fmla="*/ 350470 h 401872"/>
                    <a:gd name="connsiteX4" fmla="*/ 295705 w 351150"/>
                    <a:gd name="connsiteY4" fmla="*/ 401872 h 401872"/>
                    <a:gd name="connsiteX5" fmla="*/ 55445 w 351150"/>
                    <a:gd name="connsiteY5" fmla="*/ 401872 h 401872"/>
                    <a:gd name="connsiteX6" fmla="*/ 0 w 351150"/>
                    <a:gd name="connsiteY6" fmla="*/ 350470 h 401872"/>
                    <a:gd name="connsiteX7" fmla="*/ 0 w 351150"/>
                    <a:gd name="connsiteY7" fmla="*/ 51402 h 401872"/>
                    <a:gd name="connsiteX8" fmla="*/ 55445 w 351150"/>
                    <a:gd name="connsiteY8" fmla="*/ 0 h 401872"/>
                    <a:gd name="connsiteX9" fmla="*/ 83887 w 351150"/>
                    <a:gd name="connsiteY9" fmla="*/ 97542 h 401872"/>
                    <a:gd name="connsiteX10" fmla="*/ 54624 w 351150"/>
                    <a:gd name="connsiteY10" fmla="*/ 111198 h 401872"/>
                    <a:gd name="connsiteX11" fmla="*/ 33165 w 351150"/>
                    <a:gd name="connsiteY11" fmla="*/ 130706 h 401872"/>
                    <a:gd name="connsiteX12" fmla="*/ 54624 w 351150"/>
                    <a:gd name="connsiteY12" fmla="*/ 144362 h 401872"/>
                    <a:gd name="connsiteX13" fmla="*/ 83887 w 351150"/>
                    <a:gd name="connsiteY13" fmla="*/ 163870 h 401872"/>
                    <a:gd name="connsiteX14" fmla="*/ 83887 w 351150"/>
                    <a:gd name="connsiteY14" fmla="*/ 144362 h 401872"/>
                    <a:gd name="connsiteX15" fmla="*/ 175577 w 351150"/>
                    <a:gd name="connsiteY15" fmla="*/ 144362 h 401872"/>
                    <a:gd name="connsiteX16" fmla="*/ 175577 w 351150"/>
                    <a:gd name="connsiteY16" fmla="*/ 117050 h 401872"/>
                    <a:gd name="connsiteX17" fmla="*/ 83887 w 351150"/>
                    <a:gd name="connsiteY17" fmla="*/ 117050 h 401872"/>
                    <a:gd name="connsiteX18" fmla="*/ 83887 w 351150"/>
                    <a:gd name="connsiteY18" fmla="*/ 97542 h 401872"/>
                    <a:gd name="connsiteX19" fmla="*/ 269215 w 351150"/>
                    <a:gd name="connsiteY19" fmla="*/ 144362 h 401872"/>
                    <a:gd name="connsiteX20" fmla="*/ 269215 w 351150"/>
                    <a:gd name="connsiteY20" fmla="*/ 163870 h 401872"/>
                    <a:gd name="connsiteX21" fmla="*/ 175575 w 351150"/>
                    <a:gd name="connsiteY21" fmla="*/ 163870 h 401872"/>
                    <a:gd name="connsiteX22" fmla="*/ 175575 w 351150"/>
                    <a:gd name="connsiteY22" fmla="*/ 191182 h 401872"/>
                    <a:gd name="connsiteX23" fmla="*/ 269215 w 351150"/>
                    <a:gd name="connsiteY23" fmla="*/ 191182 h 401872"/>
                    <a:gd name="connsiteX24" fmla="*/ 269215 w 351150"/>
                    <a:gd name="connsiteY24" fmla="*/ 210690 h 401872"/>
                    <a:gd name="connsiteX25" fmla="*/ 296527 w 351150"/>
                    <a:gd name="connsiteY25" fmla="*/ 191182 h 401872"/>
                    <a:gd name="connsiteX26" fmla="*/ 323838 w 351150"/>
                    <a:gd name="connsiteY26" fmla="*/ 177526 h 401872"/>
                    <a:gd name="connsiteX27" fmla="*/ 296527 w 351150"/>
                    <a:gd name="connsiteY27" fmla="*/ 158018 h 401872"/>
                    <a:gd name="connsiteX28" fmla="*/ 269215 w 351150"/>
                    <a:gd name="connsiteY28" fmla="*/ 144362 h 401872"/>
                    <a:gd name="connsiteX29" fmla="*/ 83887 w 351150"/>
                    <a:gd name="connsiteY29" fmla="*/ 191182 h 401872"/>
                    <a:gd name="connsiteX30" fmla="*/ 54624 w 351150"/>
                    <a:gd name="connsiteY30" fmla="*/ 210691 h 401872"/>
                    <a:gd name="connsiteX31" fmla="*/ 33165 w 351150"/>
                    <a:gd name="connsiteY31" fmla="*/ 224347 h 401872"/>
                    <a:gd name="connsiteX32" fmla="*/ 54624 w 351150"/>
                    <a:gd name="connsiteY32" fmla="*/ 238003 h 401872"/>
                    <a:gd name="connsiteX33" fmla="*/ 83887 w 351150"/>
                    <a:gd name="connsiteY33" fmla="*/ 255560 h 401872"/>
                    <a:gd name="connsiteX34" fmla="*/ 83887 w 351150"/>
                    <a:gd name="connsiteY34" fmla="*/ 238003 h 401872"/>
                    <a:gd name="connsiteX35" fmla="*/ 175577 w 351150"/>
                    <a:gd name="connsiteY35" fmla="*/ 238003 h 401872"/>
                    <a:gd name="connsiteX36" fmla="*/ 175577 w 351150"/>
                    <a:gd name="connsiteY36" fmla="*/ 210691 h 401872"/>
                    <a:gd name="connsiteX37" fmla="*/ 83887 w 351150"/>
                    <a:gd name="connsiteY37" fmla="*/ 210691 h 401872"/>
                    <a:gd name="connsiteX38" fmla="*/ 83887 w 351150"/>
                    <a:gd name="connsiteY38" fmla="*/ 191182 h 401872"/>
                    <a:gd name="connsiteX39" fmla="*/ 269215 w 351150"/>
                    <a:gd name="connsiteY39" fmla="*/ 238002 h 401872"/>
                    <a:gd name="connsiteX40" fmla="*/ 269215 w 351150"/>
                    <a:gd name="connsiteY40" fmla="*/ 255560 h 401872"/>
                    <a:gd name="connsiteX41" fmla="*/ 175575 w 351150"/>
                    <a:gd name="connsiteY41" fmla="*/ 255560 h 401872"/>
                    <a:gd name="connsiteX42" fmla="*/ 175575 w 351150"/>
                    <a:gd name="connsiteY42" fmla="*/ 284823 h 401872"/>
                    <a:gd name="connsiteX43" fmla="*/ 269215 w 351150"/>
                    <a:gd name="connsiteY43" fmla="*/ 284823 h 401872"/>
                    <a:gd name="connsiteX44" fmla="*/ 269215 w 351150"/>
                    <a:gd name="connsiteY44" fmla="*/ 302380 h 401872"/>
                    <a:gd name="connsiteX45" fmla="*/ 296527 w 351150"/>
                    <a:gd name="connsiteY45" fmla="*/ 284823 h 401872"/>
                    <a:gd name="connsiteX46" fmla="*/ 323838 w 351150"/>
                    <a:gd name="connsiteY46" fmla="*/ 271167 h 401872"/>
                    <a:gd name="connsiteX47" fmla="*/ 296527 w 351150"/>
                    <a:gd name="connsiteY47" fmla="*/ 255560 h 401872"/>
                    <a:gd name="connsiteX48" fmla="*/ 269215 w 351150"/>
                    <a:gd name="connsiteY48" fmla="*/ 238002 h 4018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</a:cxnLst>
                  <a:rect l="l" t="t" r="r" b="b"/>
                  <a:pathLst>
                    <a:path w="351150" h="401872">
                      <a:moveTo>
                        <a:pt x="55445" y="0"/>
                      </a:moveTo>
                      <a:cubicBezTo>
                        <a:pt x="295705" y="0"/>
                        <a:pt x="295705" y="0"/>
                        <a:pt x="295705" y="0"/>
                      </a:cubicBezTo>
                      <a:cubicBezTo>
                        <a:pt x="328048" y="0"/>
                        <a:pt x="351150" y="23365"/>
                        <a:pt x="351150" y="51402"/>
                      </a:cubicBezTo>
                      <a:lnTo>
                        <a:pt x="351150" y="350470"/>
                      </a:lnTo>
                      <a:cubicBezTo>
                        <a:pt x="351150" y="378508"/>
                        <a:pt x="328048" y="401872"/>
                        <a:pt x="295705" y="401872"/>
                      </a:cubicBezTo>
                      <a:cubicBezTo>
                        <a:pt x="55445" y="401872"/>
                        <a:pt x="55445" y="401872"/>
                        <a:pt x="55445" y="401872"/>
                      </a:cubicBezTo>
                      <a:cubicBezTo>
                        <a:pt x="27722" y="401872"/>
                        <a:pt x="0" y="378508"/>
                        <a:pt x="0" y="350470"/>
                      </a:cubicBezTo>
                      <a:cubicBezTo>
                        <a:pt x="0" y="51402"/>
                        <a:pt x="0" y="51402"/>
                        <a:pt x="0" y="51402"/>
                      </a:cubicBezTo>
                      <a:cubicBezTo>
                        <a:pt x="0" y="23365"/>
                        <a:pt x="27722" y="0"/>
                        <a:pt x="55445" y="0"/>
                      </a:cubicBezTo>
                      <a:close/>
                      <a:moveTo>
                        <a:pt x="83887" y="97542"/>
                      </a:moveTo>
                      <a:lnTo>
                        <a:pt x="54624" y="111198"/>
                      </a:lnTo>
                      <a:lnTo>
                        <a:pt x="33165" y="130706"/>
                      </a:lnTo>
                      <a:lnTo>
                        <a:pt x="54624" y="144362"/>
                      </a:lnTo>
                      <a:lnTo>
                        <a:pt x="83887" y="163870"/>
                      </a:lnTo>
                      <a:lnTo>
                        <a:pt x="83887" y="144362"/>
                      </a:lnTo>
                      <a:lnTo>
                        <a:pt x="175577" y="144362"/>
                      </a:lnTo>
                      <a:lnTo>
                        <a:pt x="175577" y="117050"/>
                      </a:lnTo>
                      <a:lnTo>
                        <a:pt x="83887" y="117050"/>
                      </a:lnTo>
                      <a:lnTo>
                        <a:pt x="83887" y="97542"/>
                      </a:lnTo>
                      <a:close/>
                      <a:moveTo>
                        <a:pt x="269215" y="144362"/>
                      </a:moveTo>
                      <a:lnTo>
                        <a:pt x="269215" y="163870"/>
                      </a:lnTo>
                      <a:lnTo>
                        <a:pt x="175575" y="163870"/>
                      </a:lnTo>
                      <a:lnTo>
                        <a:pt x="175575" y="191182"/>
                      </a:lnTo>
                      <a:lnTo>
                        <a:pt x="269215" y="191182"/>
                      </a:lnTo>
                      <a:lnTo>
                        <a:pt x="269215" y="210690"/>
                      </a:lnTo>
                      <a:lnTo>
                        <a:pt x="296527" y="191182"/>
                      </a:lnTo>
                      <a:lnTo>
                        <a:pt x="323838" y="177526"/>
                      </a:lnTo>
                      <a:lnTo>
                        <a:pt x="296527" y="158018"/>
                      </a:lnTo>
                      <a:lnTo>
                        <a:pt x="269215" y="144362"/>
                      </a:lnTo>
                      <a:close/>
                      <a:moveTo>
                        <a:pt x="83887" y="191182"/>
                      </a:moveTo>
                      <a:lnTo>
                        <a:pt x="54624" y="210691"/>
                      </a:lnTo>
                      <a:lnTo>
                        <a:pt x="33165" y="224347"/>
                      </a:lnTo>
                      <a:lnTo>
                        <a:pt x="54624" y="238003"/>
                      </a:lnTo>
                      <a:lnTo>
                        <a:pt x="83887" y="255560"/>
                      </a:lnTo>
                      <a:lnTo>
                        <a:pt x="83887" y="238003"/>
                      </a:lnTo>
                      <a:lnTo>
                        <a:pt x="175577" y="238003"/>
                      </a:lnTo>
                      <a:lnTo>
                        <a:pt x="175577" y="210691"/>
                      </a:lnTo>
                      <a:lnTo>
                        <a:pt x="83887" y="210691"/>
                      </a:lnTo>
                      <a:lnTo>
                        <a:pt x="83887" y="191182"/>
                      </a:lnTo>
                      <a:close/>
                      <a:moveTo>
                        <a:pt x="269215" y="238002"/>
                      </a:moveTo>
                      <a:lnTo>
                        <a:pt x="269215" y="255560"/>
                      </a:lnTo>
                      <a:lnTo>
                        <a:pt x="175575" y="255560"/>
                      </a:lnTo>
                      <a:lnTo>
                        <a:pt x="175575" y="284823"/>
                      </a:lnTo>
                      <a:lnTo>
                        <a:pt x="269215" y="284823"/>
                      </a:lnTo>
                      <a:lnTo>
                        <a:pt x="269215" y="302380"/>
                      </a:lnTo>
                      <a:lnTo>
                        <a:pt x="296527" y="284823"/>
                      </a:lnTo>
                      <a:lnTo>
                        <a:pt x="323838" y="271167"/>
                      </a:lnTo>
                      <a:lnTo>
                        <a:pt x="296527" y="255560"/>
                      </a:lnTo>
                      <a:lnTo>
                        <a:pt x="269215" y="238002"/>
                      </a:lnTo>
                      <a:close/>
                    </a:path>
                  </a:pathLst>
                </a:custGeom>
                <a:solidFill>
                  <a:srgbClr val="969696"/>
                </a:solidFill>
                <a:ln>
                  <a:noFill/>
                </a:ln>
              </p:spPr>
              <p:txBody>
                <a:bodyPr/>
                <a:lstStyle/>
                <a:p>
                  <a:pPr>
                    <a:defRPr/>
                  </a:pPr>
                  <a:endParaRPr lang="ko-KR" altLang="en-US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120" name="TextBox 119"/>
                <p:cNvSpPr txBox="1"/>
                <p:nvPr/>
              </p:nvSpPr>
              <p:spPr bwMode="auto">
                <a:xfrm>
                  <a:off x="7057290" y="1226240"/>
                  <a:ext cx="292870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>
                  <a:defPPr>
                    <a:defRPr lang="en-US"/>
                  </a:defPPr>
                  <a:lvl1pPr algn="ctr">
                    <a:defRPr sz="7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+mn-ea"/>
                      <a:ea typeface="+mn-ea"/>
                    </a:defRPr>
                  </a:lvl1pPr>
                </a:lstStyle>
                <a:p>
                  <a:r>
                    <a:rPr lang="ko-KR" altLang="en-US" dirty="0"/>
                    <a:t>기타</a:t>
                  </a:r>
                  <a:r>
                    <a:rPr lang="en-US" altLang="ko-KR" dirty="0"/>
                    <a:t/>
                  </a:r>
                  <a:br>
                    <a:rPr lang="en-US" altLang="ko-KR" dirty="0"/>
                  </a:br>
                  <a:r>
                    <a:rPr lang="ko-KR" altLang="en-US" dirty="0"/>
                    <a:t>스위치</a:t>
                  </a:r>
                </a:p>
              </p:txBody>
            </p:sp>
          </p:grpSp>
          <p:grpSp>
            <p:nvGrpSpPr>
              <p:cNvPr id="44" name="그룹 43"/>
              <p:cNvGrpSpPr/>
              <p:nvPr/>
            </p:nvGrpSpPr>
            <p:grpSpPr>
              <a:xfrm>
                <a:off x="4980399" y="1110902"/>
                <a:ext cx="302602" cy="333660"/>
                <a:chOff x="5040941" y="1110902"/>
                <a:chExt cx="302602" cy="333660"/>
              </a:xfrm>
            </p:grpSpPr>
            <p:sp>
              <p:nvSpPr>
                <p:cNvPr id="117" name="자유형 1974"/>
                <p:cNvSpPr>
                  <a:spLocks noChangeAspect="1"/>
                </p:cNvSpPr>
                <p:nvPr/>
              </p:nvSpPr>
              <p:spPr bwMode="auto">
                <a:xfrm>
                  <a:off x="5102798" y="1110902"/>
                  <a:ext cx="178888" cy="59586"/>
                </a:xfrm>
                <a:custGeom>
                  <a:avLst/>
                  <a:gdLst>
                    <a:gd name="connsiteX0" fmla="*/ 18786 w 523329"/>
                    <a:gd name="connsiteY0" fmla="*/ 0 h 112712"/>
                    <a:gd name="connsiteX1" fmla="*/ 504543 w 523329"/>
                    <a:gd name="connsiteY1" fmla="*/ 0 h 112712"/>
                    <a:gd name="connsiteX2" fmla="*/ 523329 w 523329"/>
                    <a:gd name="connsiteY2" fmla="*/ 18786 h 112712"/>
                    <a:gd name="connsiteX3" fmla="*/ 523329 w 523329"/>
                    <a:gd name="connsiteY3" fmla="*/ 93926 h 112712"/>
                    <a:gd name="connsiteX4" fmla="*/ 504543 w 523329"/>
                    <a:gd name="connsiteY4" fmla="*/ 112712 h 112712"/>
                    <a:gd name="connsiteX5" fmla="*/ 18786 w 523329"/>
                    <a:gd name="connsiteY5" fmla="*/ 112712 h 112712"/>
                    <a:gd name="connsiteX6" fmla="*/ 0 w 523329"/>
                    <a:gd name="connsiteY6" fmla="*/ 93926 h 112712"/>
                    <a:gd name="connsiteX7" fmla="*/ 0 w 523329"/>
                    <a:gd name="connsiteY7" fmla="*/ 18786 h 112712"/>
                    <a:gd name="connsiteX8" fmla="*/ 18786 w 523329"/>
                    <a:gd name="connsiteY8" fmla="*/ 0 h 112712"/>
                    <a:gd name="connsiteX9" fmla="*/ 30642 w 523329"/>
                    <a:gd name="connsiteY9" fmla="*/ 22324 h 112712"/>
                    <a:gd name="connsiteX10" fmla="*/ 26442 w 523329"/>
                    <a:gd name="connsiteY10" fmla="*/ 26524 h 112712"/>
                    <a:gd name="connsiteX11" fmla="*/ 26442 w 523329"/>
                    <a:gd name="connsiteY11" fmla="*/ 43324 h 112712"/>
                    <a:gd name="connsiteX12" fmla="*/ 30642 w 523329"/>
                    <a:gd name="connsiteY12" fmla="*/ 47524 h 112712"/>
                    <a:gd name="connsiteX13" fmla="*/ 130242 w 523329"/>
                    <a:gd name="connsiteY13" fmla="*/ 47524 h 112712"/>
                    <a:gd name="connsiteX14" fmla="*/ 134442 w 523329"/>
                    <a:gd name="connsiteY14" fmla="*/ 43324 h 112712"/>
                    <a:gd name="connsiteX15" fmla="*/ 134442 w 523329"/>
                    <a:gd name="connsiteY15" fmla="*/ 26524 h 112712"/>
                    <a:gd name="connsiteX16" fmla="*/ 130242 w 523329"/>
                    <a:gd name="connsiteY16" fmla="*/ 22324 h 112712"/>
                    <a:gd name="connsiteX17" fmla="*/ 30642 w 523329"/>
                    <a:gd name="connsiteY17" fmla="*/ 22324 h 112712"/>
                    <a:gd name="connsiteX18" fmla="*/ 152086 w 523329"/>
                    <a:gd name="connsiteY18" fmla="*/ 22324 h 112712"/>
                    <a:gd name="connsiteX19" fmla="*/ 147886 w 523329"/>
                    <a:gd name="connsiteY19" fmla="*/ 26524 h 112712"/>
                    <a:gd name="connsiteX20" fmla="*/ 147886 w 523329"/>
                    <a:gd name="connsiteY20" fmla="*/ 43324 h 112712"/>
                    <a:gd name="connsiteX21" fmla="*/ 152086 w 523329"/>
                    <a:gd name="connsiteY21" fmla="*/ 47524 h 112712"/>
                    <a:gd name="connsiteX22" fmla="*/ 251686 w 523329"/>
                    <a:gd name="connsiteY22" fmla="*/ 47524 h 112712"/>
                    <a:gd name="connsiteX23" fmla="*/ 255886 w 523329"/>
                    <a:gd name="connsiteY23" fmla="*/ 43324 h 112712"/>
                    <a:gd name="connsiteX24" fmla="*/ 255886 w 523329"/>
                    <a:gd name="connsiteY24" fmla="*/ 26524 h 112712"/>
                    <a:gd name="connsiteX25" fmla="*/ 251686 w 523329"/>
                    <a:gd name="connsiteY25" fmla="*/ 22324 h 112712"/>
                    <a:gd name="connsiteX26" fmla="*/ 152086 w 523329"/>
                    <a:gd name="connsiteY26" fmla="*/ 22324 h 112712"/>
                    <a:gd name="connsiteX27" fmla="*/ 273530 w 523329"/>
                    <a:gd name="connsiteY27" fmla="*/ 22324 h 112712"/>
                    <a:gd name="connsiteX28" fmla="*/ 269330 w 523329"/>
                    <a:gd name="connsiteY28" fmla="*/ 26524 h 112712"/>
                    <a:gd name="connsiteX29" fmla="*/ 269330 w 523329"/>
                    <a:gd name="connsiteY29" fmla="*/ 43324 h 112712"/>
                    <a:gd name="connsiteX30" fmla="*/ 273530 w 523329"/>
                    <a:gd name="connsiteY30" fmla="*/ 47524 h 112712"/>
                    <a:gd name="connsiteX31" fmla="*/ 373130 w 523329"/>
                    <a:gd name="connsiteY31" fmla="*/ 47524 h 112712"/>
                    <a:gd name="connsiteX32" fmla="*/ 377330 w 523329"/>
                    <a:gd name="connsiteY32" fmla="*/ 43324 h 112712"/>
                    <a:gd name="connsiteX33" fmla="*/ 377330 w 523329"/>
                    <a:gd name="connsiteY33" fmla="*/ 26524 h 112712"/>
                    <a:gd name="connsiteX34" fmla="*/ 373130 w 523329"/>
                    <a:gd name="connsiteY34" fmla="*/ 22324 h 112712"/>
                    <a:gd name="connsiteX35" fmla="*/ 273530 w 523329"/>
                    <a:gd name="connsiteY35" fmla="*/ 22324 h 112712"/>
                    <a:gd name="connsiteX36" fmla="*/ 394974 w 523329"/>
                    <a:gd name="connsiteY36" fmla="*/ 22324 h 112712"/>
                    <a:gd name="connsiteX37" fmla="*/ 390774 w 523329"/>
                    <a:gd name="connsiteY37" fmla="*/ 26524 h 112712"/>
                    <a:gd name="connsiteX38" fmla="*/ 390774 w 523329"/>
                    <a:gd name="connsiteY38" fmla="*/ 43324 h 112712"/>
                    <a:gd name="connsiteX39" fmla="*/ 394974 w 523329"/>
                    <a:gd name="connsiteY39" fmla="*/ 47524 h 112712"/>
                    <a:gd name="connsiteX40" fmla="*/ 494574 w 523329"/>
                    <a:gd name="connsiteY40" fmla="*/ 47524 h 112712"/>
                    <a:gd name="connsiteX41" fmla="*/ 498774 w 523329"/>
                    <a:gd name="connsiteY41" fmla="*/ 43324 h 112712"/>
                    <a:gd name="connsiteX42" fmla="*/ 498774 w 523329"/>
                    <a:gd name="connsiteY42" fmla="*/ 26524 h 112712"/>
                    <a:gd name="connsiteX43" fmla="*/ 494574 w 523329"/>
                    <a:gd name="connsiteY43" fmla="*/ 22324 h 112712"/>
                    <a:gd name="connsiteX44" fmla="*/ 394974 w 523329"/>
                    <a:gd name="connsiteY44" fmla="*/ 22324 h 112712"/>
                    <a:gd name="connsiteX45" fmla="*/ 30642 w 523329"/>
                    <a:gd name="connsiteY45" fmla="*/ 65187 h 112712"/>
                    <a:gd name="connsiteX46" fmla="*/ 26442 w 523329"/>
                    <a:gd name="connsiteY46" fmla="*/ 69387 h 112712"/>
                    <a:gd name="connsiteX47" fmla="*/ 26442 w 523329"/>
                    <a:gd name="connsiteY47" fmla="*/ 86187 h 112712"/>
                    <a:gd name="connsiteX48" fmla="*/ 30642 w 523329"/>
                    <a:gd name="connsiteY48" fmla="*/ 90387 h 112712"/>
                    <a:gd name="connsiteX49" fmla="*/ 130242 w 523329"/>
                    <a:gd name="connsiteY49" fmla="*/ 90387 h 112712"/>
                    <a:gd name="connsiteX50" fmla="*/ 134442 w 523329"/>
                    <a:gd name="connsiteY50" fmla="*/ 86187 h 112712"/>
                    <a:gd name="connsiteX51" fmla="*/ 134442 w 523329"/>
                    <a:gd name="connsiteY51" fmla="*/ 69387 h 112712"/>
                    <a:gd name="connsiteX52" fmla="*/ 130242 w 523329"/>
                    <a:gd name="connsiteY52" fmla="*/ 65187 h 112712"/>
                    <a:gd name="connsiteX53" fmla="*/ 30642 w 523329"/>
                    <a:gd name="connsiteY53" fmla="*/ 65187 h 112712"/>
                    <a:gd name="connsiteX54" fmla="*/ 152086 w 523329"/>
                    <a:gd name="connsiteY54" fmla="*/ 65187 h 112712"/>
                    <a:gd name="connsiteX55" fmla="*/ 147886 w 523329"/>
                    <a:gd name="connsiteY55" fmla="*/ 69387 h 112712"/>
                    <a:gd name="connsiteX56" fmla="*/ 147886 w 523329"/>
                    <a:gd name="connsiteY56" fmla="*/ 86187 h 112712"/>
                    <a:gd name="connsiteX57" fmla="*/ 152086 w 523329"/>
                    <a:gd name="connsiteY57" fmla="*/ 90387 h 112712"/>
                    <a:gd name="connsiteX58" fmla="*/ 251686 w 523329"/>
                    <a:gd name="connsiteY58" fmla="*/ 90387 h 112712"/>
                    <a:gd name="connsiteX59" fmla="*/ 255886 w 523329"/>
                    <a:gd name="connsiteY59" fmla="*/ 86187 h 112712"/>
                    <a:gd name="connsiteX60" fmla="*/ 255886 w 523329"/>
                    <a:gd name="connsiteY60" fmla="*/ 69387 h 112712"/>
                    <a:gd name="connsiteX61" fmla="*/ 251686 w 523329"/>
                    <a:gd name="connsiteY61" fmla="*/ 65187 h 112712"/>
                    <a:gd name="connsiteX62" fmla="*/ 152086 w 523329"/>
                    <a:gd name="connsiteY62" fmla="*/ 65187 h 112712"/>
                    <a:gd name="connsiteX63" fmla="*/ 273530 w 523329"/>
                    <a:gd name="connsiteY63" fmla="*/ 65187 h 112712"/>
                    <a:gd name="connsiteX64" fmla="*/ 269330 w 523329"/>
                    <a:gd name="connsiteY64" fmla="*/ 69387 h 112712"/>
                    <a:gd name="connsiteX65" fmla="*/ 269330 w 523329"/>
                    <a:gd name="connsiteY65" fmla="*/ 86187 h 112712"/>
                    <a:gd name="connsiteX66" fmla="*/ 273530 w 523329"/>
                    <a:gd name="connsiteY66" fmla="*/ 90387 h 112712"/>
                    <a:gd name="connsiteX67" fmla="*/ 373130 w 523329"/>
                    <a:gd name="connsiteY67" fmla="*/ 90387 h 112712"/>
                    <a:gd name="connsiteX68" fmla="*/ 377330 w 523329"/>
                    <a:gd name="connsiteY68" fmla="*/ 86187 h 112712"/>
                    <a:gd name="connsiteX69" fmla="*/ 377330 w 523329"/>
                    <a:gd name="connsiteY69" fmla="*/ 69387 h 112712"/>
                    <a:gd name="connsiteX70" fmla="*/ 373130 w 523329"/>
                    <a:gd name="connsiteY70" fmla="*/ 65187 h 112712"/>
                    <a:gd name="connsiteX71" fmla="*/ 273530 w 523329"/>
                    <a:gd name="connsiteY71" fmla="*/ 65187 h 112712"/>
                    <a:gd name="connsiteX72" fmla="*/ 394974 w 523329"/>
                    <a:gd name="connsiteY72" fmla="*/ 65187 h 112712"/>
                    <a:gd name="connsiteX73" fmla="*/ 390774 w 523329"/>
                    <a:gd name="connsiteY73" fmla="*/ 69387 h 112712"/>
                    <a:gd name="connsiteX74" fmla="*/ 390774 w 523329"/>
                    <a:gd name="connsiteY74" fmla="*/ 86187 h 112712"/>
                    <a:gd name="connsiteX75" fmla="*/ 394974 w 523329"/>
                    <a:gd name="connsiteY75" fmla="*/ 90387 h 112712"/>
                    <a:gd name="connsiteX76" fmla="*/ 494574 w 523329"/>
                    <a:gd name="connsiteY76" fmla="*/ 90387 h 112712"/>
                    <a:gd name="connsiteX77" fmla="*/ 498774 w 523329"/>
                    <a:gd name="connsiteY77" fmla="*/ 86187 h 112712"/>
                    <a:gd name="connsiteX78" fmla="*/ 498774 w 523329"/>
                    <a:gd name="connsiteY78" fmla="*/ 69387 h 112712"/>
                    <a:gd name="connsiteX79" fmla="*/ 494574 w 523329"/>
                    <a:gd name="connsiteY79" fmla="*/ 65187 h 112712"/>
                    <a:gd name="connsiteX80" fmla="*/ 394974 w 523329"/>
                    <a:gd name="connsiteY80" fmla="*/ 65187 h 11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</a:cxnLst>
                  <a:rect l="l" t="t" r="r" b="b"/>
                  <a:pathLst>
                    <a:path w="523329" h="112712">
                      <a:moveTo>
                        <a:pt x="18786" y="0"/>
                      </a:moveTo>
                      <a:lnTo>
                        <a:pt x="504543" y="0"/>
                      </a:lnTo>
                      <a:cubicBezTo>
                        <a:pt x="514918" y="0"/>
                        <a:pt x="523329" y="8411"/>
                        <a:pt x="523329" y="18786"/>
                      </a:cubicBezTo>
                      <a:lnTo>
                        <a:pt x="523329" y="93926"/>
                      </a:lnTo>
                      <a:cubicBezTo>
                        <a:pt x="523329" y="104301"/>
                        <a:pt x="514918" y="112712"/>
                        <a:pt x="504543" y="112712"/>
                      </a:cubicBezTo>
                      <a:lnTo>
                        <a:pt x="18786" y="112712"/>
                      </a:lnTo>
                      <a:cubicBezTo>
                        <a:pt x="8411" y="112712"/>
                        <a:pt x="0" y="104301"/>
                        <a:pt x="0" y="93926"/>
                      </a:cubicBezTo>
                      <a:lnTo>
                        <a:pt x="0" y="18786"/>
                      </a:lnTo>
                      <a:cubicBezTo>
                        <a:pt x="0" y="8411"/>
                        <a:pt x="8411" y="0"/>
                        <a:pt x="18786" y="0"/>
                      </a:cubicBezTo>
                      <a:close/>
                      <a:moveTo>
                        <a:pt x="30642" y="22324"/>
                      </a:moveTo>
                      <a:cubicBezTo>
                        <a:pt x="28322" y="22324"/>
                        <a:pt x="26442" y="24204"/>
                        <a:pt x="26442" y="26524"/>
                      </a:cubicBezTo>
                      <a:lnTo>
                        <a:pt x="26442" y="43324"/>
                      </a:lnTo>
                      <a:cubicBezTo>
                        <a:pt x="26442" y="45644"/>
                        <a:pt x="28322" y="47524"/>
                        <a:pt x="30642" y="47524"/>
                      </a:cubicBezTo>
                      <a:lnTo>
                        <a:pt x="130242" y="47524"/>
                      </a:lnTo>
                      <a:cubicBezTo>
                        <a:pt x="132562" y="47524"/>
                        <a:pt x="134442" y="45644"/>
                        <a:pt x="134442" y="43324"/>
                      </a:cubicBezTo>
                      <a:lnTo>
                        <a:pt x="134442" y="26524"/>
                      </a:lnTo>
                      <a:cubicBezTo>
                        <a:pt x="134442" y="24204"/>
                        <a:pt x="132562" y="22324"/>
                        <a:pt x="130242" y="22324"/>
                      </a:cubicBezTo>
                      <a:lnTo>
                        <a:pt x="30642" y="22324"/>
                      </a:lnTo>
                      <a:close/>
                      <a:moveTo>
                        <a:pt x="152086" y="22324"/>
                      </a:moveTo>
                      <a:cubicBezTo>
                        <a:pt x="149766" y="22324"/>
                        <a:pt x="147886" y="24204"/>
                        <a:pt x="147886" y="26524"/>
                      </a:cubicBezTo>
                      <a:lnTo>
                        <a:pt x="147886" y="43324"/>
                      </a:lnTo>
                      <a:cubicBezTo>
                        <a:pt x="147886" y="45644"/>
                        <a:pt x="149766" y="47524"/>
                        <a:pt x="152086" y="47524"/>
                      </a:cubicBezTo>
                      <a:lnTo>
                        <a:pt x="251686" y="47524"/>
                      </a:lnTo>
                      <a:cubicBezTo>
                        <a:pt x="254006" y="47524"/>
                        <a:pt x="255886" y="45644"/>
                        <a:pt x="255886" y="43324"/>
                      </a:cubicBezTo>
                      <a:lnTo>
                        <a:pt x="255886" y="26524"/>
                      </a:lnTo>
                      <a:cubicBezTo>
                        <a:pt x="255886" y="24204"/>
                        <a:pt x="254006" y="22324"/>
                        <a:pt x="251686" y="22324"/>
                      </a:cubicBezTo>
                      <a:lnTo>
                        <a:pt x="152086" y="22324"/>
                      </a:lnTo>
                      <a:close/>
                      <a:moveTo>
                        <a:pt x="273530" y="22324"/>
                      </a:moveTo>
                      <a:cubicBezTo>
                        <a:pt x="271210" y="22324"/>
                        <a:pt x="269330" y="24204"/>
                        <a:pt x="269330" y="26524"/>
                      </a:cubicBezTo>
                      <a:lnTo>
                        <a:pt x="269330" y="43324"/>
                      </a:lnTo>
                      <a:cubicBezTo>
                        <a:pt x="269330" y="45644"/>
                        <a:pt x="271210" y="47524"/>
                        <a:pt x="273530" y="47524"/>
                      </a:cubicBezTo>
                      <a:lnTo>
                        <a:pt x="373130" y="47524"/>
                      </a:lnTo>
                      <a:cubicBezTo>
                        <a:pt x="375450" y="47524"/>
                        <a:pt x="377330" y="45644"/>
                        <a:pt x="377330" y="43324"/>
                      </a:cubicBezTo>
                      <a:lnTo>
                        <a:pt x="377330" y="26524"/>
                      </a:lnTo>
                      <a:cubicBezTo>
                        <a:pt x="377330" y="24204"/>
                        <a:pt x="375450" y="22324"/>
                        <a:pt x="373130" y="22324"/>
                      </a:cubicBezTo>
                      <a:lnTo>
                        <a:pt x="273530" y="22324"/>
                      </a:lnTo>
                      <a:close/>
                      <a:moveTo>
                        <a:pt x="394974" y="22324"/>
                      </a:moveTo>
                      <a:cubicBezTo>
                        <a:pt x="392654" y="22324"/>
                        <a:pt x="390774" y="24204"/>
                        <a:pt x="390774" y="26524"/>
                      </a:cubicBezTo>
                      <a:lnTo>
                        <a:pt x="390774" y="43324"/>
                      </a:lnTo>
                      <a:cubicBezTo>
                        <a:pt x="390774" y="45644"/>
                        <a:pt x="392654" y="47524"/>
                        <a:pt x="394974" y="47524"/>
                      </a:cubicBezTo>
                      <a:lnTo>
                        <a:pt x="494574" y="47524"/>
                      </a:lnTo>
                      <a:cubicBezTo>
                        <a:pt x="496894" y="47524"/>
                        <a:pt x="498774" y="45644"/>
                        <a:pt x="498774" y="43324"/>
                      </a:cubicBezTo>
                      <a:lnTo>
                        <a:pt x="498774" y="26524"/>
                      </a:lnTo>
                      <a:cubicBezTo>
                        <a:pt x="498774" y="24204"/>
                        <a:pt x="496894" y="22324"/>
                        <a:pt x="494574" y="22324"/>
                      </a:cubicBezTo>
                      <a:lnTo>
                        <a:pt x="394974" y="22324"/>
                      </a:lnTo>
                      <a:close/>
                      <a:moveTo>
                        <a:pt x="30642" y="65187"/>
                      </a:moveTo>
                      <a:cubicBezTo>
                        <a:pt x="28322" y="65187"/>
                        <a:pt x="26442" y="67067"/>
                        <a:pt x="26442" y="69387"/>
                      </a:cubicBezTo>
                      <a:lnTo>
                        <a:pt x="26442" y="86187"/>
                      </a:lnTo>
                      <a:cubicBezTo>
                        <a:pt x="26442" y="88507"/>
                        <a:pt x="28322" y="90387"/>
                        <a:pt x="30642" y="90387"/>
                      </a:cubicBezTo>
                      <a:lnTo>
                        <a:pt x="130242" y="90387"/>
                      </a:lnTo>
                      <a:cubicBezTo>
                        <a:pt x="132562" y="90387"/>
                        <a:pt x="134442" y="88507"/>
                        <a:pt x="134442" y="86187"/>
                      </a:cubicBezTo>
                      <a:lnTo>
                        <a:pt x="134442" y="69387"/>
                      </a:lnTo>
                      <a:cubicBezTo>
                        <a:pt x="134442" y="67067"/>
                        <a:pt x="132562" y="65187"/>
                        <a:pt x="130242" y="65187"/>
                      </a:cubicBezTo>
                      <a:lnTo>
                        <a:pt x="30642" y="65187"/>
                      </a:lnTo>
                      <a:close/>
                      <a:moveTo>
                        <a:pt x="152086" y="65187"/>
                      </a:moveTo>
                      <a:cubicBezTo>
                        <a:pt x="149766" y="65187"/>
                        <a:pt x="147886" y="67067"/>
                        <a:pt x="147886" y="69387"/>
                      </a:cubicBezTo>
                      <a:lnTo>
                        <a:pt x="147886" y="86187"/>
                      </a:lnTo>
                      <a:cubicBezTo>
                        <a:pt x="147886" y="88507"/>
                        <a:pt x="149766" y="90387"/>
                        <a:pt x="152086" y="90387"/>
                      </a:cubicBezTo>
                      <a:lnTo>
                        <a:pt x="251686" y="90387"/>
                      </a:lnTo>
                      <a:cubicBezTo>
                        <a:pt x="254006" y="90387"/>
                        <a:pt x="255886" y="88507"/>
                        <a:pt x="255886" y="86187"/>
                      </a:cubicBezTo>
                      <a:lnTo>
                        <a:pt x="255886" y="69387"/>
                      </a:lnTo>
                      <a:cubicBezTo>
                        <a:pt x="255886" y="67067"/>
                        <a:pt x="254006" y="65187"/>
                        <a:pt x="251686" y="65187"/>
                      </a:cubicBezTo>
                      <a:lnTo>
                        <a:pt x="152086" y="65187"/>
                      </a:lnTo>
                      <a:close/>
                      <a:moveTo>
                        <a:pt x="273530" y="65187"/>
                      </a:moveTo>
                      <a:cubicBezTo>
                        <a:pt x="271210" y="65187"/>
                        <a:pt x="269330" y="67067"/>
                        <a:pt x="269330" y="69387"/>
                      </a:cubicBezTo>
                      <a:lnTo>
                        <a:pt x="269330" y="86187"/>
                      </a:lnTo>
                      <a:cubicBezTo>
                        <a:pt x="269330" y="88507"/>
                        <a:pt x="271210" y="90387"/>
                        <a:pt x="273530" y="90387"/>
                      </a:cubicBezTo>
                      <a:lnTo>
                        <a:pt x="373130" y="90387"/>
                      </a:lnTo>
                      <a:cubicBezTo>
                        <a:pt x="375450" y="90387"/>
                        <a:pt x="377330" y="88507"/>
                        <a:pt x="377330" y="86187"/>
                      </a:cubicBezTo>
                      <a:lnTo>
                        <a:pt x="377330" y="69387"/>
                      </a:lnTo>
                      <a:cubicBezTo>
                        <a:pt x="377330" y="67067"/>
                        <a:pt x="375450" y="65187"/>
                        <a:pt x="373130" y="65187"/>
                      </a:cubicBezTo>
                      <a:lnTo>
                        <a:pt x="273530" y="65187"/>
                      </a:lnTo>
                      <a:close/>
                      <a:moveTo>
                        <a:pt x="394974" y="65187"/>
                      </a:moveTo>
                      <a:cubicBezTo>
                        <a:pt x="392654" y="65187"/>
                        <a:pt x="390774" y="67067"/>
                        <a:pt x="390774" y="69387"/>
                      </a:cubicBezTo>
                      <a:lnTo>
                        <a:pt x="390774" y="86187"/>
                      </a:lnTo>
                      <a:cubicBezTo>
                        <a:pt x="390774" y="88507"/>
                        <a:pt x="392654" y="90387"/>
                        <a:pt x="394974" y="90387"/>
                      </a:cubicBezTo>
                      <a:lnTo>
                        <a:pt x="494574" y="90387"/>
                      </a:lnTo>
                      <a:cubicBezTo>
                        <a:pt x="496894" y="90387"/>
                        <a:pt x="498774" y="88507"/>
                        <a:pt x="498774" y="86187"/>
                      </a:cubicBezTo>
                      <a:lnTo>
                        <a:pt x="498774" y="69387"/>
                      </a:lnTo>
                      <a:cubicBezTo>
                        <a:pt x="498774" y="67067"/>
                        <a:pt x="496894" y="65187"/>
                        <a:pt x="494574" y="65187"/>
                      </a:cubicBezTo>
                      <a:lnTo>
                        <a:pt x="394974" y="65187"/>
                      </a:lnTo>
                      <a:close/>
                    </a:path>
                  </a:pathLst>
                </a:custGeom>
                <a:solidFill>
                  <a:srgbClr val="96969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+mn-ea"/>
                  </a:endParaRPr>
                </a:p>
              </p:txBody>
            </p:sp>
            <p:sp>
              <p:nvSpPr>
                <p:cNvPr id="118" name="TextBox 117"/>
                <p:cNvSpPr txBox="1"/>
                <p:nvPr/>
              </p:nvSpPr>
              <p:spPr bwMode="auto">
                <a:xfrm>
                  <a:off x="5040941" y="1229118"/>
                  <a:ext cx="302602" cy="215444"/>
                </a:xfrm>
                <a:prstGeom prst="rect">
                  <a:avLst/>
                </a:prstGeom>
                <a:noFill/>
              </p:spPr>
              <p:txBody>
                <a:bodyPr lIns="0" tIns="0" rIns="0" bIns="0">
                  <a:spAutoFit/>
                </a:bodyPr>
                <a:lstStyle>
                  <a:defPPr>
                    <a:defRPr lang="en-US"/>
                  </a:defPPr>
                  <a:lvl1pPr algn="ctr">
                    <a:defRPr sz="7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+mn-ea"/>
                      <a:ea typeface="+mn-ea"/>
                    </a:defRPr>
                  </a:lvl1pPr>
                </a:lstStyle>
                <a:p>
                  <a:r>
                    <a:rPr lang="en-US" altLang="ko-KR" dirty="0"/>
                    <a:t>SAN</a:t>
                  </a:r>
                  <a:br>
                    <a:rPr lang="en-US" altLang="ko-KR" dirty="0"/>
                  </a:br>
                  <a:r>
                    <a:rPr lang="ko-KR" altLang="en-US" dirty="0"/>
                    <a:t>스위치</a:t>
                  </a:r>
                </a:p>
              </p:txBody>
            </p:sp>
          </p:grpSp>
          <p:grpSp>
            <p:nvGrpSpPr>
              <p:cNvPr id="46" name="그룹 45"/>
              <p:cNvGrpSpPr/>
              <p:nvPr/>
            </p:nvGrpSpPr>
            <p:grpSpPr>
              <a:xfrm>
                <a:off x="4300181" y="927368"/>
                <a:ext cx="227350" cy="509106"/>
                <a:chOff x="3797195" y="927368"/>
                <a:chExt cx="227350" cy="509106"/>
              </a:xfrm>
            </p:grpSpPr>
            <p:grpSp>
              <p:nvGrpSpPr>
                <p:cNvPr id="103" name="Group 20"/>
                <p:cNvGrpSpPr>
                  <a:grpSpLocks noChangeAspect="1"/>
                </p:cNvGrpSpPr>
                <p:nvPr/>
              </p:nvGrpSpPr>
              <p:grpSpPr bwMode="auto">
                <a:xfrm>
                  <a:off x="3827543" y="927368"/>
                  <a:ext cx="178180" cy="240177"/>
                  <a:chOff x="6031" y="2347"/>
                  <a:chExt cx="1063" cy="1428"/>
                </a:xfrm>
                <a:solidFill>
                  <a:srgbClr val="BFBFBF"/>
                </a:solidFill>
              </p:grpSpPr>
              <p:sp>
                <p:nvSpPr>
                  <p:cNvPr id="105" name="Freeform 21"/>
                  <p:cNvSpPr>
                    <a:spLocks/>
                  </p:cNvSpPr>
                  <p:nvPr/>
                </p:nvSpPr>
                <p:spPr bwMode="auto">
                  <a:xfrm>
                    <a:off x="7016" y="2397"/>
                    <a:ext cx="78" cy="1325"/>
                  </a:xfrm>
                  <a:custGeom>
                    <a:avLst/>
                    <a:gdLst>
                      <a:gd name="T0" fmla="*/ 21 w 33"/>
                      <a:gd name="T1" fmla="*/ 496 h 558"/>
                      <a:gd name="T2" fmla="*/ 21 w 33"/>
                      <a:gd name="T3" fmla="*/ 424 h 558"/>
                      <a:gd name="T4" fmla="*/ 21 w 33"/>
                      <a:gd name="T5" fmla="*/ 279 h 558"/>
                      <a:gd name="T6" fmla="*/ 21 w 33"/>
                      <a:gd name="T7" fmla="*/ 134 h 558"/>
                      <a:gd name="T8" fmla="*/ 21 w 33"/>
                      <a:gd name="T9" fmla="*/ 62 h 558"/>
                      <a:gd name="T10" fmla="*/ 21 w 33"/>
                      <a:gd name="T11" fmla="*/ 44 h 558"/>
                      <a:gd name="T12" fmla="*/ 21 w 33"/>
                      <a:gd name="T13" fmla="*/ 35 h 558"/>
                      <a:gd name="T14" fmla="*/ 21 w 33"/>
                      <a:gd name="T15" fmla="*/ 30 h 558"/>
                      <a:gd name="T16" fmla="*/ 21 w 33"/>
                      <a:gd name="T17" fmla="*/ 28 h 558"/>
                      <a:gd name="T18" fmla="*/ 21 w 33"/>
                      <a:gd name="T19" fmla="*/ 27 h 558"/>
                      <a:gd name="T20" fmla="*/ 14 w 33"/>
                      <a:gd name="T21" fmla="*/ 17 h 558"/>
                      <a:gd name="T22" fmla="*/ 0 w 33"/>
                      <a:gd name="T23" fmla="*/ 13 h 558"/>
                      <a:gd name="T24" fmla="*/ 0 w 33"/>
                      <a:gd name="T25" fmla="*/ 0 h 558"/>
                      <a:gd name="T26" fmla="*/ 21 w 33"/>
                      <a:gd name="T27" fmla="*/ 6 h 558"/>
                      <a:gd name="T28" fmla="*/ 33 w 33"/>
                      <a:gd name="T29" fmla="*/ 25 h 558"/>
                      <a:gd name="T30" fmla="*/ 33 w 33"/>
                      <a:gd name="T31" fmla="*/ 28 h 558"/>
                      <a:gd name="T32" fmla="*/ 33 w 33"/>
                      <a:gd name="T33" fmla="*/ 30 h 558"/>
                      <a:gd name="T34" fmla="*/ 33 w 33"/>
                      <a:gd name="T35" fmla="*/ 35 h 558"/>
                      <a:gd name="T36" fmla="*/ 33 w 33"/>
                      <a:gd name="T37" fmla="*/ 44 h 558"/>
                      <a:gd name="T38" fmla="*/ 33 w 33"/>
                      <a:gd name="T39" fmla="*/ 62 h 558"/>
                      <a:gd name="T40" fmla="*/ 33 w 33"/>
                      <a:gd name="T41" fmla="*/ 134 h 558"/>
                      <a:gd name="T42" fmla="*/ 33 w 33"/>
                      <a:gd name="T43" fmla="*/ 279 h 558"/>
                      <a:gd name="T44" fmla="*/ 33 w 33"/>
                      <a:gd name="T45" fmla="*/ 424 h 558"/>
                      <a:gd name="T46" fmla="*/ 33 w 33"/>
                      <a:gd name="T47" fmla="*/ 496 h 558"/>
                      <a:gd name="T48" fmla="*/ 33 w 33"/>
                      <a:gd name="T49" fmla="*/ 514 h 558"/>
                      <a:gd name="T50" fmla="*/ 33 w 33"/>
                      <a:gd name="T51" fmla="*/ 523 h 558"/>
                      <a:gd name="T52" fmla="*/ 33 w 33"/>
                      <a:gd name="T53" fmla="*/ 528 h 558"/>
                      <a:gd name="T54" fmla="*/ 33 w 33"/>
                      <a:gd name="T55" fmla="*/ 530 h 558"/>
                      <a:gd name="T56" fmla="*/ 33 w 33"/>
                      <a:gd name="T57" fmla="*/ 533 h 558"/>
                      <a:gd name="T58" fmla="*/ 21 w 33"/>
                      <a:gd name="T59" fmla="*/ 552 h 558"/>
                      <a:gd name="T60" fmla="*/ 0 w 33"/>
                      <a:gd name="T61" fmla="*/ 558 h 558"/>
                      <a:gd name="T62" fmla="*/ 0 w 33"/>
                      <a:gd name="T63" fmla="*/ 546 h 558"/>
                      <a:gd name="T64" fmla="*/ 14 w 33"/>
                      <a:gd name="T65" fmla="*/ 542 h 558"/>
                      <a:gd name="T66" fmla="*/ 21 w 33"/>
                      <a:gd name="T67" fmla="*/ 531 h 558"/>
                      <a:gd name="T68" fmla="*/ 21 w 33"/>
                      <a:gd name="T69" fmla="*/ 530 h 558"/>
                      <a:gd name="T70" fmla="*/ 21 w 33"/>
                      <a:gd name="T71" fmla="*/ 528 h 558"/>
                      <a:gd name="T72" fmla="*/ 21 w 33"/>
                      <a:gd name="T73" fmla="*/ 523 h 558"/>
                      <a:gd name="T74" fmla="*/ 21 w 33"/>
                      <a:gd name="T75" fmla="*/ 514 h 558"/>
                      <a:gd name="T76" fmla="*/ 21 w 33"/>
                      <a:gd name="T77" fmla="*/ 496 h 5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</a:cxnLst>
                    <a:rect l="0" t="0" r="r" b="b"/>
                    <a:pathLst>
                      <a:path w="33" h="558">
                        <a:moveTo>
                          <a:pt x="21" y="496"/>
                        </a:moveTo>
                        <a:cubicBezTo>
                          <a:pt x="21" y="424"/>
                          <a:pt x="21" y="424"/>
                          <a:pt x="21" y="424"/>
                        </a:cubicBezTo>
                        <a:cubicBezTo>
                          <a:pt x="21" y="279"/>
                          <a:pt x="21" y="279"/>
                          <a:pt x="21" y="279"/>
                        </a:cubicBezTo>
                        <a:cubicBezTo>
                          <a:pt x="21" y="134"/>
                          <a:pt x="21" y="134"/>
                          <a:pt x="21" y="134"/>
                        </a:cubicBezTo>
                        <a:cubicBezTo>
                          <a:pt x="21" y="62"/>
                          <a:pt x="21" y="62"/>
                          <a:pt x="21" y="62"/>
                        </a:cubicBezTo>
                        <a:cubicBezTo>
                          <a:pt x="21" y="44"/>
                          <a:pt x="21" y="44"/>
                          <a:pt x="21" y="44"/>
                        </a:cubicBezTo>
                        <a:cubicBezTo>
                          <a:pt x="21" y="35"/>
                          <a:pt x="21" y="35"/>
                          <a:pt x="21" y="35"/>
                        </a:cubicBezTo>
                        <a:cubicBezTo>
                          <a:pt x="21" y="30"/>
                          <a:pt x="21" y="30"/>
                          <a:pt x="21" y="30"/>
                        </a:cubicBezTo>
                        <a:cubicBezTo>
                          <a:pt x="21" y="28"/>
                          <a:pt x="21" y="28"/>
                          <a:pt x="21" y="28"/>
                        </a:cubicBezTo>
                        <a:cubicBezTo>
                          <a:pt x="21" y="27"/>
                          <a:pt x="21" y="27"/>
                          <a:pt x="21" y="27"/>
                        </a:cubicBezTo>
                        <a:cubicBezTo>
                          <a:pt x="20" y="23"/>
                          <a:pt x="18" y="19"/>
                          <a:pt x="14" y="17"/>
                        </a:cubicBezTo>
                        <a:cubicBezTo>
                          <a:pt x="10" y="14"/>
                          <a:pt x="5" y="13"/>
                          <a:pt x="0" y="13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7" y="0"/>
                          <a:pt x="14" y="2"/>
                          <a:pt x="21" y="6"/>
                        </a:cubicBezTo>
                        <a:cubicBezTo>
                          <a:pt x="27" y="10"/>
                          <a:pt x="32" y="17"/>
                          <a:pt x="33" y="25"/>
                        </a:cubicBezTo>
                        <a:cubicBezTo>
                          <a:pt x="33" y="26"/>
                          <a:pt x="33" y="27"/>
                          <a:pt x="33" y="28"/>
                        </a:cubicBezTo>
                        <a:cubicBezTo>
                          <a:pt x="33" y="30"/>
                          <a:pt x="33" y="30"/>
                          <a:pt x="33" y="30"/>
                        </a:cubicBezTo>
                        <a:cubicBezTo>
                          <a:pt x="33" y="35"/>
                          <a:pt x="33" y="35"/>
                          <a:pt x="33" y="35"/>
                        </a:cubicBezTo>
                        <a:cubicBezTo>
                          <a:pt x="33" y="44"/>
                          <a:pt x="33" y="44"/>
                          <a:pt x="33" y="44"/>
                        </a:cubicBezTo>
                        <a:cubicBezTo>
                          <a:pt x="33" y="62"/>
                          <a:pt x="33" y="62"/>
                          <a:pt x="33" y="62"/>
                        </a:cubicBezTo>
                        <a:cubicBezTo>
                          <a:pt x="33" y="134"/>
                          <a:pt x="33" y="134"/>
                          <a:pt x="33" y="134"/>
                        </a:cubicBezTo>
                        <a:cubicBezTo>
                          <a:pt x="33" y="279"/>
                          <a:pt x="33" y="279"/>
                          <a:pt x="33" y="279"/>
                        </a:cubicBezTo>
                        <a:cubicBezTo>
                          <a:pt x="33" y="424"/>
                          <a:pt x="33" y="424"/>
                          <a:pt x="33" y="424"/>
                        </a:cubicBezTo>
                        <a:cubicBezTo>
                          <a:pt x="33" y="496"/>
                          <a:pt x="33" y="496"/>
                          <a:pt x="33" y="496"/>
                        </a:cubicBezTo>
                        <a:cubicBezTo>
                          <a:pt x="33" y="514"/>
                          <a:pt x="33" y="514"/>
                          <a:pt x="33" y="514"/>
                        </a:cubicBezTo>
                        <a:cubicBezTo>
                          <a:pt x="33" y="523"/>
                          <a:pt x="33" y="523"/>
                          <a:pt x="33" y="523"/>
                        </a:cubicBezTo>
                        <a:cubicBezTo>
                          <a:pt x="33" y="528"/>
                          <a:pt x="33" y="528"/>
                          <a:pt x="33" y="528"/>
                        </a:cubicBezTo>
                        <a:cubicBezTo>
                          <a:pt x="33" y="530"/>
                          <a:pt x="33" y="530"/>
                          <a:pt x="33" y="530"/>
                        </a:cubicBezTo>
                        <a:cubicBezTo>
                          <a:pt x="33" y="531"/>
                          <a:pt x="33" y="532"/>
                          <a:pt x="33" y="533"/>
                        </a:cubicBezTo>
                        <a:cubicBezTo>
                          <a:pt x="32" y="541"/>
                          <a:pt x="27" y="548"/>
                          <a:pt x="21" y="552"/>
                        </a:cubicBezTo>
                        <a:cubicBezTo>
                          <a:pt x="14" y="556"/>
                          <a:pt x="7" y="558"/>
                          <a:pt x="0" y="558"/>
                        </a:cubicBezTo>
                        <a:cubicBezTo>
                          <a:pt x="0" y="546"/>
                          <a:pt x="0" y="546"/>
                          <a:pt x="0" y="546"/>
                        </a:cubicBezTo>
                        <a:cubicBezTo>
                          <a:pt x="5" y="546"/>
                          <a:pt x="10" y="544"/>
                          <a:pt x="14" y="542"/>
                        </a:cubicBezTo>
                        <a:cubicBezTo>
                          <a:pt x="18" y="539"/>
                          <a:pt x="20" y="535"/>
                          <a:pt x="21" y="531"/>
                        </a:cubicBezTo>
                        <a:cubicBezTo>
                          <a:pt x="21" y="531"/>
                          <a:pt x="21" y="531"/>
                          <a:pt x="21" y="530"/>
                        </a:cubicBezTo>
                        <a:cubicBezTo>
                          <a:pt x="21" y="528"/>
                          <a:pt x="21" y="528"/>
                          <a:pt x="21" y="528"/>
                        </a:cubicBezTo>
                        <a:cubicBezTo>
                          <a:pt x="21" y="523"/>
                          <a:pt x="21" y="523"/>
                          <a:pt x="21" y="523"/>
                        </a:cubicBezTo>
                        <a:cubicBezTo>
                          <a:pt x="21" y="514"/>
                          <a:pt x="21" y="514"/>
                          <a:pt x="21" y="514"/>
                        </a:cubicBezTo>
                        <a:lnTo>
                          <a:pt x="21" y="496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ko-KR" altLang="en-US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06" name="Freeform 22"/>
                  <p:cNvSpPr>
                    <a:spLocks/>
                  </p:cNvSpPr>
                  <p:nvPr/>
                </p:nvSpPr>
                <p:spPr bwMode="auto">
                  <a:xfrm>
                    <a:off x="6031" y="2397"/>
                    <a:ext cx="79" cy="1325"/>
                  </a:xfrm>
                  <a:custGeom>
                    <a:avLst/>
                    <a:gdLst>
                      <a:gd name="T0" fmla="*/ 12 w 33"/>
                      <a:gd name="T1" fmla="*/ 44 h 558"/>
                      <a:gd name="T2" fmla="*/ 12 w 33"/>
                      <a:gd name="T3" fmla="*/ 62 h 558"/>
                      <a:gd name="T4" fmla="*/ 12 w 33"/>
                      <a:gd name="T5" fmla="*/ 134 h 558"/>
                      <a:gd name="T6" fmla="*/ 12 w 33"/>
                      <a:gd name="T7" fmla="*/ 279 h 558"/>
                      <a:gd name="T8" fmla="*/ 12 w 33"/>
                      <a:gd name="T9" fmla="*/ 424 h 558"/>
                      <a:gd name="T10" fmla="*/ 12 w 33"/>
                      <a:gd name="T11" fmla="*/ 496 h 558"/>
                      <a:gd name="T12" fmla="*/ 12 w 33"/>
                      <a:gd name="T13" fmla="*/ 514 h 558"/>
                      <a:gd name="T14" fmla="*/ 12 w 33"/>
                      <a:gd name="T15" fmla="*/ 523 h 558"/>
                      <a:gd name="T16" fmla="*/ 12 w 33"/>
                      <a:gd name="T17" fmla="*/ 528 h 558"/>
                      <a:gd name="T18" fmla="*/ 12 w 33"/>
                      <a:gd name="T19" fmla="*/ 530 h 558"/>
                      <a:gd name="T20" fmla="*/ 12 w 33"/>
                      <a:gd name="T21" fmla="*/ 531 h 558"/>
                      <a:gd name="T22" fmla="*/ 19 w 33"/>
                      <a:gd name="T23" fmla="*/ 542 h 558"/>
                      <a:gd name="T24" fmla="*/ 33 w 33"/>
                      <a:gd name="T25" fmla="*/ 546 h 558"/>
                      <a:gd name="T26" fmla="*/ 33 w 33"/>
                      <a:gd name="T27" fmla="*/ 558 h 558"/>
                      <a:gd name="T28" fmla="*/ 12 w 33"/>
                      <a:gd name="T29" fmla="*/ 552 h 558"/>
                      <a:gd name="T30" fmla="*/ 0 w 33"/>
                      <a:gd name="T31" fmla="*/ 533 h 558"/>
                      <a:gd name="T32" fmla="*/ 0 w 33"/>
                      <a:gd name="T33" fmla="*/ 530 h 558"/>
                      <a:gd name="T34" fmla="*/ 0 w 33"/>
                      <a:gd name="T35" fmla="*/ 528 h 558"/>
                      <a:gd name="T36" fmla="*/ 0 w 33"/>
                      <a:gd name="T37" fmla="*/ 523 h 558"/>
                      <a:gd name="T38" fmla="*/ 0 w 33"/>
                      <a:gd name="T39" fmla="*/ 514 h 558"/>
                      <a:gd name="T40" fmla="*/ 0 w 33"/>
                      <a:gd name="T41" fmla="*/ 496 h 558"/>
                      <a:gd name="T42" fmla="*/ 0 w 33"/>
                      <a:gd name="T43" fmla="*/ 424 h 558"/>
                      <a:gd name="T44" fmla="*/ 0 w 33"/>
                      <a:gd name="T45" fmla="*/ 279 h 558"/>
                      <a:gd name="T46" fmla="*/ 0 w 33"/>
                      <a:gd name="T47" fmla="*/ 134 h 558"/>
                      <a:gd name="T48" fmla="*/ 0 w 33"/>
                      <a:gd name="T49" fmla="*/ 62 h 558"/>
                      <a:gd name="T50" fmla="*/ 0 w 33"/>
                      <a:gd name="T51" fmla="*/ 44 h 558"/>
                      <a:gd name="T52" fmla="*/ 0 w 33"/>
                      <a:gd name="T53" fmla="*/ 35 h 558"/>
                      <a:gd name="T54" fmla="*/ 0 w 33"/>
                      <a:gd name="T55" fmla="*/ 30 h 558"/>
                      <a:gd name="T56" fmla="*/ 0 w 33"/>
                      <a:gd name="T57" fmla="*/ 28 h 558"/>
                      <a:gd name="T58" fmla="*/ 0 w 33"/>
                      <a:gd name="T59" fmla="*/ 25 h 558"/>
                      <a:gd name="T60" fmla="*/ 12 w 33"/>
                      <a:gd name="T61" fmla="*/ 6 h 558"/>
                      <a:gd name="T62" fmla="*/ 33 w 33"/>
                      <a:gd name="T63" fmla="*/ 0 h 558"/>
                      <a:gd name="T64" fmla="*/ 33 w 33"/>
                      <a:gd name="T65" fmla="*/ 13 h 558"/>
                      <a:gd name="T66" fmla="*/ 19 w 33"/>
                      <a:gd name="T67" fmla="*/ 17 h 558"/>
                      <a:gd name="T68" fmla="*/ 12 w 33"/>
                      <a:gd name="T69" fmla="*/ 27 h 558"/>
                      <a:gd name="T70" fmla="*/ 12 w 33"/>
                      <a:gd name="T71" fmla="*/ 28 h 558"/>
                      <a:gd name="T72" fmla="*/ 12 w 33"/>
                      <a:gd name="T73" fmla="*/ 30 h 558"/>
                      <a:gd name="T74" fmla="*/ 12 w 33"/>
                      <a:gd name="T75" fmla="*/ 35 h 558"/>
                      <a:gd name="T76" fmla="*/ 12 w 33"/>
                      <a:gd name="T77" fmla="*/ 44 h 5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</a:cxnLst>
                    <a:rect l="0" t="0" r="r" b="b"/>
                    <a:pathLst>
                      <a:path w="33" h="558">
                        <a:moveTo>
                          <a:pt x="12" y="44"/>
                        </a:moveTo>
                        <a:cubicBezTo>
                          <a:pt x="12" y="62"/>
                          <a:pt x="12" y="62"/>
                          <a:pt x="12" y="62"/>
                        </a:cubicBezTo>
                        <a:cubicBezTo>
                          <a:pt x="12" y="134"/>
                          <a:pt x="12" y="134"/>
                          <a:pt x="12" y="134"/>
                        </a:cubicBezTo>
                        <a:cubicBezTo>
                          <a:pt x="12" y="279"/>
                          <a:pt x="12" y="279"/>
                          <a:pt x="12" y="279"/>
                        </a:cubicBezTo>
                        <a:cubicBezTo>
                          <a:pt x="12" y="424"/>
                          <a:pt x="12" y="424"/>
                          <a:pt x="12" y="424"/>
                        </a:cubicBezTo>
                        <a:cubicBezTo>
                          <a:pt x="12" y="496"/>
                          <a:pt x="12" y="496"/>
                          <a:pt x="12" y="496"/>
                        </a:cubicBezTo>
                        <a:cubicBezTo>
                          <a:pt x="12" y="514"/>
                          <a:pt x="12" y="514"/>
                          <a:pt x="12" y="514"/>
                        </a:cubicBezTo>
                        <a:cubicBezTo>
                          <a:pt x="12" y="523"/>
                          <a:pt x="12" y="523"/>
                          <a:pt x="12" y="523"/>
                        </a:cubicBezTo>
                        <a:cubicBezTo>
                          <a:pt x="12" y="528"/>
                          <a:pt x="12" y="528"/>
                          <a:pt x="12" y="528"/>
                        </a:cubicBezTo>
                        <a:cubicBezTo>
                          <a:pt x="12" y="530"/>
                          <a:pt x="12" y="530"/>
                          <a:pt x="12" y="530"/>
                        </a:cubicBezTo>
                        <a:cubicBezTo>
                          <a:pt x="12" y="531"/>
                          <a:pt x="12" y="531"/>
                          <a:pt x="12" y="531"/>
                        </a:cubicBezTo>
                        <a:cubicBezTo>
                          <a:pt x="13" y="535"/>
                          <a:pt x="15" y="539"/>
                          <a:pt x="19" y="542"/>
                        </a:cubicBezTo>
                        <a:cubicBezTo>
                          <a:pt x="23" y="544"/>
                          <a:pt x="28" y="546"/>
                          <a:pt x="33" y="546"/>
                        </a:cubicBezTo>
                        <a:cubicBezTo>
                          <a:pt x="33" y="558"/>
                          <a:pt x="33" y="558"/>
                          <a:pt x="33" y="558"/>
                        </a:cubicBezTo>
                        <a:cubicBezTo>
                          <a:pt x="26" y="558"/>
                          <a:pt x="19" y="556"/>
                          <a:pt x="12" y="552"/>
                        </a:cubicBezTo>
                        <a:cubicBezTo>
                          <a:pt x="6" y="548"/>
                          <a:pt x="1" y="541"/>
                          <a:pt x="0" y="533"/>
                        </a:cubicBezTo>
                        <a:cubicBezTo>
                          <a:pt x="0" y="532"/>
                          <a:pt x="0" y="531"/>
                          <a:pt x="0" y="530"/>
                        </a:cubicBezTo>
                        <a:cubicBezTo>
                          <a:pt x="0" y="528"/>
                          <a:pt x="0" y="528"/>
                          <a:pt x="0" y="528"/>
                        </a:cubicBezTo>
                        <a:cubicBezTo>
                          <a:pt x="0" y="523"/>
                          <a:pt x="0" y="523"/>
                          <a:pt x="0" y="523"/>
                        </a:cubicBezTo>
                        <a:cubicBezTo>
                          <a:pt x="0" y="514"/>
                          <a:pt x="0" y="514"/>
                          <a:pt x="0" y="514"/>
                        </a:cubicBezTo>
                        <a:cubicBezTo>
                          <a:pt x="0" y="496"/>
                          <a:pt x="0" y="496"/>
                          <a:pt x="0" y="496"/>
                        </a:cubicBezTo>
                        <a:cubicBezTo>
                          <a:pt x="0" y="424"/>
                          <a:pt x="0" y="424"/>
                          <a:pt x="0" y="424"/>
                        </a:cubicBezTo>
                        <a:cubicBezTo>
                          <a:pt x="0" y="279"/>
                          <a:pt x="0" y="279"/>
                          <a:pt x="0" y="279"/>
                        </a:cubicBezTo>
                        <a:cubicBezTo>
                          <a:pt x="0" y="134"/>
                          <a:pt x="0" y="134"/>
                          <a:pt x="0" y="134"/>
                        </a:cubicBezTo>
                        <a:cubicBezTo>
                          <a:pt x="0" y="62"/>
                          <a:pt x="0" y="62"/>
                          <a:pt x="0" y="62"/>
                        </a:cubicBezTo>
                        <a:cubicBezTo>
                          <a:pt x="0" y="44"/>
                          <a:pt x="0" y="44"/>
                          <a:pt x="0" y="44"/>
                        </a:cubicBezTo>
                        <a:cubicBezTo>
                          <a:pt x="0" y="35"/>
                          <a:pt x="0" y="35"/>
                          <a:pt x="0" y="35"/>
                        </a:cubicBezTo>
                        <a:cubicBezTo>
                          <a:pt x="0" y="30"/>
                          <a:pt x="0" y="30"/>
                          <a:pt x="0" y="30"/>
                        </a:cubicBezTo>
                        <a:cubicBezTo>
                          <a:pt x="0" y="28"/>
                          <a:pt x="0" y="28"/>
                          <a:pt x="0" y="28"/>
                        </a:cubicBezTo>
                        <a:cubicBezTo>
                          <a:pt x="0" y="27"/>
                          <a:pt x="0" y="26"/>
                          <a:pt x="0" y="25"/>
                        </a:cubicBezTo>
                        <a:cubicBezTo>
                          <a:pt x="1" y="17"/>
                          <a:pt x="6" y="10"/>
                          <a:pt x="12" y="6"/>
                        </a:cubicBezTo>
                        <a:cubicBezTo>
                          <a:pt x="19" y="2"/>
                          <a:pt x="26" y="0"/>
                          <a:pt x="33" y="0"/>
                        </a:cubicBezTo>
                        <a:cubicBezTo>
                          <a:pt x="33" y="13"/>
                          <a:pt x="33" y="13"/>
                          <a:pt x="33" y="13"/>
                        </a:cubicBezTo>
                        <a:cubicBezTo>
                          <a:pt x="28" y="13"/>
                          <a:pt x="23" y="14"/>
                          <a:pt x="19" y="17"/>
                        </a:cubicBezTo>
                        <a:cubicBezTo>
                          <a:pt x="15" y="19"/>
                          <a:pt x="13" y="23"/>
                          <a:pt x="12" y="27"/>
                        </a:cubicBezTo>
                        <a:cubicBezTo>
                          <a:pt x="12" y="27"/>
                          <a:pt x="12" y="27"/>
                          <a:pt x="12" y="28"/>
                        </a:cubicBezTo>
                        <a:cubicBezTo>
                          <a:pt x="12" y="30"/>
                          <a:pt x="12" y="30"/>
                          <a:pt x="12" y="30"/>
                        </a:cubicBezTo>
                        <a:cubicBezTo>
                          <a:pt x="12" y="35"/>
                          <a:pt x="12" y="35"/>
                          <a:pt x="12" y="35"/>
                        </a:cubicBezTo>
                        <a:lnTo>
                          <a:pt x="12" y="44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ko-KR" altLang="en-US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07" name="Freeform 23"/>
                  <p:cNvSpPr>
                    <a:spLocks/>
                  </p:cNvSpPr>
                  <p:nvPr/>
                </p:nvSpPr>
                <p:spPr bwMode="auto">
                  <a:xfrm>
                    <a:off x="6633" y="2523"/>
                    <a:ext cx="226" cy="40"/>
                  </a:xfrm>
                  <a:custGeom>
                    <a:avLst/>
                    <a:gdLst>
                      <a:gd name="T0" fmla="*/ 91 w 95"/>
                      <a:gd name="T1" fmla="*/ 0 h 17"/>
                      <a:gd name="T2" fmla="*/ 5 w 95"/>
                      <a:gd name="T3" fmla="*/ 0 h 17"/>
                      <a:gd name="T4" fmla="*/ 0 w 95"/>
                      <a:gd name="T5" fmla="*/ 4 h 17"/>
                      <a:gd name="T6" fmla="*/ 0 w 95"/>
                      <a:gd name="T7" fmla="*/ 13 h 17"/>
                      <a:gd name="T8" fmla="*/ 5 w 95"/>
                      <a:gd name="T9" fmla="*/ 17 h 17"/>
                      <a:gd name="T10" fmla="*/ 91 w 95"/>
                      <a:gd name="T11" fmla="*/ 17 h 17"/>
                      <a:gd name="T12" fmla="*/ 95 w 95"/>
                      <a:gd name="T13" fmla="*/ 13 h 17"/>
                      <a:gd name="T14" fmla="*/ 95 w 95"/>
                      <a:gd name="T15" fmla="*/ 4 h 17"/>
                      <a:gd name="T16" fmla="*/ 91 w 95"/>
                      <a:gd name="T17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95" h="17">
                        <a:moveTo>
                          <a:pt x="91" y="0"/>
                        </a:move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13"/>
                          <a:pt x="0" y="13"/>
                          <a:pt x="0" y="13"/>
                        </a:cubicBezTo>
                        <a:cubicBezTo>
                          <a:pt x="0" y="15"/>
                          <a:pt x="2" y="17"/>
                          <a:pt x="5" y="17"/>
                        </a:cubicBezTo>
                        <a:cubicBezTo>
                          <a:pt x="91" y="17"/>
                          <a:pt x="91" y="17"/>
                          <a:pt x="91" y="17"/>
                        </a:cubicBezTo>
                        <a:cubicBezTo>
                          <a:pt x="93" y="17"/>
                          <a:pt x="95" y="15"/>
                          <a:pt x="95" y="13"/>
                        </a:cubicBezTo>
                        <a:cubicBezTo>
                          <a:pt x="95" y="4"/>
                          <a:pt x="95" y="4"/>
                          <a:pt x="95" y="4"/>
                        </a:cubicBezTo>
                        <a:cubicBezTo>
                          <a:pt x="95" y="2"/>
                          <a:pt x="93" y="0"/>
                          <a:pt x="91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ko-KR" altLang="en-US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08" name="Freeform 24"/>
                  <p:cNvSpPr>
                    <a:spLocks/>
                  </p:cNvSpPr>
                  <p:nvPr/>
                </p:nvSpPr>
                <p:spPr bwMode="auto">
                  <a:xfrm>
                    <a:off x="6633" y="2687"/>
                    <a:ext cx="226" cy="40"/>
                  </a:xfrm>
                  <a:custGeom>
                    <a:avLst/>
                    <a:gdLst>
                      <a:gd name="T0" fmla="*/ 5 w 95"/>
                      <a:gd name="T1" fmla="*/ 17 h 17"/>
                      <a:gd name="T2" fmla="*/ 91 w 95"/>
                      <a:gd name="T3" fmla="*/ 17 h 17"/>
                      <a:gd name="T4" fmla="*/ 95 w 95"/>
                      <a:gd name="T5" fmla="*/ 13 h 17"/>
                      <a:gd name="T6" fmla="*/ 95 w 95"/>
                      <a:gd name="T7" fmla="*/ 4 h 17"/>
                      <a:gd name="T8" fmla="*/ 91 w 95"/>
                      <a:gd name="T9" fmla="*/ 0 h 17"/>
                      <a:gd name="T10" fmla="*/ 5 w 95"/>
                      <a:gd name="T11" fmla="*/ 0 h 17"/>
                      <a:gd name="T12" fmla="*/ 0 w 95"/>
                      <a:gd name="T13" fmla="*/ 4 h 17"/>
                      <a:gd name="T14" fmla="*/ 0 w 95"/>
                      <a:gd name="T15" fmla="*/ 13 h 17"/>
                      <a:gd name="T16" fmla="*/ 5 w 95"/>
                      <a:gd name="T17" fmla="*/ 17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95" h="17">
                        <a:moveTo>
                          <a:pt x="5" y="17"/>
                        </a:moveTo>
                        <a:cubicBezTo>
                          <a:pt x="91" y="17"/>
                          <a:pt x="91" y="17"/>
                          <a:pt x="91" y="17"/>
                        </a:cubicBezTo>
                        <a:cubicBezTo>
                          <a:pt x="93" y="17"/>
                          <a:pt x="95" y="15"/>
                          <a:pt x="95" y="13"/>
                        </a:cubicBezTo>
                        <a:cubicBezTo>
                          <a:pt x="95" y="4"/>
                          <a:pt x="95" y="4"/>
                          <a:pt x="95" y="4"/>
                        </a:cubicBezTo>
                        <a:cubicBezTo>
                          <a:pt x="95" y="2"/>
                          <a:pt x="93" y="0"/>
                          <a:pt x="91" y="0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13"/>
                          <a:pt x="0" y="13"/>
                          <a:pt x="0" y="13"/>
                        </a:cubicBezTo>
                        <a:cubicBezTo>
                          <a:pt x="0" y="15"/>
                          <a:pt x="2" y="17"/>
                          <a:pt x="5" y="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ko-KR" altLang="en-US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09" name="Freeform 25"/>
                  <p:cNvSpPr>
                    <a:spLocks/>
                  </p:cNvSpPr>
                  <p:nvPr/>
                </p:nvSpPr>
                <p:spPr bwMode="auto">
                  <a:xfrm>
                    <a:off x="6454" y="3262"/>
                    <a:ext cx="222" cy="116"/>
                  </a:xfrm>
                  <a:custGeom>
                    <a:avLst/>
                    <a:gdLst>
                      <a:gd name="T0" fmla="*/ 80 w 93"/>
                      <a:gd name="T1" fmla="*/ 10 h 49"/>
                      <a:gd name="T2" fmla="*/ 14 w 93"/>
                      <a:gd name="T3" fmla="*/ 10 h 49"/>
                      <a:gd name="T4" fmla="*/ 0 w 93"/>
                      <a:gd name="T5" fmla="*/ 26 h 49"/>
                      <a:gd name="T6" fmla="*/ 14 w 93"/>
                      <a:gd name="T7" fmla="*/ 42 h 49"/>
                      <a:gd name="T8" fmla="*/ 46 w 93"/>
                      <a:gd name="T9" fmla="*/ 49 h 49"/>
                      <a:gd name="T10" fmla="*/ 80 w 93"/>
                      <a:gd name="T11" fmla="*/ 42 h 49"/>
                      <a:gd name="T12" fmla="*/ 93 w 93"/>
                      <a:gd name="T13" fmla="*/ 26 h 49"/>
                      <a:gd name="T14" fmla="*/ 80 w 93"/>
                      <a:gd name="T15" fmla="*/ 10 h 4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93" h="49">
                        <a:moveTo>
                          <a:pt x="80" y="10"/>
                        </a:moveTo>
                        <a:cubicBezTo>
                          <a:pt x="58" y="0"/>
                          <a:pt x="36" y="0"/>
                          <a:pt x="14" y="10"/>
                        </a:cubicBezTo>
                        <a:cubicBezTo>
                          <a:pt x="7" y="13"/>
                          <a:pt x="0" y="17"/>
                          <a:pt x="0" y="26"/>
                        </a:cubicBezTo>
                        <a:cubicBezTo>
                          <a:pt x="0" y="35"/>
                          <a:pt x="7" y="39"/>
                          <a:pt x="14" y="42"/>
                        </a:cubicBezTo>
                        <a:cubicBezTo>
                          <a:pt x="24" y="47"/>
                          <a:pt x="35" y="48"/>
                          <a:pt x="46" y="49"/>
                        </a:cubicBezTo>
                        <a:cubicBezTo>
                          <a:pt x="59" y="49"/>
                          <a:pt x="71" y="46"/>
                          <a:pt x="80" y="42"/>
                        </a:cubicBezTo>
                        <a:cubicBezTo>
                          <a:pt x="86" y="38"/>
                          <a:pt x="93" y="35"/>
                          <a:pt x="93" y="26"/>
                        </a:cubicBezTo>
                        <a:cubicBezTo>
                          <a:pt x="93" y="17"/>
                          <a:pt x="87" y="13"/>
                          <a:pt x="80" y="1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ko-KR" altLang="en-US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10" name="Freeform 26"/>
                  <p:cNvSpPr>
                    <a:spLocks/>
                  </p:cNvSpPr>
                  <p:nvPr/>
                </p:nvSpPr>
                <p:spPr bwMode="auto">
                  <a:xfrm>
                    <a:off x="6690" y="3183"/>
                    <a:ext cx="169" cy="83"/>
                  </a:xfrm>
                  <a:custGeom>
                    <a:avLst/>
                    <a:gdLst>
                      <a:gd name="T0" fmla="*/ 62 w 71"/>
                      <a:gd name="T1" fmla="*/ 6 h 35"/>
                      <a:gd name="T2" fmla="*/ 36 w 71"/>
                      <a:gd name="T3" fmla="*/ 0 h 35"/>
                      <a:gd name="T4" fmla="*/ 10 w 71"/>
                      <a:gd name="T5" fmla="*/ 7 h 35"/>
                      <a:gd name="T6" fmla="*/ 10 w 71"/>
                      <a:gd name="T7" fmla="*/ 26 h 35"/>
                      <a:gd name="T8" fmla="*/ 62 w 71"/>
                      <a:gd name="T9" fmla="*/ 26 h 35"/>
                      <a:gd name="T10" fmla="*/ 62 w 71"/>
                      <a:gd name="T11" fmla="*/ 6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1" h="35">
                        <a:moveTo>
                          <a:pt x="62" y="6"/>
                        </a:moveTo>
                        <a:cubicBezTo>
                          <a:pt x="54" y="2"/>
                          <a:pt x="45" y="0"/>
                          <a:pt x="36" y="0"/>
                        </a:cubicBezTo>
                        <a:cubicBezTo>
                          <a:pt x="25" y="0"/>
                          <a:pt x="16" y="3"/>
                          <a:pt x="10" y="7"/>
                        </a:cubicBezTo>
                        <a:cubicBezTo>
                          <a:pt x="1" y="13"/>
                          <a:pt x="0" y="21"/>
                          <a:pt x="10" y="26"/>
                        </a:cubicBezTo>
                        <a:cubicBezTo>
                          <a:pt x="27" y="35"/>
                          <a:pt x="45" y="35"/>
                          <a:pt x="62" y="26"/>
                        </a:cubicBezTo>
                        <a:cubicBezTo>
                          <a:pt x="71" y="21"/>
                          <a:pt x="71" y="12"/>
                          <a:pt x="62" y="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ko-KR" altLang="en-US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11" name="Freeform 27"/>
                  <p:cNvSpPr>
                    <a:spLocks/>
                  </p:cNvSpPr>
                  <p:nvPr/>
                </p:nvSpPr>
                <p:spPr bwMode="auto">
                  <a:xfrm>
                    <a:off x="6271" y="3179"/>
                    <a:ext cx="169" cy="85"/>
                  </a:xfrm>
                  <a:custGeom>
                    <a:avLst/>
                    <a:gdLst>
                      <a:gd name="T0" fmla="*/ 61 w 71"/>
                      <a:gd name="T1" fmla="*/ 8 h 36"/>
                      <a:gd name="T2" fmla="*/ 10 w 71"/>
                      <a:gd name="T3" fmla="*/ 8 h 36"/>
                      <a:gd name="T4" fmla="*/ 11 w 71"/>
                      <a:gd name="T5" fmla="*/ 29 h 36"/>
                      <a:gd name="T6" fmla="*/ 35 w 71"/>
                      <a:gd name="T7" fmla="*/ 36 h 36"/>
                      <a:gd name="T8" fmla="*/ 35 w 71"/>
                      <a:gd name="T9" fmla="*/ 35 h 36"/>
                      <a:gd name="T10" fmla="*/ 60 w 71"/>
                      <a:gd name="T11" fmla="*/ 29 h 36"/>
                      <a:gd name="T12" fmla="*/ 61 w 71"/>
                      <a:gd name="T13" fmla="*/ 8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71" h="36">
                        <a:moveTo>
                          <a:pt x="61" y="8"/>
                        </a:moveTo>
                        <a:cubicBezTo>
                          <a:pt x="44" y="0"/>
                          <a:pt x="27" y="0"/>
                          <a:pt x="10" y="8"/>
                        </a:cubicBezTo>
                        <a:cubicBezTo>
                          <a:pt x="0" y="14"/>
                          <a:pt x="0" y="24"/>
                          <a:pt x="11" y="29"/>
                        </a:cubicBezTo>
                        <a:cubicBezTo>
                          <a:pt x="18" y="32"/>
                          <a:pt x="27" y="34"/>
                          <a:pt x="35" y="36"/>
                        </a:cubicBezTo>
                        <a:cubicBezTo>
                          <a:pt x="35" y="36"/>
                          <a:pt x="35" y="35"/>
                          <a:pt x="35" y="35"/>
                        </a:cubicBezTo>
                        <a:cubicBezTo>
                          <a:pt x="45" y="35"/>
                          <a:pt x="54" y="33"/>
                          <a:pt x="60" y="29"/>
                        </a:cubicBezTo>
                        <a:cubicBezTo>
                          <a:pt x="71" y="23"/>
                          <a:pt x="71" y="14"/>
                          <a:pt x="61" y="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ko-KR" altLang="en-US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12" name="Freeform 28"/>
                  <p:cNvSpPr>
                    <a:spLocks/>
                  </p:cNvSpPr>
                  <p:nvPr/>
                </p:nvSpPr>
                <p:spPr bwMode="auto">
                  <a:xfrm>
                    <a:off x="6633" y="2853"/>
                    <a:ext cx="226" cy="38"/>
                  </a:xfrm>
                  <a:custGeom>
                    <a:avLst/>
                    <a:gdLst>
                      <a:gd name="T0" fmla="*/ 5 w 95"/>
                      <a:gd name="T1" fmla="*/ 16 h 16"/>
                      <a:gd name="T2" fmla="*/ 91 w 95"/>
                      <a:gd name="T3" fmla="*/ 16 h 16"/>
                      <a:gd name="T4" fmla="*/ 95 w 95"/>
                      <a:gd name="T5" fmla="*/ 12 h 16"/>
                      <a:gd name="T6" fmla="*/ 95 w 95"/>
                      <a:gd name="T7" fmla="*/ 3 h 16"/>
                      <a:gd name="T8" fmla="*/ 91 w 95"/>
                      <a:gd name="T9" fmla="*/ 0 h 16"/>
                      <a:gd name="T10" fmla="*/ 5 w 95"/>
                      <a:gd name="T11" fmla="*/ 0 h 16"/>
                      <a:gd name="T12" fmla="*/ 0 w 95"/>
                      <a:gd name="T13" fmla="*/ 3 h 16"/>
                      <a:gd name="T14" fmla="*/ 0 w 95"/>
                      <a:gd name="T15" fmla="*/ 12 h 16"/>
                      <a:gd name="T16" fmla="*/ 5 w 95"/>
                      <a:gd name="T17" fmla="*/ 16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95" h="16">
                        <a:moveTo>
                          <a:pt x="5" y="16"/>
                        </a:moveTo>
                        <a:cubicBezTo>
                          <a:pt x="91" y="16"/>
                          <a:pt x="91" y="16"/>
                          <a:pt x="91" y="16"/>
                        </a:cubicBezTo>
                        <a:cubicBezTo>
                          <a:pt x="93" y="16"/>
                          <a:pt x="95" y="14"/>
                          <a:pt x="95" y="12"/>
                        </a:cubicBezTo>
                        <a:cubicBezTo>
                          <a:pt x="95" y="3"/>
                          <a:pt x="95" y="3"/>
                          <a:pt x="95" y="3"/>
                        </a:cubicBezTo>
                        <a:cubicBezTo>
                          <a:pt x="95" y="1"/>
                          <a:pt x="93" y="0"/>
                          <a:pt x="91" y="0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2" y="0"/>
                          <a:pt x="0" y="1"/>
                          <a:pt x="0" y="3"/>
                        </a:cubicBezTo>
                        <a:cubicBezTo>
                          <a:pt x="0" y="12"/>
                          <a:pt x="0" y="12"/>
                          <a:pt x="0" y="12"/>
                        </a:cubicBezTo>
                        <a:cubicBezTo>
                          <a:pt x="0" y="14"/>
                          <a:pt x="2" y="16"/>
                          <a:pt x="5" y="1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ko-KR" altLang="en-US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13" name="Freeform 29"/>
                  <p:cNvSpPr>
                    <a:spLocks/>
                  </p:cNvSpPr>
                  <p:nvPr/>
                </p:nvSpPr>
                <p:spPr bwMode="auto">
                  <a:xfrm>
                    <a:off x="6633" y="2523"/>
                    <a:ext cx="226" cy="40"/>
                  </a:xfrm>
                  <a:custGeom>
                    <a:avLst/>
                    <a:gdLst>
                      <a:gd name="T0" fmla="*/ 5 w 95"/>
                      <a:gd name="T1" fmla="*/ 17 h 17"/>
                      <a:gd name="T2" fmla="*/ 91 w 95"/>
                      <a:gd name="T3" fmla="*/ 17 h 17"/>
                      <a:gd name="T4" fmla="*/ 95 w 95"/>
                      <a:gd name="T5" fmla="*/ 13 h 17"/>
                      <a:gd name="T6" fmla="*/ 95 w 95"/>
                      <a:gd name="T7" fmla="*/ 4 h 17"/>
                      <a:gd name="T8" fmla="*/ 91 w 95"/>
                      <a:gd name="T9" fmla="*/ 0 h 17"/>
                      <a:gd name="T10" fmla="*/ 5 w 95"/>
                      <a:gd name="T11" fmla="*/ 0 h 17"/>
                      <a:gd name="T12" fmla="*/ 0 w 95"/>
                      <a:gd name="T13" fmla="*/ 4 h 17"/>
                      <a:gd name="T14" fmla="*/ 0 w 95"/>
                      <a:gd name="T15" fmla="*/ 13 h 17"/>
                      <a:gd name="T16" fmla="*/ 5 w 95"/>
                      <a:gd name="T17" fmla="*/ 17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95" h="17">
                        <a:moveTo>
                          <a:pt x="5" y="17"/>
                        </a:moveTo>
                        <a:cubicBezTo>
                          <a:pt x="91" y="17"/>
                          <a:pt x="91" y="17"/>
                          <a:pt x="91" y="17"/>
                        </a:cubicBezTo>
                        <a:cubicBezTo>
                          <a:pt x="93" y="17"/>
                          <a:pt x="95" y="15"/>
                          <a:pt x="95" y="13"/>
                        </a:cubicBezTo>
                        <a:cubicBezTo>
                          <a:pt x="95" y="4"/>
                          <a:pt x="95" y="4"/>
                          <a:pt x="95" y="4"/>
                        </a:cubicBezTo>
                        <a:cubicBezTo>
                          <a:pt x="95" y="2"/>
                          <a:pt x="93" y="0"/>
                          <a:pt x="91" y="0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13"/>
                          <a:pt x="0" y="13"/>
                          <a:pt x="0" y="13"/>
                        </a:cubicBezTo>
                        <a:cubicBezTo>
                          <a:pt x="0" y="15"/>
                          <a:pt x="2" y="17"/>
                          <a:pt x="5" y="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ko-KR" altLang="en-US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14" name="Freeform 30"/>
                  <p:cNvSpPr>
                    <a:spLocks noEditPoints="1"/>
                  </p:cNvSpPr>
                  <p:nvPr/>
                </p:nvSpPr>
                <p:spPr bwMode="auto">
                  <a:xfrm>
                    <a:off x="6133" y="2347"/>
                    <a:ext cx="861" cy="1428"/>
                  </a:xfrm>
                  <a:custGeom>
                    <a:avLst/>
                    <a:gdLst>
                      <a:gd name="T0" fmla="*/ 0 w 362"/>
                      <a:gd name="T1" fmla="*/ 0 h 601"/>
                      <a:gd name="T2" fmla="*/ 0 w 362"/>
                      <a:gd name="T3" fmla="*/ 601 h 601"/>
                      <a:gd name="T4" fmla="*/ 362 w 362"/>
                      <a:gd name="T5" fmla="*/ 601 h 601"/>
                      <a:gd name="T6" fmla="*/ 362 w 362"/>
                      <a:gd name="T7" fmla="*/ 0 h 601"/>
                      <a:gd name="T8" fmla="*/ 0 w 362"/>
                      <a:gd name="T9" fmla="*/ 0 h 601"/>
                      <a:gd name="T10" fmla="*/ 103 w 362"/>
                      <a:gd name="T11" fmla="*/ 469 h 601"/>
                      <a:gd name="T12" fmla="*/ 66 w 362"/>
                      <a:gd name="T13" fmla="*/ 465 h 601"/>
                      <a:gd name="T14" fmla="*/ 54 w 362"/>
                      <a:gd name="T15" fmla="*/ 459 h 601"/>
                      <a:gd name="T16" fmla="*/ 47 w 362"/>
                      <a:gd name="T17" fmla="*/ 445 h 601"/>
                      <a:gd name="T18" fmla="*/ 47 w 362"/>
                      <a:gd name="T19" fmla="*/ 408 h 601"/>
                      <a:gd name="T20" fmla="*/ 47 w 362"/>
                      <a:gd name="T21" fmla="*/ 371 h 601"/>
                      <a:gd name="T22" fmla="*/ 56 w 362"/>
                      <a:gd name="T23" fmla="*/ 355 h 601"/>
                      <a:gd name="T24" fmla="*/ 88 w 362"/>
                      <a:gd name="T25" fmla="*/ 346 h 601"/>
                      <a:gd name="T26" fmla="*/ 127 w 362"/>
                      <a:gd name="T27" fmla="*/ 353 h 601"/>
                      <a:gd name="T28" fmla="*/ 140 w 362"/>
                      <a:gd name="T29" fmla="*/ 373 h 601"/>
                      <a:gd name="T30" fmla="*/ 136 w 362"/>
                      <a:gd name="T31" fmla="*/ 380 h 601"/>
                      <a:gd name="T32" fmla="*/ 118 w 362"/>
                      <a:gd name="T33" fmla="*/ 389 h 601"/>
                      <a:gd name="T34" fmla="*/ 109 w 362"/>
                      <a:gd name="T35" fmla="*/ 408 h 601"/>
                      <a:gd name="T36" fmla="*/ 109 w 362"/>
                      <a:gd name="T37" fmla="*/ 463 h 601"/>
                      <a:gd name="T38" fmla="*/ 103 w 362"/>
                      <a:gd name="T39" fmla="*/ 469 h 601"/>
                      <a:gd name="T40" fmla="*/ 235 w 362"/>
                      <a:gd name="T41" fmla="*/ 541 h 601"/>
                      <a:gd name="T42" fmla="*/ 201 w 362"/>
                      <a:gd name="T43" fmla="*/ 553 h 601"/>
                      <a:gd name="T44" fmla="*/ 141 w 362"/>
                      <a:gd name="T45" fmla="*/ 547 h 601"/>
                      <a:gd name="T46" fmla="*/ 128 w 362"/>
                      <a:gd name="T47" fmla="*/ 541 h 601"/>
                      <a:gd name="T48" fmla="*/ 116 w 362"/>
                      <a:gd name="T49" fmla="*/ 518 h 601"/>
                      <a:gd name="T50" fmla="*/ 116 w 362"/>
                      <a:gd name="T51" fmla="*/ 467 h 601"/>
                      <a:gd name="T52" fmla="*/ 116 w 362"/>
                      <a:gd name="T53" fmla="*/ 414 h 601"/>
                      <a:gd name="T54" fmla="*/ 126 w 362"/>
                      <a:gd name="T55" fmla="*/ 393 h 601"/>
                      <a:gd name="T56" fmla="*/ 160 w 362"/>
                      <a:gd name="T57" fmla="*/ 380 h 601"/>
                      <a:gd name="T58" fmla="*/ 223 w 362"/>
                      <a:gd name="T59" fmla="*/ 386 h 601"/>
                      <a:gd name="T60" fmla="*/ 235 w 362"/>
                      <a:gd name="T61" fmla="*/ 392 h 601"/>
                      <a:gd name="T62" fmla="*/ 248 w 362"/>
                      <a:gd name="T63" fmla="*/ 415 h 601"/>
                      <a:gd name="T64" fmla="*/ 248 w 362"/>
                      <a:gd name="T65" fmla="*/ 518 h 601"/>
                      <a:gd name="T66" fmla="*/ 235 w 362"/>
                      <a:gd name="T67" fmla="*/ 541 h 601"/>
                      <a:gd name="T68" fmla="*/ 316 w 362"/>
                      <a:gd name="T69" fmla="*/ 408 h 601"/>
                      <a:gd name="T70" fmla="*/ 316 w 362"/>
                      <a:gd name="T71" fmla="*/ 444 h 601"/>
                      <a:gd name="T72" fmla="*/ 307 w 362"/>
                      <a:gd name="T73" fmla="*/ 460 h 601"/>
                      <a:gd name="T74" fmla="*/ 267 w 362"/>
                      <a:gd name="T75" fmla="*/ 470 h 601"/>
                      <a:gd name="T76" fmla="*/ 255 w 362"/>
                      <a:gd name="T77" fmla="*/ 457 h 601"/>
                      <a:gd name="T78" fmla="*/ 255 w 362"/>
                      <a:gd name="T79" fmla="*/ 409 h 601"/>
                      <a:gd name="T80" fmla="*/ 244 w 362"/>
                      <a:gd name="T81" fmla="*/ 388 h 601"/>
                      <a:gd name="T82" fmla="*/ 227 w 362"/>
                      <a:gd name="T83" fmla="*/ 380 h 601"/>
                      <a:gd name="T84" fmla="*/ 223 w 362"/>
                      <a:gd name="T85" fmla="*/ 374 h 601"/>
                      <a:gd name="T86" fmla="*/ 236 w 362"/>
                      <a:gd name="T87" fmla="*/ 353 h 601"/>
                      <a:gd name="T88" fmla="*/ 304 w 362"/>
                      <a:gd name="T89" fmla="*/ 353 h 601"/>
                      <a:gd name="T90" fmla="*/ 316 w 362"/>
                      <a:gd name="T91" fmla="*/ 374 h 601"/>
                      <a:gd name="T92" fmla="*/ 316 w 362"/>
                      <a:gd name="T93" fmla="*/ 408 h 601"/>
                      <a:gd name="T94" fmla="*/ 328 w 362"/>
                      <a:gd name="T95" fmla="*/ 245 h 601"/>
                      <a:gd name="T96" fmla="*/ 34 w 362"/>
                      <a:gd name="T97" fmla="*/ 245 h 601"/>
                      <a:gd name="T98" fmla="*/ 34 w 362"/>
                      <a:gd name="T99" fmla="*/ 196 h 601"/>
                      <a:gd name="T100" fmla="*/ 328 w 362"/>
                      <a:gd name="T101" fmla="*/ 196 h 601"/>
                      <a:gd name="T102" fmla="*/ 328 w 362"/>
                      <a:gd name="T103" fmla="*/ 245 h 601"/>
                      <a:gd name="T104" fmla="*/ 328 w 362"/>
                      <a:gd name="T105" fmla="*/ 176 h 601"/>
                      <a:gd name="T106" fmla="*/ 34 w 362"/>
                      <a:gd name="T107" fmla="*/ 176 h 601"/>
                      <a:gd name="T108" fmla="*/ 34 w 362"/>
                      <a:gd name="T109" fmla="*/ 127 h 601"/>
                      <a:gd name="T110" fmla="*/ 328 w 362"/>
                      <a:gd name="T111" fmla="*/ 127 h 601"/>
                      <a:gd name="T112" fmla="*/ 328 w 362"/>
                      <a:gd name="T113" fmla="*/ 176 h 601"/>
                      <a:gd name="T114" fmla="*/ 328 w 362"/>
                      <a:gd name="T115" fmla="*/ 107 h 601"/>
                      <a:gd name="T116" fmla="*/ 34 w 362"/>
                      <a:gd name="T117" fmla="*/ 107 h 601"/>
                      <a:gd name="T118" fmla="*/ 34 w 362"/>
                      <a:gd name="T119" fmla="*/ 58 h 601"/>
                      <a:gd name="T120" fmla="*/ 328 w 362"/>
                      <a:gd name="T121" fmla="*/ 58 h 601"/>
                      <a:gd name="T122" fmla="*/ 328 w 362"/>
                      <a:gd name="T123" fmla="*/ 107 h 60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</a:cxnLst>
                    <a:rect l="0" t="0" r="r" b="b"/>
                    <a:pathLst>
                      <a:path w="362" h="601">
                        <a:moveTo>
                          <a:pt x="0" y="0"/>
                        </a:moveTo>
                        <a:cubicBezTo>
                          <a:pt x="0" y="601"/>
                          <a:pt x="0" y="601"/>
                          <a:pt x="0" y="601"/>
                        </a:cubicBezTo>
                        <a:cubicBezTo>
                          <a:pt x="362" y="601"/>
                          <a:pt x="362" y="601"/>
                          <a:pt x="362" y="601"/>
                        </a:cubicBezTo>
                        <a:cubicBezTo>
                          <a:pt x="362" y="0"/>
                          <a:pt x="362" y="0"/>
                          <a:pt x="362" y="0"/>
                        </a:cubicBezTo>
                        <a:lnTo>
                          <a:pt x="0" y="0"/>
                        </a:lnTo>
                        <a:close/>
                        <a:moveTo>
                          <a:pt x="103" y="469"/>
                        </a:moveTo>
                        <a:cubicBezTo>
                          <a:pt x="90" y="470"/>
                          <a:pt x="78" y="470"/>
                          <a:pt x="66" y="465"/>
                        </a:cubicBezTo>
                        <a:cubicBezTo>
                          <a:pt x="62" y="463"/>
                          <a:pt x="58" y="461"/>
                          <a:pt x="54" y="459"/>
                        </a:cubicBezTo>
                        <a:cubicBezTo>
                          <a:pt x="49" y="455"/>
                          <a:pt x="47" y="451"/>
                          <a:pt x="47" y="445"/>
                        </a:cubicBezTo>
                        <a:cubicBezTo>
                          <a:pt x="47" y="432"/>
                          <a:pt x="47" y="420"/>
                          <a:pt x="47" y="408"/>
                        </a:cubicBezTo>
                        <a:cubicBezTo>
                          <a:pt x="47" y="396"/>
                          <a:pt x="47" y="384"/>
                          <a:pt x="47" y="371"/>
                        </a:cubicBezTo>
                        <a:cubicBezTo>
                          <a:pt x="47" y="364"/>
                          <a:pt x="50" y="359"/>
                          <a:pt x="56" y="355"/>
                        </a:cubicBezTo>
                        <a:cubicBezTo>
                          <a:pt x="66" y="349"/>
                          <a:pt x="77" y="347"/>
                          <a:pt x="88" y="346"/>
                        </a:cubicBezTo>
                        <a:cubicBezTo>
                          <a:pt x="101" y="345"/>
                          <a:pt x="114" y="347"/>
                          <a:pt x="127" y="353"/>
                        </a:cubicBezTo>
                        <a:cubicBezTo>
                          <a:pt x="136" y="357"/>
                          <a:pt x="141" y="363"/>
                          <a:pt x="140" y="373"/>
                        </a:cubicBezTo>
                        <a:cubicBezTo>
                          <a:pt x="140" y="377"/>
                          <a:pt x="139" y="378"/>
                          <a:pt x="136" y="380"/>
                        </a:cubicBezTo>
                        <a:cubicBezTo>
                          <a:pt x="130" y="382"/>
                          <a:pt x="124" y="386"/>
                          <a:pt x="118" y="389"/>
                        </a:cubicBezTo>
                        <a:cubicBezTo>
                          <a:pt x="112" y="394"/>
                          <a:pt x="109" y="400"/>
                          <a:pt x="109" y="408"/>
                        </a:cubicBezTo>
                        <a:cubicBezTo>
                          <a:pt x="109" y="427"/>
                          <a:pt x="109" y="445"/>
                          <a:pt x="109" y="463"/>
                        </a:cubicBezTo>
                        <a:cubicBezTo>
                          <a:pt x="109" y="468"/>
                          <a:pt x="107" y="469"/>
                          <a:pt x="103" y="469"/>
                        </a:cubicBezTo>
                        <a:close/>
                        <a:moveTo>
                          <a:pt x="235" y="541"/>
                        </a:moveTo>
                        <a:cubicBezTo>
                          <a:pt x="225" y="548"/>
                          <a:pt x="213" y="551"/>
                          <a:pt x="201" y="553"/>
                        </a:cubicBezTo>
                        <a:cubicBezTo>
                          <a:pt x="181" y="556"/>
                          <a:pt x="160" y="555"/>
                          <a:pt x="141" y="547"/>
                        </a:cubicBezTo>
                        <a:cubicBezTo>
                          <a:pt x="136" y="546"/>
                          <a:pt x="132" y="543"/>
                          <a:pt x="128" y="541"/>
                        </a:cubicBezTo>
                        <a:cubicBezTo>
                          <a:pt x="119" y="535"/>
                          <a:pt x="115" y="528"/>
                          <a:pt x="116" y="518"/>
                        </a:cubicBezTo>
                        <a:cubicBezTo>
                          <a:pt x="116" y="501"/>
                          <a:pt x="116" y="484"/>
                          <a:pt x="116" y="467"/>
                        </a:cubicBezTo>
                        <a:cubicBezTo>
                          <a:pt x="116" y="449"/>
                          <a:pt x="116" y="432"/>
                          <a:pt x="116" y="414"/>
                        </a:cubicBezTo>
                        <a:cubicBezTo>
                          <a:pt x="115" y="405"/>
                          <a:pt x="119" y="398"/>
                          <a:pt x="126" y="393"/>
                        </a:cubicBezTo>
                        <a:cubicBezTo>
                          <a:pt x="136" y="386"/>
                          <a:pt x="148" y="382"/>
                          <a:pt x="160" y="380"/>
                        </a:cubicBezTo>
                        <a:cubicBezTo>
                          <a:pt x="181" y="377"/>
                          <a:pt x="203" y="378"/>
                          <a:pt x="223" y="386"/>
                        </a:cubicBezTo>
                        <a:cubicBezTo>
                          <a:pt x="227" y="387"/>
                          <a:pt x="231" y="389"/>
                          <a:pt x="235" y="392"/>
                        </a:cubicBezTo>
                        <a:cubicBezTo>
                          <a:pt x="244" y="397"/>
                          <a:pt x="248" y="405"/>
                          <a:pt x="248" y="415"/>
                        </a:cubicBezTo>
                        <a:cubicBezTo>
                          <a:pt x="247" y="449"/>
                          <a:pt x="247" y="484"/>
                          <a:pt x="248" y="518"/>
                        </a:cubicBezTo>
                        <a:cubicBezTo>
                          <a:pt x="248" y="528"/>
                          <a:pt x="243" y="536"/>
                          <a:pt x="235" y="541"/>
                        </a:cubicBezTo>
                        <a:close/>
                        <a:moveTo>
                          <a:pt x="316" y="408"/>
                        </a:moveTo>
                        <a:cubicBezTo>
                          <a:pt x="316" y="420"/>
                          <a:pt x="316" y="432"/>
                          <a:pt x="316" y="444"/>
                        </a:cubicBezTo>
                        <a:cubicBezTo>
                          <a:pt x="317" y="452"/>
                          <a:pt x="313" y="457"/>
                          <a:pt x="307" y="460"/>
                        </a:cubicBezTo>
                        <a:cubicBezTo>
                          <a:pt x="295" y="468"/>
                          <a:pt x="281" y="470"/>
                          <a:pt x="267" y="470"/>
                        </a:cubicBezTo>
                        <a:cubicBezTo>
                          <a:pt x="255" y="469"/>
                          <a:pt x="255" y="469"/>
                          <a:pt x="255" y="457"/>
                        </a:cubicBezTo>
                        <a:cubicBezTo>
                          <a:pt x="255" y="441"/>
                          <a:pt x="254" y="425"/>
                          <a:pt x="255" y="409"/>
                        </a:cubicBezTo>
                        <a:cubicBezTo>
                          <a:pt x="255" y="400"/>
                          <a:pt x="251" y="393"/>
                          <a:pt x="244" y="388"/>
                        </a:cubicBezTo>
                        <a:cubicBezTo>
                          <a:pt x="239" y="385"/>
                          <a:pt x="233" y="382"/>
                          <a:pt x="227" y="380"/>
                        </a:cubicBezTo>
                        <a:cubicBezTo>
                          <a:pt x="225" y="378"/>
                          <a:pt x="223" y="377"/>
                          <a:pt x="223" y="374"/>
                        </a:cubicBezTo>
                        <a:cubicBezTo>
                          <a:pt x="222" y="364"/>
                          <a:pt x="227" y="357"/>
                          <a:pt x="236" y="353"/>
                        </a:cubicBezTo>
                        <a:cubicBezTo>
                          <a:pt x="258" y="343"/>
                          <a:pt x="281" y="343"/>
                          <a:pt x="304" y="353"/>
                        </a:cubicBezTo>
                        <a:cubicBezTo>
                          <a:pt x="312" y="357"/>
                          <a:pt x="317" y="363"/>
                          <a:pt x="316" y="374"/>
                        </a:cubicBezTo>
                        <a:cubicBezTo>
                          <a:pt x="316" y="385"/>
                          <a:pt x="316" y="396"/>
                          <a:pt x="316" y="408"/>
                        </a:cubicBezTo>
                        <a:close/>
                        <a:moveTo>
                          <a:pt x="328" y="245"/>
                        </a:moveTo>
                        <a:cubicBezTo>
                          <a:pt x="34" y="245"/>
                          <a:pt x="34" y="245"/>
                          <a:pt x="34" y="245"/>
                        </a:cubicBezTo>
                        <a:cubicBezTo>
                          <a:pt x="34" y="196"/>
                          <a:pt x="34" y="196"/>
                          <a:pt x="34" y="196"/>
                        </a:cubicBezTo>
                        <a:cubicBezTo>
                          <a:pt x="328" y="196"/>
                          <a:pt x="328" y="196"/>
                          <a:pt x="328" y="196"/>
                        </a:cubicBezTo>
                        <a:lnTo>
                          <a:pt x="328" y="245"/>
                        </a:lnTo>
                        <a:close/>
                        <a:moveTo>
                          <a:pt x="328" y="176"/>
                        </a:moveTo>
                        <a:cubicBezTo>
                          <a:pt x="34" y="176"/>
                          <a:pt x="34" y="176"/>
                          <a:pt x="34" y="176"/>
                        </a:cubicBezTo>
                        <a:cubicBezTo>
                          <a:pt x="34" y="127"/>
                          <a:pt x="34" y="127"/>
                          <a:pt x="34" y="127"/>
                        </a:cubicBezTo>
                        <a:cubicBezTo>
                          <a:pt x="328" y="127"/>
                          <a:pt x="328" y="127"/>
                          <a:pt x="328" y="127"/>
                        </a:cubicBezTo>
                        <a:lnTo>
                          <a:pt x="328" y="176"/>
                        </a:lnTo>
                        <a:close/>
                        <a:moveTo>
                          <a:pt x="328" y="107"/>
                        </a:moveTo>
                        <a:cubicBezTo>
                          <a:pt x="34" y="107"/>
                          <a:pt x="34" y="107"/>
                          <a:pt x="34" y="107"/>
                        </a:cubicBezTo>
                        <a:cubicBezTo>
                          <a:pt x="34" y="58"/>
                          <a:pt x="34" y="58"/>
                          <a:pt x="34" y="58"/>
                        </a:cubicBezTo>
                        <a:cubicBezTo>
                          <a:pt x="328" y="58"/>
                          <a:pt x="328" y="58"/>
                          <a:pt x="328" y="58"/>
                        </a:cubicBezTo>
                        <a:lnTo>
                          <a:pt x="328" y="107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ko-KR" altLang="en-US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15" name="Freeform 31"/>
                  <p:cNvSpPr>
                    <a:spLocks/>
                  </p:cNvSpPr>
                  <p:nvPr/>
                </p:nvSpPr>
                <p:spPr bwMode="auto">
                  <a:xfrm>
                    <a:off x="6633" y="2687"/>
                    <a:ext cx="226" cy="40"/>
                  </a:xfrm>
                  <a:custGeom>
                    <a:avLst/>
                    <a:gdLst>
                      <a:gd name="T0" fmla="*/ 5 w 95"/>
                      <a:gd name="T1" fmla="*/ 17 h 17"/>
                      <a:gd name="T2" fmla="*/ 91 w 95"/>
                      <a:gd name="T3" fmla="*/ 17 h 17"/>
                      <a:gd name="T4" fmla="*/ 95 w 95"/>
                      <a:gd name="T5" fmla="*/ 13 h 17"/>
                      <a:gd name="T6" fmla="*/ 95 w 95"/>
                      <a:gd name="T7" fmla="*/ 4 h 17"/>
                      <a:gd name="T8" fmla="*/ 91 w 95"/>
                      <a:gd name="T9" fmla="*/ 0 h 17"/>
                      <a:gd name="T10" fmla="*/ 5 w 95"/>
                      <a:gd name="T11" fmla="*/ 0 h 17"/>
                      <a:gd name="T12" fmla="*/ 0 w 95"/>
                      <a:gd name="T13" fmla="*/ 4 h 17"/>
                      <a:gd name="T14" fmla="*/ 0 w 95"/>
                      <a:gd name="T15" fmla="*/ 13 h 17"/>
                      <a:gd name="T16" fmla="*/ 5 w 95"/>
                      <a:gd name="T17" fmla="*/ 17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95" h="17">
                        <a:moveTo>
                          <a:pt x="5" y="17"/>
                        </a:moveTo>
                        <a:cubicBezTo>
                          <a:pt x="91" y="17"/>
                          <a:pt x="91" y="17"/>
                          <a:pt x="91" y="17"/>
                        </a:cubicBezTo>
                        <a:cubicBezTo>
                          <a:pt x="93" y="17"/>
                          <a:pt x="95" y="15"/>
                          <a:pt x="95" y="13"/>
                        </a:cubicBezTo>
                        <a:cubicBezTo>
                          <a:pt x="95" y="4"/>
                          <a:pt x="95" y="4"/>
                          <a:pt x="95" y="4"/>
                        </a:cubicBezTo>
                        <a:cubicBezTo>
                          <a:pt x="95" y="2"/>
                          <a:pt x="93" y="0"/>
                          <a:pt x="91" y="0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13"/>
                          <a:pt x="0" y="13"/>
                          <a:pt x="0" y="13"/>
                        </a:cubicBezTo>
                        <a:cubicBezTo>
                          <a:pt x="0" y="15"/>
                          <a:pt x="2" y="17"/>
                          <a:pt x="5" y="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ko-KR" altLang="en-US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16" name="Freeform 32"/>
                  <p:cNvSpPr>
                    <a:spLocks/>
                  </p:cNvSpPr>
                  <p:nvPr/>
                </p:nvSpPr>
                <p:spPr bwMode="auto">
                  <a:xfrm>
                    <a:off x="6633" y="2853"/>
                    <a:ext cx="226" cy="38"/>
                  </a:xfrm>
                  <a:custGeom>
                    <a:avLst/>
                    <a:gdLst>
                      <a:gd name="T0" fmla="*/ 5 w 95"/>
                      <a:gd name="T1" fmla="*/ 16 h 16"/>
                      <a:gd name="T2" fmla="*/ 91 w 95"/>
                      <a:gd name="T3" fmla="*/ 16 h 16"/>
                      <a:gd name="T4" fmla="*/ 95 w 95"/>
                      <a:gd name="T5" fmla="*/ 12 h 16"/>
                      <a:gd name="T6" fmla="*/ 95 w 95"/>
                      <a:gd name="T7" fmla="*/ 3 h 16"/>
                      <a:gd name="T8" fmla="*/ 91 w 95"/>
                      <a:gd name="T9" fmla="*/ 0 h 16"/>
                      <a:gd name="T10" fmla="*/ 5 w 95"/>
                      <a:gd name="T11" fmla="*/ 0 h 16"/>
                      <a:gd name="T12" fmla="*/ 0 w 95"/>
                      <a:gd name="T13" fmla="*/ 3 h 16"/>
                      <a:gd name="T14" fmla="*/ 0 w 95"/>
                      <a:gd name="T15" fmla="*/ 12 h 16"/>
                      <a:gd name="T16" fmla="*/ 5 w 95"/>
                      <a:gd name="T17" fmla="*/ 16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95" h="16">
                        <a:moveTo>
                          <a:pt x="5" y="16"/>
                        </a:moveTo>
                        <a:cubicBezTo>
                          <a:pt x="91" y="16"/>
                          <a:pt x="91" y="16"/>
                          <a:pt x="91" y="16"/>
                        </a:cubicBezTo>
                        <a:cubicBezTo>
                          <a:pt x="93" y="16"/>
                          <a:pt x="95" y="14"/>
                          <a:pt x="95" y="12"/>
                        </a:cubicBezTo>
                        <a:cubicBezTo>
                          <a:pt x="95" y="3"/>
                          <a:pt x="95" y="3"/>
                          <a:pt x="95" y="3"/>
                        </a:cubicBezTo>
                        <a:cubicBezTo>
                          <a:pt x="95" y="1"/>
                          <a:pt x="93" y="0"/>
                          <a:pt x="91" y="0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2" y="0"/>
                          <a:pt x="0" y="1"/>
                          <a:pt x="0" y="3"/>
                        </a:cubicBezTo>
                        <a:cubicBezTo>
                          <a:pt x="0" y="12"/>
                          <a:pt x="0" y="12"/>
                          <a:pt x="0" y="12"/>
                        </a:cubicBezTo>
                        <a:cubicBezTo>
                          <a:pt x="0" y="14"/>
                          <a:pt x="2" y="16"/>
                          <a:pt x="5" y="1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ko-KR" altLang="en-US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104" name="TextBox 103"/>
                <p:cNvSpPr txBox="1"/>
                <p:nvPr/>
              </p:nvSpPr>
              <p:spPr bwMode="auto">
                <a:xfrm>
                  <a:off x="3797195" y="1221030"/>
                  <a:ext cx="227350" cy="215444"/>
                </a:xfrm>
                <a:prstGeom prst="rect">
                  <a:avLst/>
                </a:prstGeom>
                <a:noFill/>
              </p:spPr>
              <p:txBody>
                <a:bodyPr lIns="0" tIns="0" rIns="0" bIns="0">
                  <a:spAutoFit/>
                </a:bodyPr>
                <a:lstStyle>
                  <a:defPPr>
                    <a:defRPr lang="en-US"/>
                  </a:defPPr>
                  <a:lvl1pPr algn="ctr">
                    <a:defRPr sz="7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+mn-ea"/>
                      <a:ea typeface="+mn-ea"/>
                    </a:defRPr>
                  </a:lvl1pPr>
                </a:lstStyle>
                <a:p>
                  <a:r>
                    <a:rPr lang="ko-KR" altLang="en-US" dirty="0" err="1"/>
                    <a:t>스토</a:t>
                  </a:r>
                  <a:r>
                    <a:rPr lang="en-US" altLang="ko-KR" dirty="0"/>
                    <a:t/>
                  </a:r>
                  <a:br>
                    <a:rPr lang="en-US" altLang="ko-KR" dirty="0"/>
                  </a:br>
                  <a:r>
                    <a:rPr lang="ko-KR" altLang="en-US" dirty="0"/>
                    <a:t>리지</a:t>
                  </a:r>
                </a:p>
              </p:txBody>
            </p:sp>
          </p:grpSp>
          <p:grpSp>
            <p:nvGrpSpPr>
              <p:cNvPr id="48" name="그룹 47"/>
              <p:cNvGrpSpPr/>
              <p:nvPr/>
            </p:nvGrpSpPr>
            <p:grpSpPr>
              <a:xfrm>
                <a:off x="5564381" y="1163908"/>
                <a:ext cx="187893" cy="169606"/>
                <a:chOff x="4779088" y="1163908"/>
                <a:chExt cx="187893" cy="169606"/>
              </a:xfrm>
            </p:grpSpPr>
            <p:sp>
              <p:nvSpPr>
                <p:cNvPr id="101" name="Line 69"/>
                <p:cNvSpPr>
                  <a:spLocks noChangeShapeType="1"/>
                </p:cNvSpPr>
                <p:nvPr/>
              </p:nvSpPr>
              <p:spPr bwMode="auto">
                <a:xfrm>
                  <a:off x="4800343" y="1163908"/>
                  <a:ext cx="145382" cy="0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02" name="TextBox 101"/>
                <p:cNvSpPr txBox="1"/>
                <p:nvPr/>
              </p:nvSpPr>
              <p:spPr bwMode="auto">
                <a:xfrm>
                  <a:off x="4779088" y="1225792"/>
                  <a:ext cx="187893" cy="107722"/>
                </a:xfrm>
                <a:prstGeom prst="rect">
                  <a:avLst/>
                </a:prstGeom>
                <a:noFill/>
              </p:spPr>
              <p:txBody>
                <a:bodyPr lIns="0" tIns="0" rIns="0" bIns="0">
                  <a:spAutoFit/>
                </a:bodyPr>
                <a:lstStyle>
                  <a:defPPr>
                    <a:defRPr lang="en-US"/>
                  </a:defPPr>
                  <a:lvl1pPr algn="ctr">
                    <a:defRPr sz="7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+mn-ea"/>
                      <a:ea typeface="+mn-ea"/>
                    </a:defRPr>
                  </a:lvl1pPr>
                </a:lstStyle>
                <a:p>
                  <a:r>
                    <a:rPr lang="en-US" altLang="ko-KR" dirty="0"/>
                    <a:t>SAN</a:t>
                  </a:r>
                  <a:endParaRPr lang="ko-KR" altLang="en-US" dirty="0"/>
                </a:p>
              </p:txBody>
            </p:sp>
          </p:grpSp>
          <p:grpSp>
            <p:nvGrpSpPr>
              <p:cNvPr id="49" name="그룹 48"/>
              <p:cNvGrpSpPr/>
              <p:nvPr/>
            </p:nvGrpSpPr>
            <p:grpSpPr>
              <a:xfrm>
                <a:off x="5779289" y="1163167"/>
                <a:ext cx="187893" cy="170347"/>
                <a:chOff x="5014822" y="1163167"/>
                <a:chExt cx="187893" cy="170347"/>
              </a:xfrm>
            </p:grpSpPr>
            <p:sp>
              <p:nvSpPr>
                <p:cNvPr id="99" name="Line 69"/>
                <p:cNvSpPr>
                  <a:spLocks noChangeShapeType="1"/>
                </p:cNvSpPr>
                <p:nvPr/>
              </p:nvSpPr>
              <p:spPr bwMode="auto">
                <a:xfrm>
                  <a:off x="5039249" y="1163167"/>
                  <a:ext cx="139038" cy="0"/>
                </a:xfrm>
                <a:prstGeom prst="line">
                  <a:avLst/>
                </a:prstGeom>
                <a:noFill/>
                <a:ln w="15875">
                  <a:solidFill>
                    <a:schemeClr val="accent6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00" name="TextBox 99"/>
                <p:cNvSpPr txBox="1"/>
                <p:nvPr/>
              </p:nvSpPr>
              <p:spPr bwMode="auto">
                <a:xfrm>
                  <a:off x="5014822" y="1225792"/>
                  <a:ext cx="187893" cy="107722"/>
                </a:xfrm>
                <a:prstGeom prst="rect">
                  <a:avLst/>
                </a:prstGeom>
                <a:noFill/>
              </p:spPr>
              <p:txBody>
                <a:bodyPr lIns="0" tIns="0" rIns="0" bIns="0">
                  <a:spAutoFit/>
                </a:bodyPr>
                <a:lstStyle>
                  <a:defPPr>
                    <a:defRPr lang="en-US"/>
                  </a:defPPr>
                  <a:lvl1pPr algn="ctr">
                    <a:defRPr sz="7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+mn-ea"/>
                      <a:ea typeface="+mn-ea"/>
                    </a:defRPr>
                  </a:lvl1pPr>
                </a:lstStyle>
                <a:p>
                  <a:r>
                    <a:rPr lang="en-US" altLang="ko-KR" dirty="0"/>
                    <a:t>NAS</a:t>
                  </a:r>
                  <a:endParaRPr lang="ko-KR" altLang="en-US" dirty="0"/>
                </a:p>
              </p:txBody>
            </p:sp>
          </p:grpSp>
          <p:grpSp>
            <p:nvGrpSpPr>
              <p:cNvPr id="50" name="그룹 49"/>
              <p:cNvGrpSpPr/>
              <p:nvPr/>
            </p:nvGrpSpPr>
            <p:grpSpPr>
              <a:xfrm>
                <a:off x="5994197" y="1167545"/>
                <a:ext cx="206682" cy="165969"/>
                <a:chOff x="5263215" y="1167545"/>
                <a:chExt cx="206682" cy="165969"/>
              </a:xfrm>
            </p:grpSpPr>
            <p:sp>
              <p:nvSpPr>
                <p:cNvPr id="97" name="Line 69"/>
                <p:cNvSpPr>
                  <a:spLocks noChangeShapeType="1"/>
                </p:cNvSpPr>
                <p:nvPr/>
              </p:nvSpPr>
              <p:spPr bwMode="auto">
                <a:xfrm>
                  <a:off x="5292561" y="1167545"/>
                  <a:ext cx="147990" cy="0"/>
                </a:xfrm>
                <a:prstGeom prst="line">
                  <a:avLst/>
                </a:prstGeom>
                <a:noFill/>
                <a:ln w="15875">
                  <a:solidFill>
                    <a:srgbClr val="575757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98" name="TextBox 97"/>
                <p:cNvSpPr txBox="1"/>
                <p:nvPr/>
              </p:nvSpPr>
              <p:spPr bwMode="auto">
                <a:xfrm>
                  <a:off x="5263215" y="1225792"/>
                  <a:ext cx="206682" cy="107722"/>
                </a:xfrm>
                <a:prstGeom prst="rect">
                  <a:avLst/>
                </a:prstGeom>
                <a:noFill/>
              </p:spPr>
              <p:txBody>
                <a:bodyPr lIns="0" tIns="0" rIns="0" bIns="0">
                  <a:spAutoFit/>
                </a:bodyPr>
                <a:lstStyle>
                  <a:defPPr>
                    <a:defRPr lang="en-US"/>
                  </a:defPPr>
                  <a:lvl1pPr algn="ctr">
                    <a:defRPr sz="7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+mn-ea"/>
                      <a:ea typeface="+mn-ea"/>
                    </a:defRPr>
                  </a:lvl1pPr>
                </a:lstStyle>
                <a:p>
                  <a:r>
                    <a:rPr lang="ko-KR" altLang="en-US"/>
                    <a:t>백업</a:t>
                  </a:r>
                  <a:endParaRPr lang="ko-KR" altLang="en-US" dirty="0"/>
                </a:p>
              </p:txBody>
            </p:sp>
          </p:grpSp>
          <p:grpSp>
            <p:nvGrpSpPr>
              <p:cNvPr id="51" name="그룹 50"/>
              <p:cNvGrpSpPr/>
              <p:nvPr/>
            </p:nvGrpSpPr>
            <p:grpSpPr>
              <a:xfrm>
                <a:off x="4046057" y="940667"/>
                <a:ext cx="227109" cy="498740"/>
                <a:chOff x="3585897" y="940667"/>
                <a:chExt cx="227109" cy="498740"/>
              </a:xfrm>
            </p:grpSpPr>
            <p:sp>
              <p:nvSpPr>
                <p:cNvPr id="95" name="TextBox 94"/>
                <p:cNvSpPr txBox="1"/>
                <p:nvPr/>
              </p:nvSpPr>
              <p:spPr bwMode="auto">
                <a:xfrm>
                  <a:off x="3585897" y="1223963"/>
                  <a:ext cx="227109" cy="215444"/>
                </a:xfrm>
                <a:prstGeom prst="rect">
                  <a:avLst/>
                </a:prstGeom>
                <a:noFill/>
              </p:spPr>
              <p:txBody>
                <a:bodyPr lIns="0" tIns="0" rIns="0" bIns="0">
                  <a:spAutoFit/>
                </a:bodyPr>
                <a:lstStyle>
                  <a:defPPr>
                    <a:defRPr lang="en-US"/>
                  </a:defPPr>
                  <a:lvl1pPr algn="ctr">
                    <a:defRPr sz="7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+mn-ea"/>
                      <a:ea typeface="+mn-ea"/>
                    </a:defRPr>
                  </a:lvl1pPr>
                </a:lstStyle>
                <a:p>
                  <a:r>
                    <a:rPr lang="ko-KR" altLang="en-US" dirty="0"/>
                    <a:t>신규</a:t>
                  </a:r>
                  <a:endParaRPr lang="en-US" altLang="ko-KR" dirty="0"/>
                </a:p>
                <a:p>
                  <a:r>
                    <a:rPr lang="ko-KR" altLang="en-US" dirty="0"/>
                    <a:t>서버</a:t>
                  </a:r>
                </a:p>
              </p:txBody>
            </p:sp>
            <p:sp>
              <p:nvSpPr>
                <p:cNvPr id="96" name="Freeform 123"/>
                <p:cNvSpPr>
                  <a:spLocks noChangeAspect="1" noEditPoints="1"/>
                </p:cNvSpPr>
                <p:nvPr/>
              </p:nvSpPr>
              <p:spPr bwMode="auto">
                <a:xfrm>
                  <a:off x="3619651" y="940667"/>
                  <a:ext cx="155172" cy="232758"/>
                </a:xfrm>
                <a:custGeom>
                  <a:avLst/>
                  <a:gdLst>
                    <a:gd name="T0" fmla="*/ 321 w 340"/>
                    <a:gd name="T1" fmla="*/ 0 h 608"/>
                    <a:gd name="T2" fmla="*/ 19 w 340"/>
                    <a:gd name="T3" fmla="*/ 0 h 608"/>
                    <a:gd name="T4" fmla="*/ 0 w 340"/>
                    <a:gd name="T5" fmla="*/ 19 h 608"/>
                    <a:gd name="T6" fmla="*/ 0 w 340"/>
                    <a:gd name="T7" fmla="*/ 588 h 608"/>
                    <a:gd name="T8" fmla="*/ 19 w 340"/>
                    <a:gd name="T9" fmla="*/ 608 h 608"/>
                    <a:gd name="T10" fmla="*/ 321 w 340"/>
                    <a:gd name="T11" fmla="*/ 608 h 608"/>
                    <a:gd name="T12" fmla="*/ 340 w 340"/>
                    <a:gd name="T13" fmla="*/ 588 h 608"/>
                    <a:gd name="T14" fmla="*/ 340 w 340"/>
                    <a:gd name="T15" fmla="*/ 19 h 608"/>
                    <a:gd name="T16" fmla="*/ 321 w 340"/>
                    <a:gd name="T17" fmla="*/ 0 h 608"/>
                    <a:gd name="T18" fmla="*/ 43 w 340"/>
                    <a:gd name="T19" fmla="*/ 269 h 608"/>
                    <a:gd name="T20" fmla="*/ 43 w 340"/>
                    <a:gd name="T21" fmla="*/ 221 h 608"/>
                    <a:gd name="T22" fmla="*/ 297 w 340"/>
                    <a:gd name="T23" fmla="*/ 221 h 608"/>
                    <a:gd name="T24" fmla="*/ 297 w 340"/>
                    <a:gd name="T25" fmla="*/ 269 h 608"/>
                    <a:gd name="T26" fmla="*/ 43 w 340"/>
                    <a:gd name="T27" fmla="*/ 269 h 608"/>
                    <a:gd name="T28" fmla="*/ 212 w 340"/>
                    <a:gd name="T29" fmla="*/ 370 h 608"/>
                    <a:gd name="T30" fmla="*/ 170 w 340"/>
                    <a:gd name="T31" fmla="*/ 412 h 608"/>
                    <a:gd name="T32" fmla="*/ 128 w 340"/>
                    <a:gd name="T33" fmla="*/ 370 h 608"/>
                    <a:gd name="T34" fmla="*/ 170 w 340"/>
                    <a:gd name="T35" fmla="*/ 328 h 608"/>
                    <a:gd name="T36" fmla="*/ 212 w 340"/>
                    <a:gd name="T37" fmla="*/ 370 h 608"/>
                    <a:gd name="T38" fmla="*/ 43 w 340"/>
                    <a:gd name="T39" fmla="*/ 188 h 608"/>
                    <a:gd name="T40" fmla="*/ 43 w 340"/>
                    <a:gd name="T41" fmla="*/ 141 h 608"/>
                    <a:gd name="T42" fmla="*/ 297 w 340"/>
                    <a:gd name="T43" fmla="*/ 141 h 608"/>
                    <a:gd name="T44" fmla="*/ 297 w 340"/>
                    <a:gd name="T45" fmla="*/ 188 h 608"/>
                    <a:gd name="T46" fmla="*/ 43 w 340"/>
                    <a:gd name="T47" fmla="*/ 188 h 608"/>
                    <a:gd name="T48" fmla="*/ 43 w 340"/>
                    <a:gd name="T49" fmla="*/ 108 h 608"/>
                    <a:gd name="T50" fmla="*/ 43 w 340"/>
                    <a:gd name="T51" fmla="*/ 60 h 608"/>
                    <a:gd name="T52" fmla="*/ 297 w 340"/>
                    <a:gd name="T53" fmla="*/ 60 h 608"/>
                    <a:gd name="T54" fmla="*/ 297 w 340"/>
                    <a:gd name="T55" fmla="*/ 108 h 608"/>
                    <a:gd name="T56" fmla="*/ 43 w 340"/>
                    <a:gd name="T57" fmla="*/ 108 h 6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40" h="608">
                      <a:moveTo>
                        <a:pt x="321" y="0"/>
                      </a:move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8" y="0"/>
                        <a:pt x="0" y="8"/>
                        <a:pt x="0" y="19"/>
                      </a:cubicBezTo>
                      <a:cubicBezTo>
                        <a:pt x="0" y="588"/>
                        <a:pt x="0" y="588"/>
                        <a:pt x="0" y="588"/>
                      </a:cubicBezTo>
                      <a:cubicBezTo>
                        <a:pt x="0" y="599"/>
                        <a:pt x="8" y="608"/>
                        <a:pt x="19" y="608"/>
                      </a:cubicBezTo>
                      <a:cubicBezTo>
                        <a:pt x="321" y="608"/>
                        <a:pt x="321" y="608"/>
                        <a:pt x="321" y="608"/>
                      </a:cubicBezTo>
                      <a:cubicBezTo>
                        <a:pt x="332" y="608"/>
                        <a:pt x="340" y="599"/>
                        <a:pt x="340" y="588"/>
                      </a:cubicBezTo>
                      <a:cubicBezTo>
                        <a:pt x="340" y="19"/>
                        <a:pt x="340" y="19"/>
                        <a:pt x="340" y="19"/>
                      </a:cubicBezTo>
                      <a:cubicBezTo>
                        <a:pt x="340" y="8"/>
                        <a:pt x="332" y="0"/>
                        <a:pt x="321" y="0"/>
                      </a:cubicBezTo>
                      <a:close/>
                      <a:moveTo>
                        <a:pt x="43" y="269"/>
                      </a:moveTo>
                      <a:cubicBezTo>
                        <a:pt x="43" y="221"/>
                        <a:pt x="43" y="221"/>
                        <a:pt x="43" y="221"/>
                      </a:cubicBezTo>
                      <a:cubicBezTo>
                        <a:pt x="297" y="221"/>
                        <a:pt x="297" y="221"/>
                        <a:pt x="297" y="221"/>
                      </a:cubicBezTo>
                      <a:cubicBezTo>
                        <a:pt x="297" y="269"/>
                        <a:pt x="297" y="269"/>
                        <a:pt x="297" y="269"/>
                      </a:cubicBezTo>
                      <a:lnTo>
                        <a:pt x="43" y="269"/>
                      </a:lnTo>
                      <a:close/>
                      <a:moveTo>
                        <a:pt x="212" y="370"/>
                      </a:moveTo>
                      <a:cubicBezTo>
                        <a:pt x="212" y="393"/>
                        <a:pt x="193" y="412"/>
                        <a:pt x="170" y="412"/>
                      </a:cubicBezTo>
                      <a:cubicBezTo>
                        <a:pt x="147" y="412"/>
                        <a:pt x="128" y="393"/>
                        <a:pt x="128" y="370"/>
                      </a:cubicBezTo>
                      <a:cubicBezTo>
                        <a:pt x="128" y="347"/>
                        <a:pt x="147" y="328"/>
                        <a:pt x="170" y="328"/>
                      </a:cubicBezTo>
                      <a:cubicBezTo>
                        <a:pt x="193" y="328"/>
                        <a:pt x="212" y="347"/>
                        <a:pt x="212" y="370"/>
                      </a:cubicBezTo>
                      <a:close/>
                      <a:moveTo>
                        <a:pt x="43" y="188"/>
                      </a:moveTo>
                      <a:cubicBezTo>
                        <a:pt x="43" y="141"/>
                        <a:pt x="43" y="141"/>
                        <a:pt x="43" y="141"/>
                      </a:cubicBezTo>
                      <a:cubicBezTo>
                        <a:pt x="297" y="141"/>
                        <a:pt x="297" y="141"/>
                        <a:pt x="297" y="141"/>
                      </a:cubicBezTo>
                      <a:cubicBezTo>
                        <a:pt x="297" y="188"/>
                        <a:pt x="297" y="188"/>
                        <a:pt x="297" y="188"/>
                      </a:cubicBezTo>
                      <a:lnTo>
                        <a:pt x="43" y="188"/>
                      </a:lnTo>
                      <a:close/>
                      <a:moveTo>
                        <a:pt x="43" y="108"/>
                      </a:moveTo>
                      <a:cubicBezTo>
                        <a:pt x="43" y="60"/>
                        <a:pt x="43" y="60"/>
                        <a:pt x="43" y="60"/>
                      </a:cubicBezTo>
                      <a:cubicBezTo>
                        <a:pt x="297" y="60"/>
                        <a:pt x="297" y="60"/>
                        <a:pt x="297" y="60"/>
                      </a:cubicBezTo>
                      <a:cubicBezTo>
                        <a:pt x="297" y="108"/>
                        <a:pt x="297" y="108"/>
                        <a:pt x="297" y="108"/>
                      </a:cubicBezTo>
                      <a:lnTo>
                        <a:pt x="43" y="108"/>
                      </a:ln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lt1"/>
                    </a:solidFill>
                  </a:endParaRPr>
                </a:p>
              </p:txBody>
            </p:sp>
          </p:grpSp>
          <p:sp>
            <p:nvSpPr>
              <p:cNvPr id="52" name="TextBox 51"/>
              <p:cNvSpPr txBox="1"/>
              <p:nvPr/>
            </p:nvSpPr>
            <p:spPr bwMode="auto">
              <a:xfrm>
                <a:off x="9147845" y="1221604"/>
                <a:ext cx="206805" cy="107722"/>
              </a:xfrm>
              <a:prstGeom prst="rect">
                <a:avLst/>
              </a:prstGeom>
              <a:noFill/>
            </p:spPr>
            <p:txBody>
              <a:bodyPr lIns="0" tIns="0" rIns="0" bIns="0">
                <a:spAutoFit/>
              </a:bodyPr>
              <a:lstStyle>
                <a:defPPr>
                  <a:defRPr lang="en-US"/>
                </a:defPPr>
                <a:lvl1pPr algn="ctr">
                  <a:defRPr sz="70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+mn-ea"/>
                    <a:ea typeface="+mn-ea"/>
                  </a:defRPr>
                </a:lvl1pPr>
              </a:lstStyle>
              <a:p>
                <a:r>
                  <a:rPr lang="ko-KR" altLang="en-US" dirty="0"/>
                  <a:t>신규</a:t>
                </a:r>
              </a:p>
            </p:txBody>
          </p:sp>
          <p:grpSp>
            <p:nvGrpSpPr>
              <p:cNvPr id="53" name="그룹 52"/>
              <p:cNvGrpSpPr/>
              <p:nvPr/>
            </p:nvGrpSpPr>
            <p:grpSpPr>
              <a:xfrm>
                <a:off x="9203109" y="1080463"/>
                <a:ext cx="96277" cy="96277"/>
                <a:chOff x="331311" y="4487800"/>
                <a:chExt cx="167049" cy="167049"/>
              </a:xfrm>
            </p:grpSpPr>
            <p:sp>
              <p:nvSpPr>
                <p:cNvPr id="93" name="타원 92"/>
                <p:cNvSpPr/>
                <p:nvPr/>
              </p:nvSpPr>
              <p:spPr>
                <a:xfrm>
                  <a:off x="331311" y="4487800"/>
                  <a:ext cx="167049" cy="167049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94" name="십자형 93"/>
                <p:cNvSpPr/>
                <p:nvPr/>
              </p:nvSpPr>
              <p:spPr>
                <a:xfrm>
                  <a:off x="367554" y="4524043"/>
                  <a:ext cx="94562" cy="94562"/>
                </a:xfrm>
                <a:prstGeom prst="plus">
                  <a:avLst>
                    <a:gd name="adj" fmla="val 3674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</a:endParaRPr>
                </a:p>
              </p:txBody>
            </p:sp>
          </p:grpSp>
          <p:grpSp>
            <p:nvGrpSpPr>
              <p:cNvPr id="54" name="그룹 53"/>
              <p:cNvGrpSpPr/>
              <p:nvPr/>
            </p:nvGrpSpPr>
            <p:grpSpPr>
              <a:xfrm>
                <a:off x="3791933" y="940667"/>
                <a:ext cx="227109" cy="498740"/>
                <a:chOff x="3288947" y="940667"/>
                <a:chExt cx="227109" cy="498740"/>
              </a:xfrm>
            </p:grpSpPr>
            <p:sp>
              <p:nvSpPr>
                <p:cNvPr id="91" name="TextBox 90"/>
                <p:cNvSpPr txBox="1"/>
                <p:nvPr/>
              </p:nvSpPr>
              <p:spPr bwMode="auto">
                <a:xfrm>
                  <a:off x="3288947" y="1223963"/>
                  <a:ext cx="227109" cy="215444"/>
                </a:xfrm>
                <a:prstGeom prst="rect">
                  <a:avLst/>
                </a:prstGeom>
                <a:noFill/>
              </p:spPr>
              <p:txBody>
                <a:bodyPr lIns="0" tIns="0" rIns="0" bIns="0">
                  <a:spAutoFit/>
                </a:bodyPr>
                <a:lstStyle>
                  <a:defPPr>
                    <a:defRPr lang="en-US"/>
                  </a:defPPr>
                  <a:lvl1pPr algn="ctr">
                    <a:defRPr sz="7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+mn-ea"/>
                      <a:ea typeface="+mn-ea"/>
                    </a:defRPr>
                  </a:lvl1pPr>
                </a:lstStyle>
                <a:p>
                  <a:r>
                    <a:rPr lang="ko-KR" altLang="en-US" dirty="0"/>
                    <a:t>노후</a:t>
                  </a:r>
                  <a:endParaRPr lang="en-US" altLang="ko-KR" dirty="0"/>
                </a:p>
                <a:p>
                  <a:r>
                    <a:rPr lang="ko-KR" altLang="en-US" dirty="0"/>
                    <a:t>서버</a:t>
                  </a:r>
                </a:p>
              </p:txBody>
            </p:sp>
            <p:sp>
              <p:nvSpPr>
                <p:cNvPr id="92" name="Freeform 123"/>
                <p:cNvSpPr>
                  <a:spLocks noChangeAspect="1" noEditPoints="1"/>
                </p:cNvSpPr>
                <p:nvPr/>
              </p:nvSpPr>
              <p:spPr bwMode="auto">
                <a:xfrm>
                  <a:off x="3324452" y="940667"/>
                  <a:ext cx="155172" cy="232758"/>
                </a:xfrm>
                <a:custGeom>
                  <a:avLst/>
                  <a:gdLst>
                    <a:gd name="T0" fmla="*/ 321 w 340"/>
                    <a:gd name="T1" fmla="*/ 0 h 608"/>
                    <a:gd name="T2" fmla="*/ 19 w 340"/>
                    <a:gd name="T3" fmla="*/ 0 h 608"/>
                    <a:gd name="T4" fmla="*/ 0 w 340"/>
                    <a:gd name="T5" fmla="*/ 19 h 608"/>
                    <a:gd name="T6" fmla="*/ 0 w 340"/>
                    <a:gd name="T7" fmla="*/ 588 h 608"/>
                    <a:gd name="T8" fmla="*/ 19 w 340"/>
                    <a:gd name="T9" fmla="*/ 608 h 608"/>
                    <a:gd name="T10" fmla="*/ 321 w 340"/>
                    <a:gd name="T11" fmla="*/ 608 h 608"/>
                    <a:gd name="T12" fmla="*/ 340 w 340"/>
                    <a:gd name="T13" fmla="*/ 588 h 608"/>
                    <a:gd name="T14" fmla="*/ 340 w 340"/>
                    <a:gd name="T15" fmla="*/ 19 h 608"/>
                    <a:gd name="T16" fmla="*/ 321 w 340"/>
                    <a:gd name="T17" fmla="*/ 0 h 608"/>
                    <a:gd name="T18" fmla="*/ 43 w 340"/>
                    <a:gd name="T19" fmla="*/ 269 h 608"/>
                    <a:gd name="T20" fmla="*/ 43 w 340"/>
                    <a:gd name="T21" fmla="*/ 221 h 608"/>
                    <a:gd name="T22" fmla="*/ 297 w 340"/>
                    <a:gd name="T23" fmla="*/ 221 h 608"/>
                    <a:gd name="T24" fmla="*/ 297 w 340"/>
                    <a:gd name="T25" fmla="*/ 269 h 608"/>
                    <a:gd name="T26" fmla="*/ 43 w 340"/>
                    <a:gd name="T27" fmla="*/ 269 h 608"/>
                    <a:gd name="T28" fmla="*/ 212 w 340"/>
                    <a:gd name="T29" fmla="*/ 370 h 608"/>
                    <a:gd name="T30" fmla="*/ 170 w 340"/>
                    <a:gd name="T31" fmla="*/ 412 h 608"/>
                    <a:gd name="T32" fmla="*/ 128 w 340"/>
                    <a:gd name="T33" fmla="*/ 370 h 608"/>
                    <a:gd name="T34" fmla="*/ 170 w 340"/>
                    <a:gd name="T35" fmla="*/ 328 h 608"/>
                    <a:gd name="T36" fmla="*/ 212 w 340"/>
                    <a:gd name="T37" fmla="*/ 370 h 608"/>
                    <a:gd name="T38" fmla="*/ 43 w 340"/>
                    <a:gd name="T39" fmla="*/ 188 h 608"/>
                    <a:gd name="T40" fmla="*/ 43 w 340"/>
                    <a:gd name="T41" fmla="*/ 141 h 608"/>
                    <a:gd name="T42" fmla="*/ 297 w 340"/>
                    <a:gd name="T43" fmla="*/ 141 h 608"/>
                    <a:gd name="T44" fmla="*/ 297 w 340"/>
                    <a:gd name="T45" fmla="*/ 188 h 608"/>
                    <a:gd name="T46" fmla="*/ 43 w 340"/>
                    <a:gd name="T47" fmla="*/ 188 h 608"/>
                    <a:gd name="T48" fmla="*/ 43 w 340"/>
                    <a:gd name="T49" fmla="*/ 108 h 608"/>
                    <a:gd name="T50" fmla="*/ 43 w 340"/>
                    <a:gd name="T51" fmla="*/ 60 h 608"/>
                    <a:gd name="T52" fmla="*/ 297 w 340"/>
                    <a:gd name="T53" fmla="*/ 60 h 608"/>
                    <a:gd name="T54" fmla="*/ 297 w 340"/>
                    <a:gd name="T55" fmla="*/ 108 h 608"/>
                    <a:gd name="T56" fmla="*/ 43 w 340"/>
                    <a:gd name="T57" fmla="*/ 108 h 6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40" h="608">
                      <a:moveTo>
                        <a:pt x="321" y="0"/>
                      </a:move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8" y="0"/>
                        <a:pt x="0" y="8"/>
                        <a:pt x="0" y="19"/>
                      </a:cubicBezTo>
                      <a:cubicBezTo>
                        <a:pt x="0" y="588"/>
                        <a:pt x="0" y="588"/>
                        <a:pt x="0" y="588"/>
                      </a:cubicBezTo>
                      <a:cubicBezTo>
                        <a:pt x="0" y="599"/>
                        <a:pt x="8" y="608"/>
                        <a:pt x="19" y="608"/>
                      </a:cubicBezTo>
                      <a:cubicBezTo>
                        <a:pt x="321" y="608"/>
                        <a:pt x="321" y="608"/>
                        <a:pt x="321" y="608"/>
                      </a:cubicBezTo>
                      <a:cubicBezTo>
                        <a:pt x="332" y="608"/>
                        <a:pt x="340" y="599"/>
                        <a:pt x="340" y="588"/>
                      </a:cubicBezTo>
                      <a:cubicBezTo>
                        <a:pt x="340" y="19"/>
                        <a:pt x="340" y="19"/>
                        <a:pt x="340" y="19"/>
                      </a:cubicBezTo>
                      <a:cubicBezTo>
                        <a:pt x="340" y="8"/>
                        <a:pt x="332" y="0"/>
                        <a:pt x="321" y="0"/>
                      </a:cubicBezTo>
                      <a:close/>
                      <a:moveTo>
                        <a:pt x="43" y="269"/>
                      </a:moveTo>
                      <a:cubicBezTo>
                        <a:pt x="43" y="221"/>
                        <a:pt x="43" y="221"/>
                        <a:pt x="43" y="221"/>
                      </a:cubicBezTo>
                      <a:cubicBezTo>
                        <a:pt x="297" y="221"/>
                        <a:pt x="297" y="221"/>
                        <a:pt x="297" y="221"/>
                      </a:cubicBezTo>
                      <a:cubicBezTo>
                        <a:pt x="297" y="269"/>
                        <a:pt x="297" y="269"/>
                        <a:pt x="297" y="269"/>
                      </a:cubicBezTo>
                      <a:lnTo>
                        <a:pt x="43" y="269"/>
                      </a:lnTo>
                      <a:close/>
                      <a:moveTo>
                        <a:pt x="212" y="370"/>
                      </a:moveTo>
                      <a:cubicBezTo>
                        <a:pt x="212" y="393"/>
                        <a:pt x="193" y="412"/>
                        <a:pt x="170" y="412"/>
                      </a:cubicBezTo>
                      <a:cubicBezTo>
                        <a:pt x="147" y="412"/>
                        <a:pt x="128" y="393"/>
                        <a:pt x="128" y="370"/>
                      </a:cubicBezTo>
                      <a:cubicBezTo>
                        <a:pt x="128" y="347"/>
                        <a:pt x="147" y="328"/>
                        <a:pt x="170" y="328"/>
                      </a:cubicBezTo>
                      <a:cubicBezTo>
                        <a:pt x="193" y="328"/>
                        <a:pt x="212" y="347"/>
                        <a:pt x="212" y="370"/>
                      </a:cubicBezTo>
                      <a:close/>
                      <a:moveTo>
                        <a:pt x="43" y="188"/>
                      </a:moveTo>
                      <a:cubicBezTo>
                        <a:pt x="43" y="141"/>
                        <a:pt x="43" y="141"/>
                        <a:pt x="43" y="141"/>
                      </a:cubicBezTo>
                      <a:cubicBezTo>
                        <a:pt x="297" y="141"/>
                        <a:pt x="297" y="141"/>
                        <a:pt x="297" y="141"/>
                      </a:cubicBezTo>
                      <a:cubicBezTo>
                        <a:pt x="297" y="188"/>
                        <a:pt x="297" y="188"/>
                        <a:pt x="297" y="188"/>
                      </a:cubicBezTo>
                      <a:lnTo>
                        <a:pt x="43" y="188"/>
                      </a:lnTo>
                      <a:close/>
                      <a:moveTo>
                        <a:pt x="43" y="108"/>
                      </a:moveTo>
                      <a:cubicBezTo>
                        <a:pt x="43" y="60"/>
                        <a:pt x="43" y="60"/>
                        <a:pt x="43" y="60"/>
                      </a:cubicBezTo>
                      <a:cubicBezTo>
                        <a:pt x="297" y="60"/>
                        <a:pt x="297" y="60"/>
                        <a:pt x="297" y="60"/>
                      </a:cubicBezTo>
                      <a:cubicBezTo>
                        <a:pt x="297" y="108"/>
                        <a:pt x="297" y="108"/>
                        <a:pt x="297" y="108"/>
                      </a:cubicBezTo>
                      <a:lnTo>
                        <a:pt x="43" y="108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lt1"/>
                    </a:solidFill>
                  </a:endParaRPr>
                </a:p>
              </p:txBody>
            </p:sp>
          </p:grpSp>
          <p:grpSp>
            <p:nvGrpSpPr>
              <p:cNvPr id="55" name="그룹 54"/>
              <p:cNvGrpSpPr/>
              <p:nvPr/>
            </p:nvGrpSpPr>
            <p:grpSpPr>
              <a:xfrm>
                <a:off x="5310016" y="940544"/>
                <a:ext cx="227350" cy="496320"/>
                <a:chOff x="4475335" y="940544"/>
                <a:chExt cx="227350" cy="496320"/>
              </a:xfrm>
            </p:grpSpPr>
            <p:grpSp>
              <p:nvGrpSpPr>
                <p:cNvPr id="74" name="그룹 73"/>
                <p:cNvGrpSpPr/>
                <p:nvPr/>
              </p:nvGrpSpPr>
              <p:grpSpPr>
                <a:xfrm>
                  <a:off x="4510779" y="940544"/>
                  <a:ext cx="156462" cy="234692"/>
                  <a:chOff x="3521881" y="1700401"/>
                  <a:chExt cx="156462" cy="234692"/>
                </a:xfrm>
              </p:grpSpPr>
              <p:sp>
                <p:nvSpPr>
                  <p:cNvPr id="76" name="모서리가 둥근 직사각형 75"/>
                  <p:cNvSpPr>
                    <a:spLocks noChangeAspect="1"/>
                  </p:cNvSpPr>
                  <p:nvPr/>
                </p:nvSpPr>
                <p:spPr>
                  <a:xfrm>
                    <a:off x="3521881" y="1700401"/>
                    <a:ext cx="156462" cy="234692"/>
                  </a:xfrm>
                  <a:prstGeom prst="roundRect">
                    <a:avLst>
                      <a:gd name="adj" fmla="val 3438"/>
                    </a:avLst>
                  </a:prstGeom>
                  <a:solidFill>
                    <a:srgbClr val="96969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18000" rIns="0" rtlCol="0" anchor="t"/>
                  <a:lstStyle/>
                  <a:p>
                    <a:pPr algn="ctr"/>
                    <a:r>
                      <a:rPr lang="en-US" altLang="ko-KR" sz="5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latin typeface="a아시아헤드3" panose="02020600000000000000" pitchFamily="18" charset="-127"/>
                        <a:ea typeface="a아시아헤드3" panose="02020600000000000000" pitchFamily="18" charset="-127"/>
                      </a:rPr>
                      <a:t>BK</a:t>
                    </a:r>
                  </a:p>
                </p:txBody>
              </p:sp>
              <p:grpSp>
                <p:nvGrpSpPr>
                  <p:cNvPr id="77" name="그룹 76"/>
                  <p:cNvGrpSpPr/>
                  <p:nvPr/>
                </p:nvGrpSpPr>
                <p:grpSpPr>
                  <a:xfrm>
                    <a:off x="3546775" y="1844483"/>
                    <a:ext cx="106674" cy="56118"/>
                    <a:chOff x="3555199" y="1918992"/>
                    <a:chExt cx="186305" cy="98009"/>
                  </a:xfrm>
                </p:grpSpPr>
                <p:sp>
                  <p:nvSpPr>
                    <p:cNvPr id="78" name="타원 77"/>
                    <p:cNvSpPr/>
                    <p:nvPr/>
                  </p:nvSpPr>
                  <p:spPr>
                    <a:xfrm>
                      <a:off x="3572149" y="1935093"/>
                      <a:ext cx="65806" cy="65806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</a:endParaRPr>
                    </a:p>
                  </p:txBody>
                </p:sp>
                <p:sp>
                  <p:nvSpPr>
                    <p:cNvPr id="79" name="눈물 방울 78"/>
                    <p:cNvSpPr/>
                    <p:nvPr/>
                  </p:nvSpPr>
                  <p:spPr>
                    <a:xfrm rot="8100000">
                      <a:off x="3595873" y="1937044"/>
                      <a:ext cx="18034" cy="18034"/>
                    </a:xfrm>
                    <a:prstGeom prst="teardrop">
                      <a:avLst/>
                    </a:prstGeom>
                    <a:solidFill>
                      <a:srgbClr val="CFCFC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</a:endParaRPr>
                    </a:p>
                  </p:txBody>
                </p:sp>
                <p:sp>
                  <p:nvSpPr>
                    <p:cNvPr id="80" name="눈물 방울 79"/>
                    <p:cNvSpPr/>
                    <p:nvPr/>
                  </p:nvSpPr>
                  <p:spPr>
                    <a:xfrm rot="13500000" flipV="1">
                      <a:off x="3595852" y="1980871"/>
                      <a:ext cx="18077" cy="18077"/>
                    </a:xfrm>
                    <a:prstGeom prst="teardrop">
                      <a:avLst/>
                    </a:prstGeom>
                    <a:solidFill>
                      <a:srgbClr val="CFCFC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</a:endParaRPr>
                    </a:p>
                  </p:txBody>
                </p:sp>
                <p:sp>
                  <p:nvSpPr>
                    <p:cNvPr id="81" name="타원 80"/>
                    <p:cNvSpPr/>
                    <p:nvPr/>
                  </p:nvSpPr>
                  <p:spPr>
                    <a:xfrm>
                      <a:off x="3599816" y="1962739"/>
                      <a:ext cx="10473" cy="10473"/>
                    </a:xfrm>
                    <a:prstGeom prst="ellipse">
                      <a:avLst/>
                    </a:prstGeom>
                    <a:solidFill>
                      <a:srgbClr val="CFCFC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</a:endParaRPr>
                    </a:p>
                  </p:txBody>
                </p:sp>
                <p:sp>
                  <p:nvSpPr>
                    <p:cNvPr id="82" name="눈물 방울 81"/>
                    <p:cNvSpPr/>
                    <p:nvPr/>
                  </p:nvSpPr>
                  <p:spPr>
                    <a:xfrm rot="2700000">
                      <a:off x="3574294" y="1959017"/>
                      <a:ext cx="18077" cy="18077"/>
                    </a:xfrm>
                    <a:prstGeom prst="teardrop">
                      <a:avLst/>
                    </a:prstGeom>
                    <a:solidFill>
                      <a:srgbClr val="CFCFC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</a:endParaRPr>
                    </a:p>
                  </p:txBody>
                </p:sp>
                <p:sp>
                  <p:nvSpPr>
                    <p:cNvPr id="83" name="눈물 방울 82"/>
                    <p:cNvSpPr/>
                    <p:nvPr/>
                  </p:nvSpPr>
                  <p:spPr>
                    <a:xfrm rot="13500000">
                      <a:off x="3617734" y="1959017"/>
                      <a:ext cx="18077" cy="18077"/>
                    </a:xfrm>
                    <a:prstGeom prst="teardrop">
                      <a:avLst/>
                    </a:prstGeom>
                    <a:solidFill>
                      <a:srgbClr val="CFCFC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</a:endParaRPr>
                    </a:p>
                  </p:txBody>
                </p:sp>
                <p:sp>
                  <p:nvSpPr>
                    <p:cNvPr id="84" name="타원 83"/>
                    <p:cNvSpPr/>
                    <p:nvPr/>
                  </p:nvSpPr>
                  <p:spPr>
                    <a:xfrm>
                      <a:off x="3658749" y="1935093"/>
                      <a:ext cx="65806" cy="65806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</a:endParaRPr>
                    </a:p>
                  </p:txBody>
                </p:sp>
                <p:sp>
                  <p:nvSpPr>
                    <p:cNvPr id="85" name="눈물 방울 84"/>
                    <p:cNvSpPr/>
                    <p:nvPr/>
                  </p:nvSpPr>
                  <p:spPr>
                    <a:xfrm rot="8100000">
                      <a:off x="3682472" y="1937044"/>
                      <a:ext cx="18034" cy="18034"/>
                    </a:xfrm>
                    <a:prstGeom prst="teardrop">
                      <a:avLst/>
                    </a:prstGeom>
                    <a:solidFill>
                      <a:srgbClr val="CFCFC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</a:endParaRPr>
                    </a:p>
                  </p:txBody>
                </p:sp>
                <p:sp>
                  <p:nvSpPr>
                    <p:cNvPr id="86" name="눈물 방울 85"/>
                    <p:cNvSpPr/>
                    <p:nvPr/>
                  </p:nvSpPr>
                  <p:spPr>
                    <a:xfrm rot="13500000" flipV="1">
                      <a:off x="3682451" y="1980871"/>
                      <a:ext cx="18077" cy="18077"/>
                    </a:xfrm>
                    <a:prstGeom prst="teardrop">
                      <a:avLst/>
                    </a:prstGeom>
                    <a:solidFill>
                      <a:srgbClr val="CFCFC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</a:endParaRPr>
                    </a:p>
                  </p:txBody>
                </p:sp>
                <p:sp>
                  <p:nvSpPr>
                    <p:cNvPr id="87" name="타원 86"/>
                    <p:cNvSpPr/>
                    <p:nvPr/>
                  </p:nvSpPr>
                  <p:spPr>
                    <a:xfrm>
                      <a:off x="3686416" y="1962739"/>
                      <a:ext cx="10473" cy="10473"/>
                    </a:xfrm>
                    <a:prstGeom prst="ellipse">
                      <a:avLst/>
                    </a:prstGeom>
                    <a:solidFill>
                      <a:srgbClr val="CFCFC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</a:endParaRPr>
                    </a:p>
                  </p:txBody>
                </p:sp>
                <p:sp>
                  <p:nvSpPr>
                    <p:cNvPr id="88" name="눈물 방울 87"/>
                    <p:cNvSpPr/>
                    <p:nvPr/>
                  </p:nvSpPr>
                  <p:spPr>
                    <a:xfrm rot="2700000">
                      <a:off x="3660893" y="1959017"/>
                      <a:ext cx="18077" cy="18077"/>
                    </a:xfrm>
                    <a:prstGeom prst="teardrop">
                      <a:avLst/>
                    </a:prstGeom>
                    <a:solidFill>
                      <a:srgbClr val="CFCFC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</a:endParaRPr>
                    </a:p>
                  </p:txBody>
                </p:sp>
                <p:sp>
                  <p:nvSpPr>
                    <p:cNvPr id="89" name="눈물 방울 88"/>
                    <p:cNvSpPr/>
                    <p:nvPr/>
                  </p:nvSpPr>
                  <p:spPr>
                    <a:xfrm rot="13500000">
                      <a:off x="3704334" y="1959017"/>
                      <a:ext cx="18077" cy="18077"/>
                    </a:xfrm>
                    <a:prstGeom prst="teardrop">
                      <a:avLst/>
                    </a:prstGeom>
                    <a:solidFill>
                      <a:srgbClr val="CFCFC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</a:endParaRPr>
                    </a:p>
                  </p:txBody>
                </p:sp>
                <p:sp>
                  <p:nvSpPr>
                    <p:cNvPr id="90" name="모서리가 둥근 직사각형 89"/>
                    <p:cNvSpPr/>
                    <p:nvPr/>
                  </p:nvSpPr>
                  <p:spPr>
                    <a:xfrm>
                      <a:off x="3555199" y="1918992"/>
                      <a:ext cx="186305" cy="98009"/>
                    </a:xfrm>
                    <a:prstGeom prst="roundRect">
                      <a:avLst>
                        <a:gd name="adj" fmla="val 5998"/>
                      </a:avLst>
                    </a:prstGeom>
                    <a:noFill/>
                    <a:ln w="9525">
                      <a:solidFill>
                        <a:srgbClr val="FFFFFF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</a:endParaRPr>
                    </a:p>
                  </p:txBody>
                </p:sp>
              </p:grpSp>
            </p:grpSp>
            <p:sp>
              <p:nvSpPr>
                <p:cNvPr id="75" name="TextBox 74"/>
                <p:cNvSpPr txBox="1"/>
                <p:nvPr/>
              </p:nvSpPr>
              <p:spPr bwMode="auto">
                <a:xfrm>
                  <a:off x="4475335" y="1221420"/>
                  <a:ext cx="227350" cy="215444"/>
                </a:xfrm>
                <a:prstGeom prst="rect">
                  <a:avLst/>
                </a:prstGeom>
                <a:noFill/>
              </p:spPr>
              <p:txBody>
                <a:bodyPr lIns="0" tIns="0" rIns="0" bIns="0">
                  <a:spAutoFit/>
                </a:bodyPr>
                <a:lstStyle>
                  <a:defPPr>
                    <a:defRPr lang="en-US"/>
                  </a:defPPr>
                  <a:lvl1pPr algn="ctr">
                    <a:defRPr sz="7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+mn-ea"/>
                      <a:ea typeface="+mn-ea"/>
                    </a:defRPr>
                  </a:lvl1pPr>
                </a:lstStyle>
                <a:p>
                  <a:r>
                    <a:rPr lang="ko-KR" altLang="en-US" dirty="0"/>
                    <a:t>백업</a:t>
                  </a:r>
                  <a:r>
                    <a:rPr lang="en-US" altLang="ko-KR" dirty="0"/>
                    <a:t/>
                  </a:r>
                  <a:br>
                    <a:rPr lang="en-US" altLang="ko-KR" dirty="0"/>
                  </a:br>
                  <a:r>
                    <a:rPr lang="ko-KR" altLang="en-US" dirty="0"/>
                    <a:t>장비</a:t>
                  </a:r>
                </a:p>
              </p:txBody>
            </p:sp>
          </p:grpSp>
          <p:grpSp>
            <p:nvGrpSpPr>
              <p:cNvPr id="56" name="그룹 55"/>
              <p:cNvGrpSpPr/>
              <p:nvPr/>
            </p:nvGrpSpPr>
            <p:grpSpPr>
              <a:xfrm>
                <a:off x="7983356" y="998705"/>
                <a:ext cx="324000" cy="445857"/>
                <a:chOff x="8128358" y="998705"/>
                <a:chExt cx="324000" cy="445857"/>
              </a:xfrm>
            </p:grpSpPr>
            <p:sp>
              <p:nvSpPr>
                <p:cNvPr id="72" name="TextBox 71"/>
                <p:cNvSpPr txBox="1"/>
                <p:nvPr/>
              </p:nvSpPr>
              <p:spPr bwMode="auto">
                <a:xfrm>
                  <a:off x="8192720" y="1229118"/>
                  <a:ext cx="188005" cy="215444"/>
                </a:xfrm>
                <a:prstGeom prst="rect">
                  <a:avLst/>
                </a:prstGeom>
                <a:noFill/>
              </p:spPr>
              <p:txBody>
                <a:bodyPr lIns="0" tIns="0" rIns="0" bIns="0">
                  <a:spAutoFit/>
                </a:bodyPr>
                <a:lstStyle>
                  <a:defPPr>
                    <a:defRPr lang="en-US"/>
                  </a:defPPr>
                  <a:lvl1pPr algn="ctr">
                    <a:defRPr sz="7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+mn-ea"/>
                      <a:ea typeface="+mn-ea"/>
                    </a:defRPr>
                  </a:lvl1pPr>
                </a:lstStyle>
                <a:p>
                  <a:r>
                    <a:rPr lang="ko-KR" altLang="en-US" dirty="0"/>
                    <a:t>전환대상</a:t>
                  </a:r>
                </a:p>
              </p:txBody>
            </p:sp>
            <p:sp>
              <p:nvSpPr>
                <p:cNvPr id="73" name="직사각형 72"/>
                <p:cNvSpPr/>
                <p:nvPr/>
              </p:nvSpPr>
              <p:spPr>
                <a:xfrm>
                  <a:off x="8128358" y="998705"/>
                  <a:ext cx="324000" cy="177811"/>
                </a:xfrm>
                <a:prstGeom prst="rect">
                  <a:avLst/>
                </a:prstGeom>
                <a:noFill/>
                <a:ln w="12700">
                  <a:solidFill>
                    <a:srgbClr val="2F2F2F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7" name="그룹 56"/>
              <p:cNvGrpSpPr/>
              <p:nvPr/>
            </p:nvGrpSpPr>
            <p:grpSpPr>
              <a:xfrm>
                <a:off x="8378216" y="998705"/>
                <a:ext cx="340858" cy="445857"/>
                <a:chOff x="8122216" y="998705"/>
                <a:chExt cx="340858" cy="445857"/>
              </a:xfrm>
            </p:grpSpPr>
            <p:sp>
              <p:nvSpPr>
                <p:cNvPr id="70" name="TextBox 69"/>
                <p:cNvSpPr txBox="1"/>
                <p:nvPr/>
              </p:nvSpPr>
              <p:spPr bwMode="auto">
                <a:xfrm>
                  <a:off x="8122216" y="1229118"/>
                  <a:ext cx="340858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>
                  <a:defPPr>
                    <a:defRPr lang="en-US"/>
                  </a:defPPr>
                  <a:lvl1pPr algn="ctr">
                    <a:defRPr sz="7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+mn-ea"/>
                      <a:ea typeface="+mn-ea"/>
                    </a:defRPr>
                  </a:lvl1pPr>
                </a:lstStyle>
                <a:p>
                  <a:r>
                    <a:rPr lang="en-US" altLang="ko-KR" dirty="0"/>
                    <a:t>Public</a:t>
                  </a:r>
                  <a:br>
                    <a:rPr lang="en-US" altLang="ko-KR" dirty="0"/>
                  </a:br>
                  <a:r>
                    <a:rPr lang="en-US" altLang="ko-KR" dirty="0"/>
                    <a:t>Zone</a:t>
                  </a:r>
                  <a:endParaRPr lang="ko-KR" altLang="en-US" dirty="0"/>
                </a:p>
              </p:txBody>
            </p:sp>
            <p:sp>
              <p:nvSpPr>
                <p:cNvPr id="71" name="직사각형 70"/>
                <p:cNvSpPr/>
                <p:nvPr/>
              </p:nvSpPr>
              <p:spPr>
                <a:xfrm>
                  <a:off x="8128358" y="998705"/>
                  <a:ext cx="324000" cy="177811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8" name="그룹 57"/>
              <p:cNvGrpSpPr/>
              <p:nvPr/>
            </p:nvGrpSpPr>
            <p:grpSpPr>
              <a:xfrm>
                <a:off x="8791816" y="998705"/>
                <a:ext cx="330142" cy="445857"/>
                <a:chOff x="8122216" y="998705"/>
                <a:chExt cx="330142" cy="445857"/>
              </a:xfrm>
            </p:grpSpPr>
            <p:sp>
              <p:nvSpPr>
                <p:cNvPr id="68" name="TextBox 67"/>
                <p:cNvSpPr txBox="1"/>
                <p:nvPr/>
              </p:nvSpPr>
              <p:spPr bwMode="auto">
                <a:xfrm>
                  <a:off x="8122216" y="1229118"/>
                  <a:ext cx="329014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>
                  <a:defPPr>
                    <a:defRPr lang="en-US"/>
                  </a:defPPr>
                  <a:lvl1pPr algn="ctr">
                    <a:defRPr sz="7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+mn-ea"/>
                      <a:ea typeface="+mn-ea"/>
                    </a:defRPr>
                  </a:lvl1pPr>
                </a:lstStyle>
                <a:p>
                  <a:r>
                    <a:rPr lang="en-US" altLang="ko-KR" dirty="0"/>
                    <a:t>Secure</a:t>
                  </a:r>
                  <a:br>
                    <a:rPr lang="en-US" altLang="ko-KR" dirty="0"/>
                  </a:br>
                  <a:r>
                    <a:rPr lang="en-US" altLang="ko-KR" dirty="0"/>
                    <a:t>Zone</a:t>
                  </a:r>
                  <a:endParaRPr lang="ko-KR" altLang="en-US" dirty="0"/>
                </a:p>
              </p:txBody>
            </p:sp>
            <p:sp>
              <p:nvSpPr>
                <p:cNvPr id="69" name="직사각형 68"/>
                <p:cNvSpPr/>
                <p:nvPr/>
              </p:nvSpPr>
              <p:spPr>
                <a:xfrm>
                  <a:off x="8128358" y="998705"/>
                  <a:ext cx="324000" cy="177811"/>
                </a:xfrm>
                <a:prstGeom prst="rect">
                  <a:avLst/>
                </a:prstGeom>
                <a:noFill/>
                <a:ln w="12700">
                  <a:solidFill>
                    <a:srgbClr val="0000FF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59" name="그룹 58"/>
              <p:cNvGrpSpPr/>
              <p:nvPr/>
            </p:nvGrpSpPr>
            <p:grpSpPr>
              <a:xfrm>
                <a:off x="9381673" y="1084879"/>
                <a:ext cx="206805" cy="245026"/>
                <a:chOff x="9416223" y="1084879"/>
                <a:chExt cx="206805" cy="245026"/>
              </a:xfrm>
            </p:grpSpPr>
            <p:grpSp>
              <p:nvGrpSpPr>
                <p:cNvPr id="64" name="그룹 63"/>
                <p:cNvGrpSpPr/>
                <p:nvPr/>
              </p:nvGrpSpPr>
              <p:grpSpPr>
                <a:xfrm>
                  <a:off x="9470202" y="1084879"/>
                  <a:ext cx="98847" cy="98847"/>
                  <a:chOff x="331311" y="4766108"/>
                  <a:chExt cx="167049" cy="167049"/>
                </a:xfrm>
              </p:grpSpPr>
              <p:sp>
                <p:nvSpPr>
                  <p:cNvPr id="66" name="타원 65"/>
                  <p:cNvSpPr/>
                  <p:nvPr/>
                </p:nvSpPr>
                <p:spPr>
                  <a:xfrm>
                    <a:off x="331311" y="4766108"/>
                    <a:ext cx="167049" cy="167049"/>
                  </a:xfrm>
                  <a:prstGeom prst="ellipse">
                    <a:avLst/>
                  </a:prstGeom>
                  <a:solidFill>
                    <a:srgbClr val="C0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sp>
                <p:nvSpPr>
                  <p:cNvPr id="67" name="Freeform 68"/>
                  <p:cNvSpPr>
                    <a:spLocks/>
                  </p:cNvSpPr>
                  <p:nvPr/>
                </p:nvSpPr>
                <p:spPr bwMode="auto">
                  <a:xfrm>
                    <a:off x="370884" y="4806800"/>
                    <a:ext cx="87902" cy="85664"/>
                  </a:xfrm>
                  <a:custGeom>
                    <a:avLst/>
                    <a:gdLst>
                      <a:gd name="T0" fmla="*/ 229 w 230"/>
                      <a:gd name="T1" fmla="*/ 143 h 224"/>
                      <a:gd name="T2" fmla="*/ 208 w 230"/>
                      <a:gd name="T3" fmla="*/ 7 h 224"/>
                      <a:gd name="T4" fmla="*/ 203 w 230"/>
                      <a:gd name="T5" fmla="*/ 1 h 224"/>
                      <a:gd name="T6" fmla="*/ 195 w 230"/>
                      <a:gd name="T7" fmla="*/ 2 h 224"/>
                      <a:gd name="T8" fmla="*/ 79 w 230"/>
                      <a:gd name="T9" fmla="*/ 74 h 224"/>
                      <a:gd name="T10" fmla="*/ 75 w 230"/>
                      <a:gd name="T11" fmla="*/ 82 h 224"/>
                      <a:gd name="T12" fmla="*/ 80 w 230"/>
                      <a:gd name="T13" fmla="*/ 88 h 224"/>
                      <a:gd name="T14" fmla="*/ 117 w 230"/>
                      <a:gd name="T15" fmla="*/ 105 h 224"/>
                      <a:gd name="T16" fmla="*/ 6 w 230"/>
                      <a:gd name="T17" fmla="*/ 208 h 224"/>
                      <a:gd name="T18" fmla="*/ 0 w 230"/>
                      <a:gd name="T19" fmla="*/ 216 h 224"/>
                      <a:gd name="T20" fmla="*/ 0 w 230"/>
                      <a:gd name="T21" fmla="*/ 217 h 224"/>
                      <a:gd name="T22" fmla="*/ 8 w 230"/>
                      <a:gd name="T23" fmla="*/ 224 h 224"/>
                      <a:gd name="T24" fmla="*/ 182 w 230"/>
                      <a:gd name="T25" fmla="*/ 135 h 224"/>
                      <a:gd name="T26" fmla="*/ 218 w 230"/>
                      <a:gd name="T27" fmla="*/ 151 h 224"/>
                      <a:gd name="T28" fmla="*/ 226 w 230"/>
                      <a:gd name="T29" fmla="*/ 150 h 224"/>
                      <a:gd name="T30" fmla="*/ 229 w 230"/>
                      <a:gd name="T31" fmla="*/ 143 h 2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230" h="224">
                        <a:moveTo>
                          <a:pt x="229" y="143"/>
                        </a:moveTo>
                        <a:cubicBezTo>
                          <a:pt x="208" y="7"/>
                          <a:pt x="208" y="7"/>
                          <a:pt x="208" y="7"/>
                        </a:cubicBezTo>
                        <a:cubicBezTo>
                          <a:pt x="207" y="5"/>
                          <a:pt x="205" y="2"/>
                          <a:pt x="203" y="1"/>
                        </a:cubicBezTo>
                        <a:cubicBezTo>
                          <a:pt x="201" y="0"/>
                          <a:pt x="198" y="0"/>
                          <a:pt x="195" y="2"/>
                        </a:cubicBezTo>
                        <a:cubicBezTo>
                          <a:pt x="79" y="74"/>
                          <a:pt x="79" y="74"/>
                          <a:pt x="79" y="74"/>
                        </a:cubicBezTo>
                        <a:cubicBezTo>
                          <a:pt x="77" y="76"/>
                          <a:pt x="75" y="79"/>
                          <a:pt x="75" y="82"/>
                        </a:cubicBezTo>
                        <a:cubicBezTo>
                          <a:pt x="75" y="85"/>
                          <a:pt x="77" y="87"/>
                          <a:pt x="80" y="88"/>
                        </a:cubicBezTo>
                        <a:cubicBezTo>
                          <a:pt x="117" y="105"/>
                          <a:pt x="117" y="105"/>
                          <a:pt x="117" y="105"/>
                        </a:cubicBezTo>
                        <a:cubicBezTo>
                          <a:pt x="101" y="152"/>
                          <a:pt x="60" y="190"/>
                          <a:pt x="6" y="208"/>
                        </a:cubicBezTo>
                        <a:cubicBezTo>
                          <a:pt x="2" y="209"/>
                          <a:pt x="0" y="212"/>
                          <a:pt x="0" y="216"/>
                        </a:cubicBezTo>
                        <a:cubicBezTo>
                          <a:pt x="0" y="216"/>
                          <a:pt x="0" y="217"/>
                          <a:pt x="0" y="217"/>
                        </a:cubicBezTo>
                        <a:cubicBezTo>
                          <a:pt x="1" y="221"/>
                          <a:pt x="4" y="224"/>
                          <a:pt x="8" y="224"/>
                        </a:cubicBezTo>
                        <a:cubicBezTo>
                          <a:pt x="94" y="222"/>
                          <a:pt x="159" y="179"/>
                          <a:pt x="182" y="135"/>
                        </a:cubicBezTo>
                        <a:cubicBezTo>
                          <a:pt x="218" y="151"/>
                          <a:pt x="218" y="151"/>
                          <a:pt x="218" y="151"/>
                        </a:cubicBezTo>
                        <a:cubicBezTo>
                          <a:pt x="221" y="152"/>
                          <a:pt x="224" y="152"/>
                          <a:pt x="226" y="150"/>
                        </a:cubicBezTo>
                        <a:cubicBezTo>
                          <a:pt x="229" y="148"/>
                          <a:pt x="230" y="146"/>
                          <a:pt x="229" y="143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</p:grpSp>
            <p:sp>
              <p:nvSpPr>
                <p:cNvPr id="65" name="TextBox 64"/>
                <p:cNvSpPr txBox="1"/>
                <p:nvPr/>
              </p:nvSpPr>
              <p:spPr bwMode="auto">
                <a:xfrm>
                  <a:off x="9416223" y="1222183"/>
                  <a:ext cx="206805" cy="107722"/>
                </a:xfrm>
                <a:prstGeom prst="rect">
                  <a:avLst/>
                </a:prstGeom>
                <a:noFill/>
              </p:spPr>
              <p:txBody>
                <a:bodyPr lIns="0" tIns="0" rIns="0" bIns="0">
                  <a:spAutoFit/>
                </a:bodyPr>
                <a:lstStyle>
                  <a:defPPr>
                    <a:defRPr lang="en-US"/>
                  </a:defPPr>
                  <a:lvl1pPr algn="ctr">
                    <a:defRPr sz="7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+mn-ea"/>
                      <a:ea typeface="+mn-ea"/>
                    </a:defRPr>
                  </a:lvl1pPr>
                </a:lstStyle>
                <a:p>
                  <a:r>
                    <a:rPr lang="ko-KR" altLang="en-US" dirty="0"/>
                    <a:t>증설</a:t>
                  </a:r>
                </a:p>
              </p:txBody>
            </p:sp>
          </p:grpSp>
          <p:sp>
            <p:nvSpPr>
              <p:cNvPr id="60" name="TextBox 59"/>
              <p:cNvSpPr txBox="1"/>
              <p:nvPr/>
            </p:nvSpPr>
            <p:spPr bwMode="auto">
              <a:xfrm>
                <a:off x="7620109" y="1226989"/>
                <a:ext cx="279688" cy="21544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 algn="ctr">
                  <a:defRPr sz="70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+mn-ea"/>
                    <a:ea typeface="+mn-ea"/>
                  </a:defRPr>
                </a:lvl1pPr>
              </a:lstStyle>
              <a:p>
                <a:r>
                  <a:rPr lang="ko-KR" altLang="en-US" dirty="0"/>
                  <a:t>보안</a:t>
                </a:r>
                <a:r>
                  <a:rPr lang="en-US" altLang="ko-KR" dirty="0"/>
                  <a:t/>
                </a:r>
                <a:br>
                  <a:rPr lang="en-US" altLang="ko-KR" dirty="0"/>
                </a:br>
                <a:r>
                  <a:rPr lang="ko-KR" altLang="en-US" dirty="0"/>
                  <a:t>장비</a:t>
                </a:r>
              </a:p>
            </p:txBody>
          </p:sp>
          <p:grpSp>
            <p:nvGrpSpPr>
              <p:cNvPr id="61" name="그룹 60"/>
              <p:cNvGrpSpPr/>
              <p:nvPr/>
            </p:nvGrpSpPr>
            <p:grpSpPr>
              <a:xfrm>
                <a:off x="4572015" y="953114"/>
                <a:ext cx="363900" cy="488122"/>
                <a:chOff x="4572015" y="953114"/>
                <a:chExt cx="363900" cy="488122"/>
              </a:xfrm>
            </p:grpSpPr>
            <p:sp>
              <p:nvSpPr>
                <p:cNvPr id="62" name="TextBox 61"/>
                <p:cNvSpPr txBox="1"/>
                <p:nvPr/>
              </p:nvSpPr>
              <p:spPr bwMode="auto">
                <a:xfrm>
                  <a:off x="4572015" y="1225792"/>
                  <a:ext cx="363900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>
                  <a:defPPr>
                    <a:defRPr lang="en-US"/>
                  </a:defPPr>
                  <a:lvl1pPr algn="ctr">
                    <a:defRPr sz="7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+mn-ea"/>
                      <a:ea typeface="+mn-ea"/>
                    </a:defRPr>
                  </a:lvl1pPr>
                </a:lstStyle>
                <a:p>
                  <a:r>
                    <a:rPr lang="ko-KR" altLang="en-US" dirty="0"/>
                    <a:t>신규</a:t>
                  </a:r>
                  <a:r>
                    <a:rPr lang="en-US" altLang="ko-KR" dirty="0"/>
                    <a:t/>
                  </a:r>
                  <a:br>
                    <a:rPr lang="en-US" altLang="ko-KR" dirty="0"/>
                  </a:br>
                  <a:r>
                    <a:rPr lang="ko-KR" altLang="en-US" dirty="0"/>
                    <a:t>스토리지</a:t>
                  </a:r>
                </a:p>
              </p:txBody>
            </p:sp>
            <p:sp>
              <p:nvSpPr>
                <p:cNvPr id="63" name="원통 62"/>
                <p:cNvSpPr/>
                <p:nvPr/>
              </p:nvSpPr>
              <p:spPr>
                <a:xfrm>
                  <a:off x="4667161" y="953114"/>
                  <a:ext cx="173608" cy="216422"/>
                </a:xfrm>
                <a:prstGeom prst="can">
                  <a:avLst/>
                </a:prstGeom>
                <a:solidFill>
                  <a:schemeClr val="bg1"/>
                </a:solidFill>
                <a:ln w="15875">
                  <a:solidFill>
                    <a:schemeClr val="bg1">
                      <a:lumMod val="50000"/>
                    </a:schemeClr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</p:grpSp>
        <p:sp>
          <p:nvSpPr>
            <p:cNvPr id="32" name="Text Box 4"/>
            <p:cNvSpPr txBox="1">
              <a:spLocks noChangeArrowheads="1"/>
            </p:cNvSpPr>
            <p:nvPr/>
          </p:nvSpPr>
          <p:spPr bwMode="auto">
            <a:xfrm>
              <a:off x="7596188" y="991281"/>
              <a:ext cx="324000" cy="1924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lIns="0" tIns="0" rIns="0" bIns="0" anchor="ctr" anchorCtr="1">
              <a:noAutofit/>
            </a:bodyPr>
            <a:lstStyle>
              <a:lvl1pPr>
                <a:defRPr kumimoji="1" sz="9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>
                <a:defRPr kumimoji="1" sz="9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>
                <a:defRPr kumimoji="1" sz="9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>
                <a:defRPr kumimoji="1" sz="9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>
                <a:defRPr kumimoji="1" sz="9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fontAlgn="ctr" latinLnBrk="1" hangingPunct="1"/>
              <a:r>
                <a:rPr lang="ko-KR" altLang="en-US" sz="700" dirty="0">
                  <a:latin typeface="+mn-ea"/>
                </a:rPr>
                <a:t>보안</a:t>
              </a:r>
              <a:r>
                <a:rPr lang="en-US" altLang="ko-KR" sz="700" dirty="0">
                  <a:latin typeface="+mn-ea"/>
                </a:rPr>
                <a:t/>
              </a:r>
              <a:br>
                <a:rPr lang="en-US" altLang="ko-KR" sz="700" dirty="0">
                  <a:latin typeface="+mn-ea"/>
                </a:rPr>
              </a:br>
              <a:r>
                <a:rPr lang="en-US" altLang="ko-KR" sz="500" spc="-30" dirty="0">
                  <a:latin typeface="+mn-ea"/>
                </a:rPr>
                <a:t>(FW, IPS </a:t>
              </a:r>
              <a:r>
                <a:rPr lang="ko-KR" altLang="en-US" sz="500" spc="-30" dirty="0">
                  <a:latin typeface="+mn-ea"/>
                </a:rPr>
                <a:t>등</a:t>
              </a:r>
              <a:r>
                <a:rPr lang="en-US" altLang="ko-KR" sz="500" spc="-30" dirty="0">
                  <a:latin typeface="+mn-ea"/>
                </a:rPr>
                <a:t>)</a:t>
              </a:r>
            </a:p>
          </p:txBody>
        </p:sp>
      </p:grpSp>
      <p:sp>
        <p:nvSpPr>
          <p:cNvPr id="154" name="텍스트 개체 틀 7">
            <a:extLst>
              <a:ext uri="{FF2B5EF4-FFF2-40B4-BE49-F238E27FC236}">
                <a16:creationId xmlns:a16="http://schemas.microsoft.com/office/drawing/2014/main" id="{67412071-4F24-4D45-B1AE-7FEC8DF3D4BA}"/>
              </a:ext>
            </a:extLst>
          </p:cNvPr>
          <p:cNvSpPr txBox="1">
            <a:spLocks/>
          </p:cNvSpPr>
          <p:nvPr userDrawn="1"/>
        </p:nvSpPr>
        <p:spPr>
          <a:xfrm>
            <a:off x="6769173" y="78871"/>
            <a:ext cx="2984679" cy="16017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ko-KR" altLang="en-US" sz="3600" b="1" i="0" u="none" strike="noStrike" kern="0" cap="none" spc="-10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Segoe U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ko-KR" altLang="en-US" sz="900" b="0" spc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</a:t>
            </a: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36" y="6540511"/>
            <a:ext cx="1318084" cy="17398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820" y="6571454"/>
            <a:ext cx="971686" cy="13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244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914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제목 및 내용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26578" lvl="0" indent="-244933" algn="l">
              <a:lnSpc>
                <a:spcPct val="90000"/>
              </a:lnSpc>
              <a:spcBef>
                <a:spcPts val="7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53156" lvl="1" indent="-244933" algn="l">
              <a:lnSpc>
                <a:spcPct val="90000"/>
              </a:lnSpc>
              <a:spcBef>
                <a:spcPts val="35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79734" lvl="2" indent="-244933" algn="l">
              <a:lnSpc>
                <a:spcPct val="90000"/>
              </a:lnSpc>
              <a:spcBef>
                <a:spcPts val="35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06312" lvl="3" indent="-244933" algn="l">
              <a:lnSpc>
                <a:spcPct val="90000"/>
              </a:lnSpc>
              <a:spcBef>
                <a:spcPts val="35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632890" lvl="4" indent="-244933" algn="l">
              <a:lnSpc>
                <a:spcPct val="90000"/>
              </a:lnSpc>
              <a:spcBef>
                <a:spcPts val="35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959468" lvl="5" indent="-244933" algn="l">
              <a:lnSpc>
                <a:spcPct val="90000"/>
              </a:lnSpc>
              <a:spcBef>
                <a:spcPts val="35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286046" lvl="6" indent="-244933" algn="l">
              <a:lnSpc>
                <a:spcPct val="90000"/>
              </a:lnSpc>
              <a:spcBef>
                <a:spcPts val="35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612624" lvl="7" indent="-244933" algn="l">
              <a:lnSpc>
                <a:spcPct val="90000"/>
              </a:lnSpc>
              <a:spcBef>
                <a:spcPts val="35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939202" lvl="8" indent="-244933" algn="l">
              <a:lnSpc>
                <a:spcPct val="90000"/>
              </a:lnSpc>
              <a:spcBef>
                <a:spcPts val="35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857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857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857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857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857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857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857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857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857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205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7" r:id="rId3"/>
    <p:sldLayoutId id="2147483693" r:id="rId4"/>
    <p:sldLayoutId id="2147483691" r:id="rId5"/>
    <p:sldLayoutId id="2147483692" r:id="rId6"/>
    <p:sldLayoutId id="2147483690" r:id="rId7"/>
    <p:sldLayoutId id="2147483694" r:id="rId8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emf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7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1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1054"/>
          <p:cNvSpPr txBox="1">
            <a:spLocks noChangeArrowheads="1"/>
          </p:cNvSpPr>
          <p:nvPr/>
        </p:nvSpPr>
        <p:spPr bwMode="auto">
          <a:xfrm>
            <a:off x="273050" y="1931725"/>
            <a:ext cx="93599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50000"/>
              </a:spcBef>
            </a:pPr>
            <a:r>
              <a:rPr lang="ko-KR" altLang="en-US" sz="3600" b="1" spc="-50" dirty="0">
                <a:latin typeface="+mn-ea"/>
                <a:ea typeface="+mn-ea"/>
              </a:rPr>
              <a:t>아키텍처 설계서</a:t>
            </a:r>
            <a:r>
              <a:rPr lang="en-US" altLang="ko-KR" sz="3600" b="1" spc="-50" dirty="0">
                <a:latin typeface="+mn-ea"/>
                <a:ea typeface="+mn-ea"/>
              </a:rPr>
              <a:t/>
            </a:r>
            <a:br>
              <a:rPr lang="en-US" altLang="ko-KR" sz="3600" b="1" spc="-50" dirty="0">
                <a:latin typeface="+mn-ea"/>
                <a:ea typeface="+mn-ea"/>
              </a:rPr>
            </a:br>
            <a:r>
              <a:rPr lang="en-US" altLang="ko-KR" sz="2000" b="1" spc="-50" dirty="0">
                <a:latin typeface="+mn-ea"/>
                <a:ea typeface="+mn-ea"/>
              </a:rPr>
              <a:t>- EBS -</a:t>
            </a:r>
            <a:endParaRPr lang="ko-KR" altLang="en-US" sz="2000" b="1" spc="-50" dirty="0">
              <a:latin typeface="+mn-ea"/>
              <a:ea typeface="+mn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287554"/>
              </p:ext>
            </p:extLst>
          </p:nvPr>
        </p:nvGraphicFramePr>
        <p:xfrm>
          <a:off x="5718085" y="363637"/>
          <a:ext cx="391486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8644">
                  <a:extLst>
                    <a:ext uri="{9D8B030D-6E8A-4147-A177-3AD203B41FA5}">
                      <a16:colId xmlns:a16="http://schemas.microsoft.com/office/drawing/2014/main" val="108894216"/>
                    </a:ext>
                  </a:extLst>
                </a:gridCol>
                <a:gridCol w="2626221">
                  <a:extLst>
                    <a:ext uri="{9D8B030D-6E8A-4147-A177-3AD203B41FA5}">
                      <a16:colId xmlns:a16="http://schemas.microsoft.com/office/drawing/2014/main" val="683177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+mj-lt"/>
                        </a:rPr>
                        <a:t>문서번호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tx1"/>
                          </a:solidFill>
                          <a:latin typeface="+mj-lt"/>
                        </a:rPr>
                        <a:t>EAD-CM-01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039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+mj-lt"/>
                        </a:rPr>
                        <a:t>버전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tx1"/>
                          </a:solidFill>
                          <a:latin typeface="+mj-lt"/>
                        </a:rPr>
                        <a:t>V1.6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468037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669955"/>
              </p:ext>
            </p:extLst>
          </p:nvPr>
        </p:nvGraphicFramePr>
        <p:xfrm>
          <a:off x="710242" y="3551394"/>
          <a:ext cx="8485516" cy="879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2458">
                  <a:extLst>
                    <a:ext uri="{9D8B030D-6E8A-4147-A177-3AD203B41FA5}">
                      <a16:colId xmlns:a16="http://schemas.microsoft.com/office/drawing/2014/main" val="108894216"/>
                    </a:ext>
                  </a:extLst>
                </a:gridCol>
                <a:gridCol w="6943058">
                  <a:extLst>
                    <a:ext uri="{9D8B030D-6E8A-4147-A177-3AD203B41FA5}">
                      <a16:colId xmlns:a16="http://schemas.microsoft.com/office/drawing/2014/main" val="68317781"/>
                    </a:ext>
                  </a:extLst>
                </a:gridCol>
              </a:tblGrid>
              <a:tr h="879794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1900" b="1" dirty="0" err="1">
                          <a:solidFill>
                            <a:schemeClr val="tx1"/>
                          </a:solidFill>
                          <a:latin typeface="+mj-lt"/>
                        </a:rPr>
                        <a:t>사업명</a:t>
                      </a:r>
                      <a:endParaRPr lang="ko-KR" altLang="en-US" sz="19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900" b="1" dirty="0">
                          <a:solidFill>
                            <a:schemeClr val="tx1"/>
                          </a:solidFill>
                          <a:latin typeface="+mj-lt"/>
                        </a:rPr>
                        <a:t>EBS AI </a:t>
                      </a:r>
                      <a:r>
                        <a:rPr lang="ko-KR" altLang="en-US" sz="1900" b="1" dirty="0">
                          <a:solidFill>
                            <a:schemeClr val="tx1"/>
                          </a:solidFill>
                          <a:latin typeface="+mj-lt"/>
                        </a:rPr>
                        <a:t>단추 고도화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039127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391529"/>
            <a:ext cx="2991267" cy="342948"/>
          </a:xfrm>
          <a:prstGeom prst="rect">
            <a:avLst/>
          </a:prstGeom>
        </p:spPr>
      </p:pic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140" y="6264315"/>
            <a:ext cx="1569720" cy="27432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3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009472"/>
              </p:ext>
            </p:extLst>
          </p:nvPr>
        </p:nvGraphicFramePr>
        <p:xfrm>
          <a:off x="415701" y="953719"/>
          <a:ext cx="9037004" cy="4974570"/>
        </p:xfrm>
        <a:graphic>
          <a:graphicData uri="http://schemas.openxmlformats.org/drawingml/2006/table">
            <a:tbl>
              <a:tblPr/>
              <a:tblGrid>
                <a:gridCol w="10801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205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63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날짜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버전</a:t>
                      </a: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작성자</a:t>
                      </a: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승인자</a:t>
                      </a: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내용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3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2024-10-14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1.0</a:t>
                      </a: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이상민</a:t>
                      </a: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이형진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최초 작성</a:t>
                      </a: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3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2024-11-22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1.1</a:t>
                      </a: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이상민</a:t>
                      </a: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이형진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AS-IS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서비스 및 아키텍처 분석을 통한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TO-BE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아키텍쳐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 설계</a:t>
                      </a: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3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2024-12-17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1.2</a:t>
                      </a: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이상민</a:t>
                      </a: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이형진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Transit VPC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도입으로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Transit VPC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활용한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아키텍쳐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변경적용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 가능성 검토 및 확정</a:t>
                      </a: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3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2025-03-15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1.4</a:t>
                      </a: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이상민</a:t>
                      </a: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감리 수정보완</a:t>
                      </a: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3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2025-03-26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1.6</a:t>
                      </a: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이상민</a:t>
                      </a: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cs typeface="+mn-cs"/>
                        </a:rPr>
                        <a:t>감리 수정보완</a:t>
                      </a: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3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3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63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63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63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63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63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63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63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63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63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63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  <a:cs typeface="+mn-cs"/>
                      </a:endParaRPr>
                    </a:p>
                  </a:txBody>
                  <a:tcPr marL="91410" marR="91410" marT="45697" marB="456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텍스트 개체 틀 1"/>
          <p:cNvSpPr txBox="1">
            <a:spLocks/>
          </p:cNvSpPr>
          <p:nvPr/>
        </p:nvSpPr>
        <p:spPr>
          <a:xfrm>
            <a:off x="4418246" y="183878"/>
            <a:ext cx="2064924" cy="351569"/>
          </a:xfrm>
          <a:prstGeom prst="rect">
            <a:avLst/>
          </a:prstGeom>
        </p:spPr>
        <p:txBody>
          <a:bodyPr lIns="0" tIns="0" rIns="0" bIns="0" anchor="b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 marL="0" indent="0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b="1" kern="1200" spc="-1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defRPr/>
            </a:pPr>
            <a:r>
              <a:rPr lang="ko-KR" altLang="en-US" spc="0">
                <a:solidFill>
                  <a:prstClr val="black"/>
                </a:solidFill>
                <a:sym typeface="Malgun Gothic"/>
              </a:rPr>
              <a:t>개정이력</a:t>
            </a:r>
            <a:endParaRPr lang="ko-KR" altLang="en-US" spc="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2593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2D68AE9-E4B8-43F3-A9AA-182EA841F657}"/>
              </a:ext>
            </a:extLst>
          </p:cNvPr>
          <p:cNvGrpSpPr/>
          <p:nvPr/>
        </p:nvGrpSpPr>
        <p:grpSpPr>
          <a:xfrm>
            <a:off x="2372737" y="1410888"/>
            <a:ext cx="4445586" cy="501982"/>
            <a:chOff x="3872880" y="3469258"/>
            <a:chExt cx="4445586" cy="50198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F48A10D-9FF5-4B40-B68A-647FEA47C009}"/>
                </a:ext>
              </a:extLst>
            </p:cNvPr>
            <p:cNvSpPr txBox="1"/>
            <p:nvPr/>
          </p:nvSpPr>
          <p:spPr>
            <a:xfrm>
              <a:off x="4520952" y="3511847"/>
              <a:ext cx="3797514" cy="43088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90488" marR="0" lvl="0" indent="90488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아키텍처 설계</a:t>
              </a:r>
              <a:r>
                <a:rPr kumimoji="0" lang="ko-KR" altLang="en-US" sz="2800" b="1" dirty="0">
                  <a:solidFill>
                    <a:prstClr val="black"/>
                  </a:solidFill>
                </a:rPr>
                <a:t>안</a:t>
              </a:r>
              <a:r>
                <a:rPr kumimoji="0" lang="en-US" altLang="ko-KR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</a:t>
              </a:r>
              <a:r>
                <a:rPr kumimoji="0" lang="ko-KR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요약</a:t>
              </a:r>
              <a:r>
                <a:rPr kumimoji="0" lang="en-US" altLang="ko-KR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)</a:t>
              </a:r>
              <a:endPara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사각형: 둥근 모서리 9">
              <a:extLst>
                <a:ext uri="{FF2B5EF4-FFF2-40B4-BE49-F238E27FC236}">
                  <a16:creationId xmlns:a16="http://schemas.microsoft.com/office/drawing/2014/main" id="{004112B2-7DBC-4498-9A53-883ADE622DB0}"/>
                </a:ext>
              </a:extLst>
            </p:cNvPr>
            <p:cNvSpPr/>
            <p:nvPr/>
          </p:nvSpPr>
          <p:spPr>
            <a:xfrm>
              <a:off x="3872880" y="3469258"/>
              <a:ext cx="501982" cy="501982"/>
            </a:xfrm>
            <a:prstGeom prst="roundRect">
              <a:avLst/>
            </a:prstGeom>
            <a:solidFill>
              <a:srgbClr val="1D55A4"/>
            </a:solidFill>
            <a:ln w="9525">
              <a:solidFill>
                <a:srgbClr val="23426F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36000" rIns="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sx="102000" sy="102000" algn="ctr" rotWithShape="0">
                      <a:prstClr val="black">
                        <a:alpha val="70000"/>
                      </a:prst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  <a:cs typeface="+mn-cs"/>
                </a:rPr>
                <a:t>Ⅰ</a:t>
              </a:r>
              <a:endPara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sx="102000" sy="102000" algn="ctr" rotWithShape="0">
                    <a:prstClr val="black">
                      <a:alpha val="70000"/>
                    </a:prstClr>
                  </a:outerShdw>
                </a:effectLst>
                <a:uLnTx/>
                <a:uFillTx/>
                <a:latin typeface="HY견명조" panose="02030600000101010101" pitchFamily="18" charset="-127"/>
                <a:ea typeface="HY견명조" panose="02030600000101010101" pitchFamily="18" charset="-127"/>
                <a:cs typeface="+mn-cs"/>
              </a:endParaRPr>
            </a:p>
          </p:txBody>
        </p:sp>
      </p:grpSp>
      <p:sp>
        <p:nvSpPr>
          <p:cNvPr id="5" name="직사각형 4"/>
          <p:cNvSpPr/>
          <p:nvPr/>
        </p:nvSpPr>
        <p:spPr>
          <a:xfrm>
            <a:off x="1937664" y="2303491"/>
            <a:ext cx="6390711" cy="4113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1950" lvl="0" indent="-36195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altLang="ko-KR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AS-IS </a:t>
            </a:r>
            <a:r>
              <a:rPr lang="ko-KR" altLang="en-US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분석</a:t>
            </a:r>
            <a:r>
              <a:rPr lang="en-US" altLang="ko-KR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 (1/2) – Cloud Architecture 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361950" indent="-36195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altLang="ko-KR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AS-IS </a:t>
            </a:r>
            <a:r>
              <a:rPr lang="ko-KR" altLang="en-US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분석 </a:t>
            </a:r>
            <a:r>
              <a:rPr lang="en-US" altLang="ko-KR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(2/2) – Service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361950" lvl="0" indent="-36195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altLang="ko-KR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Cloud Infra Architecture </a:t>
            </a:r>
            <a:r>
              <a:rPr lang="ko-KR" altLang="en-US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구성 고려사항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361950" lvl="0" indent="-36195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altLang="ko-KR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Cloud Infra Architecture </a:t>
            </a:r>
            <a:r>
              <a:rPr lang="ko-KR" altLang="en-US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구성 </a:t>
            </a:r>
            <a:r>
              <a:rPr lang="en-US" altLang="ko-KR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(1/2)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</a:endParaRPr>
          </a:p>
          <a:p>
            <a:pPr marL="361950" indent="-36195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altLang="ko-KR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Cloud Infra Architecture </a:t>
            </a:r>
            <a:r>
              <a:rPr lang="ko-KR" altLang="en-US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구성 </a:t>
            </a:r>
            <a:r>
              <a:rPr lang="en-US" altLang="ko-KR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(2/2)</a:t>
            </a:r>
            <a:endParaRPr lang="ko-KR" altLang="en-US" sz="1400" dirty="0">
              <a:latin typeface="+mj-ea"/>
              <a:ea typeface="+mj-ea"/>
            </a:endParaRPr>
          </a:p>
          <a:p>
            <a:pPr marL="361950" indent="-36195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altLang="ko-KR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TO-BE </a:t>
            </a:r>
            <a:r>
              <a:rPr lang="ko-KR" altLang="en-US" sz="1800" dirty="0" err="1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시험계</a:t>
            </a:r>
            <a:r>
              <a:rPr lang="en-US" altLang="ko-KR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 Architecture </a:t>
            </a:r>
            <a:r>
              <a:rPr lang="ko-KR" altLang="en-US" sz="1800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rPr>
              <a:t>구성도</a:t>
            </a:r>
            <a:endParaRPr lang="en-US" altLang="ko-KR" sz="1800" dirty="0">
              <a:solidFill>
                <a:schemeClr val="dk1"/>
              </a:solidFill>
              <a:latin typeface="+mj-ea"/>
              <a:ea typeface="+mj-ea"/>
              <a:cs typeface="Malgun Gothic"/>
              <a:sym typeface="Malgun Gothic"/>
            </a:endParaRPr>
          </a:p>
          <a:p>
            <a:pPr marL="361950" indent="-36195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altLang="ko-KR" sz="1800" dirty="0">
                <a:solidFill>
                  <a:schemeClr val="dk1"/>
                </a:solidFill>
                <a:latin typeface="+mj-lt"/>
                <a:ea typeface="Malgun Gothic"/>
                <a:cs typeface="Malgun Gothic"/>
                <a:sym typeface="Malgun Gothic"/>
              </a:rPr>
              <a:t>Transit VPC</a:t>
            </a:r>
            <a:r>
              <a:rPr lang="ko-KR" altLang="en-US" sz="1800" dirty="0">
                <a:solidFill>
                  <a:schemeClr val="dk1"/>
                </a:solidFill>
                <a:latin typeface="+mj-lt"/>
                <a:ea typeface="Malgun Gothic"/>
                <a:cs typeface="Malgun Gothic"/>
                <a:sym typeface="Malgun Gothic"/>
              </a:rPr>
              <a:t> 개념도</a:t>
            </a:r>
            <a:endParaRPr lang="en-US" altLang="ko-KR" sz="1800" dirty="0">
              <a:solidFill>
                <a:schemeClr val="dk1"/>
              </a:solidFill>
              <a:latin typeface="+mj-lt"/>
              <a:ea typeface="Malgun Gothic"/>
              <a:cs typeface="Malgun Gothic"/>
              <a:sym typeface="Malgun Gothic"/>
            </a:endParaRPr>
          </a:p>
          <a:p>
            <a:pPr marL="361950" indent="-36195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altLang="ko-KR" sz="1800" dirty="0">
                <a:solidFill>
                  <a:schemeClr val="dk1"/>
                </a:solidFill>
                <a:latin typeface="+mj-lt"/>
                <a:ea typeface="Malgun Gothic"/>
                <a:cs typeface="Malgun Gothic"/>
                <a:sym typeface="Malgun Gothic"/>
              </a:rPr>
              <a:t>TO-BE </a:t>
            </a:r>
            <a:r>
              <a:rPr lang="ko-KR" altLang="en-US" sz="1800" dirty="0" err="1">
                <a:solidFill>
                  <a:schemeClr val="dk1"/>
                </a:solidFill>
                <a:latin typeface="+mj-lt"/>
                <a:ea typeface="Malgun Gothic"/>
                <a:cs typeface="Malgun Gothic"/>
                <a:sym typeface="Malgun Gothic"/>
              </a:rPr>
              <a:t>운영계</a:t>
            </a:r>
            <a:r>
              <a:rPr lang="ko-KR" altLang="en-US" sz="1800" dirty="0">
                <a:solidFill>
                  <a:schemeClr val="dk1"/>
                </a:solidFill>
                <a:latin typeface="+mj-lt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800" dirty="0">
                <a:solidFill>
                  <a:schemeClr val="dk1"/>
                </a:solidFill>
                <a:latin typeface="+mj-lt"/>
                <a:ea typeface="Malgun Gothic"/>
                <a:cs typeface="Malgun Gothic"/>
                <a:sym typeface="Malgun Gothic"/>
              </a:rPr>
              <a:t>Transit VPC</a:t>
            </a:r>
            <a:r>
              <a:rPr lang="ko-KR" altLang="en-US" sz="1800" dirty="0">
                <a:solidFill>
                  <a:schemeClr val="dk1"/>
                </a:solidFill>
                <a:latin typeface="+mj-lt"/>
                <a:ea typeface="Malgun Gothic"/>
                <a:cs typeface="Malgun Gothic"/>
                <a:sym typeface="Malgun Gothic"/>
              </a:rPr>
              <a:t> 활용</a:t>
            </a:r>
            <a:r>
              <a:rPr lang="en-US" altLang="ko-KR" sz="1800" dirty="0">
                <a:solidFill>
                  <a:schemeClr val="dk1"/>
                </a:solidFill>
                <a:latin typeface="+mj-lt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800" dirty="0" err="1">
                <a:solidFill>
                  <a:schemeClr val="dk1"/>
                </a:solidFill>
                <a:latin typeface="+mj-lt"/>
                <a:ea typeface="Malgun Gothic"/>
                <a:cs typeface="Malgun Gothic"/>
                <a:sym typeface="Malgun Gothic"/>
              </a:rPr>
              <a:t>구성</a:t>
            </a:r>
            <a:r>
              <a:rPr lang="ko-KR" altLang="en-US" sz="1800" dirty="0">
                <a:solidFill>
                  <a:schemeClr val="dk1"/>
                </a:solidFill>
                <a:latin typeface="+mj-lt"/>
                <a:ea typeface="Malgun Gothic"/>
                <a:cs typeface="Malgun Gothic"/>
                <a:sym typeface="Malgun Gothic"/>
              </a:rPr>
              <a:t>안</a:t>
            </a:r>
            <a:endParaRPr lang="en-US" altLang="ko-KR" sz="1800" dirty="0">
              <a:solidFill>
                <a:schemeClr val="dk1"/>
              </a:solidFill>
              <a:latin typeface="+mj-lt"/>
              <a:ea typeface="Malgun Gothic"/>
              <a:cs typeface="Malgun Gothic"/>
              <a:sym typeface="Malgun Gothic"/>
            </a:endParaRPr>
          </a:p>
          <a:p>
            <a:pPr marL="361950" indent="-36195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ko-KR" altLang="en-US" sz="1800" dirty="0">
                <a:solidFill>
                  <a:schemeClr val="dk1"/>
                </a:solidFill>
                <a:latin typeface="+mj-lt"/>
                <a:ea typeface="Malgun Gothic"/>
                <a:cs typeface="Malgun Gothic"/>
                <a:sym typeface="Malgun Gothic"/>
              </a:rPr>
              <a:t>아키텍처 장점</a:t>
            </a:r>
            <a:r>
              <a:rPr lang="en-US" altLang="ko-KR" sz="1800" dirty="0">
                <a:solidFill>
                  <a:schemeClr val="dk1"/>
                </a:solidFill>
                <a:latin typeface="+mj-lt"/>
                <a:ea typeface="Malgun Gothic"/>
                <a:cs typeface="Malgun Gothic"/>
                <a:sym typeface="Malgun Gothic"/>
              </a:rPr>
              <a:t/>
            </a:r>
            <a:br>
              <a:rPr lang="en-US" altLang="ko-KR" sz="1800" dirty="0">
                <a:solidFill>
                  <a:schemeClr val="dk1"/>
                </a:solidFill>
                <a:latin typeface="+mj-lt"/>
                <a:ea typeface="Malgun Gothic"/>
                <a:cs typeface="Malgun Gothic"/>
                <a:sym typeface="Malgun Gothic"/>
              </a:rPr>
            </a:br>
            <a:r>
              <a:rPr lang="en-US" altLang="ko-KR" sz="1400" dirty="0">
                <a:solidFill>
                  <a:schemeClr val="dk1"/>
                </a:solidFill>
                <a:latin typeface="+mj-lt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1400" dirty="0">
                <a:solidFill>
                  <a:schemeClr val="dk1"/>
                </a:solidFill>
                <a:latin typeface="+mj-lt"/>
                <a:ea typeface="Malgun Gothic"/>
                <a:cs typeface="Malgun Gothic"/>
                <a:sym typeface="Malgun Gothic"/>
              </a:rPr>
              <a:t>별첨</a:t>
            </a:r>
            <a:r>
              <a:rPr lang="en-US" altLang="ko-KR" sz="1400" dirty="0">
                <a:solidFill>
                  <a:schemeClr val="dk1"/>
                </a:solidFill>
                <a:latin typeface="+mj-lt"/>
                <a:ea typeface="Malgun Gothic"/>
                <a:cs typeface="Malgun Gothic"/>
                <a:sym typeface="Malgun Gothic"/>
              </a:rPr>
              <a:t>] </a:t>
            </a:r>
            <a:r>
              <a:rPr lang="en-US" altLang="ko-KR" sz="1400" dirty="0">
                <a:latin typeface="+mj-lt"/>
              </a:rPr>
              <a:t>EBS </a:t>
            </a:r>
            <a:r>
              <a:rPr lang="ko-KR" altLang="en-US" sz="1400" dirty="0">
                <a:latin typeface="+mj-lt"/>
              </a:rPr>
              <a:t>단추 고도화 전체 아키텍처</a:t>
            </a:r>
            <a:endParaRPr lang="ko-KR" altLang="en-US" sz="1100" dirty="0">
              <a:latin typeface="+mj-lt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F238AC-59C9-46E8-BA96-40A6C533E69D}"/>
              </a:ext>
            </a:extLst>
          </p:cNvPr>
          <p:cNvGrpSpPr/>
          <p:nvPr/>
        </p:nvGrpSpPr>
        <p:grpSpPr>
          <a:xfrm>
            <a:off x="965675" y="1229831"/>
            <a:ext cx="7974650" cy="864096"/>
            <a:chOff x="2360712" y="3284984"/>
            <a:chExt cx="5184576" cy="864096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EF557695-4AB0-404B-B66B-A808018B0584}"/>
                </a:ext>
              </a:extLst>
            </p:cNvPr>
            <p:cNvCxnSpPr/>
            <p:nvPr userDrawn="1"/>
          </p:nvCxnSpPr>
          <p:spPr>
            <a:xfrm>
              <a:off x="2360712" y="3284984"/>
              <a:ext cx="51845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56670DC8-3ECF-49C1-8A31-A272244B8119}"/>
                </a:ext>
              </a:extLst>
            </p:cNvPr>
            <p:cNvCxnSpPr/>
            <p:nvPr userDrawn="1"/>
          </p:nvCxnSpPr>
          <p:spPr>
            <a:xfrm>
              <a:off x="2360712" y="4149080"/>
              <a:ext cx="5184576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8038693-CDC6-4CA6-BEF0-D0AE9E86D8A7}"/>
              </a:ext>
            </a:extLst>
          </p:cNvPr>
          <p:cNvSpPr txBox="1"/>
          <p:nvPr/>
        </p:nvSpPr>
        <p:spPr>
          <a:xfrm>
            <a:off x="3317324" y="597243"/>
            <a:ext cx="3271381" cy="6423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0" tIns="180000" rIns="360000" bIns="180000" rtlCol="0" anchor="ctr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ko-KR" sz="1800" b="1" dirty="0"/>
              <a:t>EBS AI </a:t>
            </a:r>
            <a:r>
              <a:rPr lang="ko-KR" altLang="en-US" sz="1800" b="1" dirty="0"/>
              <a:t>단추 고도화 </a:t>
            </a:r>
            <a:r>
              <a:rPr lang="ko-KR" altLang="en-US" sz="1800" b="1" spc="-136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</a:rPr>
              <a:t>사업</a:t>
            </a:r>
          </a:p>
        </p:txBody>
      </p:sp>
    </p:spTree>
    <p:extLst>
      <p:ext uri="{BB962C8B-B14F-4D97-AF65-F5344CB8AC3E}">
        <p14:creationId xmlns:p14="http://schemas.microsoft.com/office/powerpoint/2010/main" val="2152098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157DA9A4-3F9F-7589-A622-0620D89930E3}"/>
              </a:ext>
            </a:extLst>
          </p:cNvPr>
          <p:cNvGrpSpPr/>
          <p:nvPr/>
        </p:nvGrpSpPr>
        <p:grpSpPr>
          <a:xfrm>
            <a:off x="553967" y="1178750"/>
            <a:ext cx="5496312" cy="4787898"/>
            <a:chOff x="1640272" y="876302"/>
            <a:chExt cx="6764692" cy="5892797"/>
          </a:xfrm>
        </p:grpSpPr>
        <p:sp>
          <p:nvSpPr>
            <p:cNvPr id="7" name="Google Shape;90;p2">
              <a:extLst>
                <a:ext uri="{FF2B5EF4-FFF2-40B4-BE49-F238E27FC236}">
                  <a16:creationId xmlns:a16="http://schemas.microsoft.com/office/drawing/2014/main" id="{2B669AB0-D3C8-869A-A858-1674EC8F224B}"/>
                </a:ext>
              </a:extLst>
            </p:cNvPr>
            <p:cNvSpPr/>
            <p:nvPr/>
          </p:nvSpPr>
          <p:spPr>
            <a:xfrm>
              <a:off x="1640272" y="876302"/>
              <a:ext cx="6764692" cy="5892797"/>
            </a:xfrm>
            <a:prstGeom prst="rect">
              <a:avLst/>
            </a:prstGeom>
            <a:noFill/>
            <a:ln w="19050" cap="flat" cmpd="sng">
              <a:solidFill>
                <a:srgbClr val="AAAAAA"/>
              </a:solidFill>
              <a:prstDash val="sysDot"/>
              <a:miter lim="800000"/>
              <a:headEnd type="none" w="sm" len="sm"/>
              <a:tailEnd type="none" w="sm" len="sm"/>
            </a:ln>
          </p:spPr>
          <p:txBody>
            <a:bodyPr spcFirstLastPara="1" wrap="square" lIns="74283" tIns="37131" rIns="74283" bIns="37131" anchor="ctr" anchorCtr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</a:pPr>
              <a:endParaRPr sz="1463">
                <a:solidFill>
                  <a:schemeClr val="lt1"/>
                </a:solidFill>
                <a:latin typeface="+mn-ea"/>
                <a:cs typeface="Malgun Gothic"/>
                <a:sym typeface="Malgun Gothic"/>
              </a:endParaRPr>
            </a:p>
          </p:txBody>
        </p:sp>
        <p:sp>
          <p:nvSpPr>
            <p:cNvPr id="8" name="Google Shape;91;p2">
              <a:extLst>
                <a:ext uri="{FF2B5EF4-FFF2-40B4-BE49-F238E27FC236}">
                  <a16:creationId xmlns:a16="http://schemas.microsoft.com/office/drawing/2014/main" id="{BFF7A3FD-0349-BF80-7105-F5918BA38A83}"/>
                </a:ext>
              </a:extLst>
            </p:cNvPr>
            <p:cNvSpPr txBox="1"/>
            <p:nvPr/>
          </p:nvSpPr>
          <p:spPr>
            <a:xfrm>
              <a:off x="1997690" y="906474"/>
              <a:ext cx="2025527" cy="3693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4283" tIns="37131" rIns="74283" bIns="37131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</a:pPr>
              <a:r>
                <a:rPr lang="en-US" sz="1463">
                  <a:solidFill>
                    <a:srgbClr val="5DA1C3"/>
                  </a:solidFill>
                  <a:latin typeface="+mn-ea"/>
                  <a:cs typeface="Malgun Gothic"/>
                  <a:sym typeface="Malgun Gothic"/>
                </a:rPr>
                <a:t>운영 VPC</a:t>
              </a:r>
              <a:endParaRPr sz="1463">
                <a:solidFill>
                  <a:srgbClr val="5DA1C3"/>
                </a:solidFill>
                <a:latin typeface="+mn-ea"/>
                <a:cs typeface="Malgun Gothic"/>
                <a:sym typeface="Malgun Gothic"/>
              </a:endParaRPr>
            </a:p>
          </p:txBody>
        </p:sp>
        <p:pic>
          <p:nvPicPr>
            <p:cNvPr id="9" name="Google Shape;92;p2">
              <a:extLst>
                <a:ext uri="{FF2B5EF4-FFF2-40B4-BE49-F238E27FC236}">
                  <a16:creationId xmlns:a16="http://schemas.microsoft.com/office/drawing/2014/main" id="{63CAE26E-B700-0285-CFAC-AF989CC5108B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640272" y="876302"/>
              <a:ext cx="421979" cy="48368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8" name="그룹 247">
            <a:extLst>
              <a:ext uri="{FF2B5EF4-FFF2-40B4-BE49-F238E27FC236}">
                <a16:creationId xmlns:a16="http://schemas.microsoft.com/office/drawing/2014/main" id="{61411782-4EAC-0EB4-5FC5-D0B41B2FA74A}"/>
              </a:ext>
            </a:extLst>
          </p:cNvPr>
          <p:cNvGrpSpPr/>
          <p:nvPr/>
        </p:nvGrpSpPr>
        <p:grpSpPr>
          <a:xfrm>
            <a:off x="553967" y="5082887"/>
            <a:ext cx="5496311" cy="875359"/>
            <a:chOff x="1640273" y="5681393"/>
            <a:chExt cx="6764690" cy="1077365"/>
          </a:xfrm>
        </p:grpSpPr>
        <p:sp>
          <p:nvSpPr>
            <p:cNvPr id="11" name="Google Shape;94;p2">
              <a:extLst>
                <a:ext uri="{FF2B5EF4-FFF2-40B4-BE49-F238E27FC236}">
                  <a16:creationId xmlns:a16="http://schemas.microsoft.com/office/drawing/2014/main" id="{CBA17DED-3F44-84C4-F4FA-FC7492626016}"/>
                </a:ext>
              </a:extLst>
            </p:cNvPr>
            <p:cNvSpPr/>
            <p:nvPr/>
          </p:nvSpPr>
          <p:spPr>
            <a:xfrm>
              <a:off x="1640273" y="5688935"/>
              <a:ext cx="6764690" cy="1069823"/>
            </a:xfrm>
            <a:prstGeom prst="rect">
              <a:avLst/>
            </a:prstGeom>
            <a:solidFill>
              <a:srgbClr val="ABDAF2">
                <a:alpha val="29411"/>
              </a:srgbClr>
            </a:solidFill>
            <a:ln>
              <a:noFill/>
            </a:ln>
          </p:spPr>
          <p:txBody>
            <a:bodyPr spcFirstLastPara="1" wrap="square" lIns="74283" tIns="37131" rIns="74283" bIns="37131" anchor="ctr" anchorCtr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</a:pPr>
              <a:endParaRPr sz="1463">
                <a:solidFill>
                  <a:schemeClr val="lt1"/>
                </a:solidFill>
                <a:latin typeface="+mn-ea"/>
                <a:cs typeface="Malgun Gothic"/>
                <a:sym typeface="Malgun Gothic"/>
              </a:endParaRPr>
            </a:p>
          </p:txBody>
        </p:sp>
        <p:sp>
          <p:nvSpPr>
            <p:cNvPr id="12" name="Google Shape;95;p2">
              <a:extLst>
                <a:ext uri="{FF2B5EF4-FFF2-40B4-BE49-F238E27FC236}">
                  <a16:creationId xmlns:a16="http://schemas.microsoft.com/office/drawing/2014/main" id="{9AC0950C-6B3D-1758-281E-ADC76FA03909}"/>
                </a:ext>
              </a:extLst>
            </p:cNvPr>
            <p:cNvSpPr txBox="1"/>
            <p:nvPr/>
          </p:nvSpPr>
          <p:spPr>
            <a:xfrm>
              <a:off x="1848170" y="5681393"/>
              <a:ext cx="1018226" cy="2616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4283" tIns="37131" rIns="74283" bIns="37131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</a:pPr>
              <a:r>
                <a:rPr lang="en-US" sz="894" dirty="0">
                  <a:solidFill>
                    <a:srgbClr val="5DA1C3"/>
                  </a:solidFill>
                  <a:latin typeface="+mn-ea"/>
                  <a:cs typeface="Malgun Gothic"/>
                  <a:sym typeface="Malgun Gothic"/>
                </a:rPr>
                <a:t>DB subnet</a:t>
              </a:r>
              <a:endParaRPr sz="894" dirty="0">
                <a:solidFill>
                  <a:srgbClr val="5DA1C3"/>
                </a:solidFill>
                <a:latin typeface="+mn-ea"/>
                <a:cs typeface="Malgun Gothic"/>
                <a:sym typeface="Malgun Gothic"/>
              </a:endParaRPr>
            </a:p>
          </p:txBody>
        </p:sp>
        <p:pic>
          <p:nvPicPr>
            <p:cNvPr id="13" name="Google Shape;96;p2">
              <a:extLst>
                <a:ext uri="{FF2B5EF4-FFF2-40B4-BE49-F238E27FC236}">
                  <a16:creationId xmlns:a16="http://schemas.microsoft.com/office/drawing/2014/main" id="{6890121C-EB25-5E84-75BF-79EC2F4EE18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40273" y="5688935"/>
              <a:ext cx="230400" cy="26582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9735599D-3EEF-AD8D-D663-FF2581B5AC9B}"/>
              </a:ext>
            </a:extLst>
          </p:cNvPr>
          <p:cNvGrpSpPr/>
          <p:nvPr/>
        </p:nvGrpSpPr>
        <p:grpSpPr>
          <a:xfrm>
            <a:off x="553968" y="3860398"/>
            <a:ext cx="5496311" cy="1102283"/>
            <a:chOff x="1640274" y="4176792"/>
            <a:chExt cx="6764690" cy="1356656"/>
          </a:xfrm>
        </p:grpSpPr>
        <p:sp>
          <p:nvSpPr>
            <p:cNvPr id="15" name="Google Shape;98;p2">
              <a:extLst>
                <a:ext uri="{FF2B5EF4-FFF2-40B4-BE49-F238E27FC236}">
                  <a16:creationId xmlns:a16="http://schemas.microsoft.com/office/drawing/2014/main" id="{7F8DB0F4-3A7B-8710-EC41-6E18D0D74483}"/>
                </a:ext>
              </a:extLst>
            </p:cNvPr>
            <p:cNvSpPr/>
            <p:nvPr/>
          </p:nvSpPr>
          <p:spPr>
            <a:xfrm>
              <a:off x="1640274" y="4184334"/>
              <a:ext cx="6764690" cy="1349114"/>
            </a:xfrm>
            <a:prstGeom prst="rect">
              <a:avLst/>
            </a:prstGeom>
            <a:solidFill>
              <a:srgbClr val="ABDAF2">
                <a:alpha val="29411"/>
              </a:srgbClr>
            </a:solidFill>
            <a:ln>
              <a:noFill/>
            </a:ln>
          </p:spPr>
          <p:txBody>
            <a:bodyPr spcFirstLastPara="1" wrap="square" lIns="74283" tIns="37131" rIns="74283" bIns="37131" anchor="ctr" anchorCtr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</a:pPr>
              <a:endParaRPr sz="1463">
                <a:solidFill>
                  <a:schemeClr val="lt1"/>
                </a:solidFill>
                <a:latin typeface="+mn-ea"/>
                <a:cs typeface="Malgun Gothic"/>
                <a:sym typeface="Malgun Gothic"/>
              </a:endParaRPr>
            </a:p>
          </p:txBody>
        </p:sp>
        <p:sp>
          <p:nvSpPr>
            <p:cNvPr id="16" name="Google Shape;99;p2">
              <a:extLst>
                <a:ext uri="{FF2B5EF4-FFF2-40B4-BE49-F238E27FC236}">
                  <a16:creationId xmlns:a16="http://schemas.microsoft.com/office/drawing/2014/main" id="{BE4A2076-3A78-3CCD-19A1-5CD06F049653}"/>
                </a:ext>
              </a:extLst>
            </p:cNvPr>
            <p:cNvSpPr txBox="1"/>
            <p:nvPr/>
          </p:nvSpPr>
          <p:spPr>
            <a:xfrm>
              <a:off x="1870673" y="4176792"/>
              <a:ext cx="1018226" cy="2616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4283" tIns="37131" rIns="74283" bIns="37131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</a:pPr>
              <a:r>
                <a:rPr lang="en-US" sz="894" dirty="0">
                  <a:solidFill>
                    <a:srgbClr val="5DA1C3"/>
                  </a:solidFill>
                  <a:latin typeface="+mn-ea"/>
                  <a:cs typeface="Malgun Gothic"/>
                  <a:sym typeface="Malgun Gothic"/>
                </a:rPr>
                <a:t>AI subnet</a:t>
              </a:r>
              <a:endParaRPr sz="894" dirty="0">
                <a:solidFill>
                  <a:srgbClr val="5DA1C3"/>
                </a:solidFill>
                <a:latin typeface="+mn-ea"/>
                <a:cs typeface="Malgun Gothic"/>
                <a:sym typeface="Malgun Gothic"/>
              </a:endParaRPr>
            </a:p>
          </p:txBody>
        </p:sp>
        <p:pic>
          <p:nvPicPr>
            <p:cNvPr id="17" name="Google Shape;100;p2">
              <a:extLst>
                <a:ext uri="{FF2B5EF4-FFF2-40B4-BE49-F238E27FC236}">
                  <a16:creationId xmlns:a16="http://schemas.microsoft.com/office/drawing/2014/main" id="{0C0FCD10-5A3F-DE44-0435-0F74B6BD78C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40274" y="4184334"/>
              <a:ext cx="230400" cy="26582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0" name="그룹 249">
            <a:extLst>
              <a:ext uri="{FF2B5EF4-FFF2-40B4-BE49-F238E27FC236}">
                <a16:creationId xmlns:a16="http://schemas.microsoft.com/office/drawing/2014/main" id="{40F0D203-E367-1071-63EC-26324EA2C96F}"/>
              </a:ext>
            </a:extLst>
          </p:cNvPr>
          <p:cNvGrpSpPr/>
          <p:nvPr/>
        </p:nvGrpSpPr>
        <p:grpSpPr>
          <a:xfrm>
            <a:off x="553968" y="2916517"/>
            <a:ext cx="5496311" cy="875359"/>
            <a:chOff x="1640274" y="3015092"/>
            <a:chExt cx="6764690" cy="1077365"/>
          </a:xfrm>
        </p:grpSpPr>
        <p:sp>
          <p:nvSpPr>
            <p:cNvPr id="19" name="Google Shape;102;p2">
              <a:extLst>
                <a:ext uri="{FF2B5EF4-FFF2-40B4-BE49-F238E27FC236}">
                  <a16:creationId xmlns:a16="http://schemas.microsoft.com/office/drawing/2014/main" id="{97699C36-F2AF-6591-6E2C-DD2DFD3E353B}"/>
                </a:ext>
              </a:extLst>
            </p:cNvPr>
            <p:cNvSpPr/>
            <p:nvPr/>
          </p:nvSpPr>
          <p:spPr>
            <a:xfrm>
              <a:off x="1640274" y="3022634"/>
              <a:ext cx="6764690" cy="1069823"/>
            </a:xfrm>
            <a:prstGeom prst="rect">
              <a:avLst/>
            </a:prstGeom>
            <a:solidFill>
              <a:srgbClr val="ABDAF2">
                <a:alpha val="29411"/>
              </a:srgbClr>
            </a:solidFill>
            <a:ln>
              <a:noFill/>
            </a:ln>
          </p:spPr>
          <p:txBody>
            <a:bodyPr spcFirstLastPara="1" wrap="square" lIns="74283" tIns="37131" rIns="74283" bIns="37131" anchor="ctr" anchorCtr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</a:pPr>
              <a:endParaRPr sz="1463">
                <a:solidFill>
                  <a:schemeClr val="lt1"/>
                </a:solidFill>
                <a:latin typeface="+mn-ea"/>
                <a:cs typeface="Malgun Gothic"/>
                <a:sym typeface="Malgun Gothic"/>
              </a:endParaRPr>
            </a:p>
          </p:txBody>
        </p:sp>
        <p:sp>
          <p:nvSpPr>
            <p:cNvPr id="20" name="Google Shape;103;p2">
              <a:extLst>
                <a:ext uri="{FF2B5EF4-FFF2-40B4-BE49-F238E27FC236}">
                  <a16:creationId xmlns:a16="http://schemas.microsoft.com/office/drawing/2014/main" id="{9EA9E4F5-70FD-5C1A-CC9D-C6623C762F65}"/>
                </a:ext>
              </a:extLst>
            </p:cNvPr>
            <p:cNvSpPr txBox="1"/>
            <p:nvPr/>
          </p:nvSpPr>
          <p:spPr>
            <a:xfrm>
              <a:off x="1870673" y="3015092"/>
              <a:ext cx="1524618" cy="2616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4283" tIns="37131" rIns="74283" bIns="37131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</a:pPr>
              <a:r>
                <a:rPr lang="en-US" sz="894" dirty="0">
                  <a:solidFill>
                    <a:srgbClr val="5DA1C3"/>
                  </a:solidFill>
                  <a:latin typeface="+mn-ea"/>
                  <a:cs typeface="Malgun Gothic"/>
                  <a:sym typeface="Malgun Gothic"/>
                </a:rPr>
                <a:t>Middleware subnet</a:t>
              </a:r>
              <a:endParaRPr sz="894" dirty="0">
                <a:solidFill>
                  <a:srgbClr val="5DA1C3"/>
                </a:solidFill>
                <a:latin typeface="+mn-ea"/>
                <a:cs typeface="Malgun Gothic"/>
                <a:sym typeface="Malgun Gothic"/>
              </a:endParaRPr>
            </a:p>
          </p:txBody>
        </p:sp>
        <p:pic>
          <p:nvPicPr>
            <p:cNvPr id="21" name="Google Shape;104;p2">
              <a:extLst>
                <a:ext uri="{FF2B5EF4-FFF2-40B4-BE49-F238E27FC236}">
                  <a16:creationId xmlns:a16="http://schemas.microsoft.com/office/drawing/2014/main" id="{0EEC2488-5C6A-7295-1C46-D570835F2F3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40274" y="3022634"/>
              <a:ext cx="230400" cy="26582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9" name="그룹 248">
            <a:extLst>
              <a:ext uri="{FF2B5EF4-FFF2-40B4-BE49-F238E27FC236}">
                <a16:creationId xmlns:a16="http://schemas.microsoft.com/office/drawing/2014/main" id="{011886FF-98A4-4B9E-DCD7-7CC453853F20}"/>
              </a:ext>
            </a:extLst>
          </p:cNvPr>
          <p:cNvGrpSpPr/>
          <p:nvPr/>
        </p:nvGrpSpPr>
        <p:grpSpPr>
          <a:xfrm>
            <a:off x="553966" y="1881039"/>
            <a:ext cx="5496311" cy="781867"/>
            <a:chOff x="1640272" y="1740658"/>
            <a:chExt cx="6764690" cy="962298"/>
          </a:xfrm>
        </p:grpSpPr>
        <p:sp>
          <p:nvSpPr>
            <p:cNvPr id="23" name="Google Shape;106;p2">
              <a:extLst>
                <a:ext uri="{FF2B5EF4-FFF2-40B4-BE49-F238E27FC236}">
                  <a16:creationId xmlns:a16="http://schemas.microsoft.com/office/drawing/2014/main" id="{A633BB8F-548B-8370-541F-F253B7CBAC0D}"/>
                </a:ext>
              </a:extLst>
            </p:cNvPr>
            <p:cNvSpPr/>
            <p:nvPr/>
          </p:nvSpPr>
          <p:spPr>
            <a:xfrm>
              <a:off x="1640272" y="1747332"/>
              <a:ext cx="6764690" cy="955624"/>
            </a:xfrm>
            <a:prstGeom prst="rect">
              <a:avLst/>
            </a:prstGeom>
            <a:solidFill>
              <a:srgbClr val="99E5B1">
                <a:alpha val="29411"/>
              </a:srgbClr>
            </a:solidFill>
            <a:ln>
              <a:noFill/>
            </a:ln>
          </p:spPr>
          <p:txBody>
            <a:bodyPr spcFirstLastPara="1" wrap="square" lIns="74283" tIns="37131" rIns="74283" bIns="37131" anchor="ctr" anchorCtr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</a:pPr>
              <a:endParaRPr sz="1463">
                <a:solidFill>
                  <a:schemeClr val="lt1"/>
                </a:solidFill>
                <a:latin typeface="+mn-ea"/>
                <a:cs typeface="Malgun Gothic"/>
                <a:sym typeface="Malgun Gothic"/>
              </a:endParaRPr>
            </a:p>
          </p:txBody>
        </p:sp>
        <p:sp>
          <p:nvSpPr>
            <p:cNvPr id="24" name="Google Shape;107;p2">
              <a:extLst>
                <a:ext uri="{FF2B5EF4-FFF2-40B4-BE49-F238E27FC236}">
                  <a16:creationId xmlns:a16="http://schemas.microsoft.com/office/drawing/2014/main" id="{B54B2D17-E340-FEE1-8DAA-65A9DCFFC9D6}"/>
                </a:ext>
              </a:extLst>
            </p:cNvPr>
            <p:cNvSpPr txBox="1"/>
            <p:nvPr/>
          </p:nvSpPr>
          <p:spPr>
            <a:xfrm>
              <a:off x="1870673" y="1740658"/>
              <a:ext cx="1051890" cy="2616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4283" tIns="37131" rIns="74283" bIns="37131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</a:pPr>
              <a:r>
                <a:rPr lang="en-US" sz="894" dirty="0">
                  <a:solidFill>
                    <a:srgbClr val="38A55A"/>
                  </a:solidFill>
                  <a:latin typeface="+mn-ea"/>
                  <a:cs typeface="Malgun Gothic"/>
                  <a:sym typeface="Malgun Gothic"/>
                </a:rPr>
                <a:t>Public subnet</a:t>
              </a:r>
              <a:endParaRPr sz="894" dirty="0">
                <a:solidFill>
                  <a:srgbClr val="38A55A"/>
                </a:solidFill>
                <a:latin typeface="+mn-ea"/>
                <a:cs typeface="Malgun Gothic"/>
                <a:sym typeface="Malgun Gothic"/>
              </a:endParaRPr>
            </a:p>
          </p:txBody>
        </p:sp>
        <p:pic>
          <p:nvPicPr>
            <p:cNvPr id="25" name="Google Shape;108;p2">
              <a:extLst>
                <a:ext uri="{FF2B5EF4-FFF2-40B4-BE49-F238E27FC236}">
                  <a16:creationId xmlns:a16="http://schemas.microsoft.com/office/drawing/2014/main" id="{29AD4E6E-543F-B5C1-E5A7-4DE684171208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40272" y="1747332"/>
              <a:ext cx="230400" cy="2352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570583AA-0C3B-DCD1-D8AE-DE5E6917A27D}"/>
              </a:ext>
            </a:extLst>
          </p:cNvPr>
          <p:cNvSpPr txBox="1"/>
          <p:nvPr/>
        </p:nvSpPr>
        <p:spPr>
          <a:xfrm>
            <a:off x="3091696" y="2349037"/>
            <a:ext cx="583373" cy="267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69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Calibri" panose="020F0502020204030204" pitchFamily="34" charset="0"/>
              </a:rPr>
              <a:t>auto scaling</a:t>
            </a:r>
            <a:endParaRPr lang="ko-KR" altLang="en-US" sz="569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Calibri" panose="020F050202020403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AB5AD04-DEF6-3AC0-9799-2EDB874848B2}"/>
              </a:ext>
            </a:extLst>
          </p:cNvPr>
          <p:cNvSpPr txBox="1"/>
          <p:nvPr/>
        </p:nvSpPr>
        <p:spPr>
          <a:xfrm>
            <a:off x="1122039" y="2159214"/>
            <a:ext cx="719501" cy="34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13" b="1" dirty="0">
                <a:solidFill>
                  <a:srgbClr val="12ADEA"/>
                </a:solidFill>
                <a:latin typeface="+mn-ea"/>
                <a:cs typeface="Calibri" panose="020F0502020204030204" pitchFamily="34" charset="0"/>
              </a:rPr>
              <a:t>Web Servers</a:t>
            </a:r>
            <a:endParaRPr lang="ko-KR" altLang="en-US" sz="813" b="1" dirty="0">
              <a:solidFill>
                <a:srgbClr val="12ADEA"/>
              </a:solidFill>
              <a:latin typeface="+mn-ea"/>
              <a:cs typeface="Calibri" panose="020F0502020204030204" pitchFamily="34" charset="0"/>
            </a:endParaRPr>
          </a:p>
        </p:txBody>
      </p:sp>
      <p:sp>
        <p:nvSpPr>
          <p:cNvPr id="85" name="자유형 84">
            <a:extLst>
              <a:ext uri="{FF2B5EF4-FFF2-40B4-BE49-F238E27FC236}">
                <a16:creationId xmlns:a16="http://schemas.microsoft.com/office/drawing/2014/main" id="{75CAA2CA-4AA9-5398-ACD7-BCFA7B214AD5}"/>
              </a:ext>
            </a:extLst>
          </p:cNvPr>
          <p:cNvSpPr/>
          <p:nvPr/>
        </p:nvSpPr>
        <p:spPr>
          <a:xfrm rot="16200000">
            <a:off x="2466114" y="1370585"/>
            <a:ext cx="585782" cy="1832136"/>
          </a:xfrm>
          <a:custGeom>
            <a:avLst/>
            <a:gdLst>
              <a:gd name="connsiteX0" fmla="*/ 509359 w 569732"/>
              <a:gd name="connsiteY0" fmla="*/ 189557 h 2092553"/>
              <a:gd name="connsiteX1" fmla="*/ 509358 w 569732"/>
              <a:gd name="connsiteY1" fmla="*/ 1902997 h 2092553"/>
              <a:gd name="connsiteX2" fmla="*/ 60372 w 569732"/>
              <a:gd name="connsiteY2" fmla="*/ 1902997 h 2092553"/>
              <a:gd name="connsiteX3" fmla="*/ 60373 w 569732"/>
              <a:gd name="connsiteY3" fmla="*/ 189557 h 2092553"/>
              <a:gd name="connsiteX4" fmla="*/ 569731 w 569732"/>
              <a:gd name="connsiteY4" fmla="*/ 1902997 h 2092553"/>
              <a:gd name="connsiteX5" fmla="*/ 284865 w 569732"/>
              <a:gd name="connsiteY5" fmla="*/ 2092553 h 2092553"/>
              <a:gd name="connsiteX6" fmla="*/ 0 w 569732"/>
              <a:gd name="connsiteY6" fmla="*/ 1902997 h 2092553"/>
              <a:gd name="connsiteX7" fmla="*/ 569732 w 569732"/>
              <a:gd name="connsiteY7" fmla="*/ 189556 h 2092553"/>
              <a:gd name="connsiteX8" fmla="*/ 1 w 569732"/>
              <a:gd name="connsiteY8" fmla="*/ 189556 h 2092553"/>
              <a:gd name="connsiteX9" fmla="*/ 284867 w 569732"/>
              <a:gd name="connsiteY9" fmla="*/ 0 h 2092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9732" h="2092553">
                <a:moveTo>
                  <a:pt x="509359" y="189557"/>
                </a:moveTo>
                <a:lnTo>
                  <a:pt x="509358" y="1902997"/>
                </a:lnTo>
                <a:lnTo>
                  <a:pt x="60372" y="1902997"/>
                </a:lnTo>
                <a:lnTo>
                  <a:pt x="60373" y="189557"/>
                </a:lnTo>
                <a:close/>
                <a:moveTo>
                  <a:pt x="569731" y="1902997"/>
                </a:moveTo>
                <a:lnTo>
                  <a:pt x="284865" y="2092553"/>
                </a:lnTo>
                <a:lnTo>
                  <a:pt x="0" y="1902997"/>
                </a:lnTo>
                <a:close/>
                <a:moveTo>
                  <a:pt x="569732" y="189556"/>
                </a:moveTo>
                <a:lnTo>
                  <a:pt x="1" y="189556"/>
                </a:lnTo>
                <a:lnTo>
                  <a:pt x="284867" y="0"/>
                </a:lnTo>
                <a:close/>
              </a:path>
            </a:pathLst>
          </a:cu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 dirty="0">
              <a:latin typeface="+mn-ea"/>
            </a:endParaRPr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127B64EF-A933-A528-AE68-4509628005A1}"/>
              </a:ext>
            </a:extLst>
          </p:cNvPr>
          <p:cNvCxnSpPr>
            <a:cxnSpLocks/>
          </p:cNvCxnSpPr>
          <p:nvPr/>
        </p:nvCxnSpPr>
        <p:spPr>
          <a:xfrm flipV="1">
            <a:off x="2423946" y="1958614"/>
            <a:ext cx="0" cy="78511"/>
          </a:xfrm>
          <a:prstGeom prst="straightConnector1">
            <a:avLst/>
          </a:prstGeom>
          <a:ln w="9525"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F6F41198-9343-09D3-0CAB-438361DAC530}"/>
              </a:ext>
            </a:extLst>
          </p:cNvPr>
          <p:cNvCxnSpPr>
            <a:cxnSpLocks/>
          </p:cNvCxnSpPr>
          <p:nvPr/>
        </p:nvCxnSpPr>
        <p:spPr>
          <a:xfrm flipH="1">
            <a:off x="2423948" y="1955756"/>
            <a:ext cx="474161" cy="0"/>
          </a:xfrm>
          <a:prstGeom prst="straightConnector1">
            <a:avLst/>
          </a:prstGeom>
          <a:ln w="9525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6763C823-E911-ACDA-B661-16DEA46E6257}"/>
              </a:ext>
            </a:extLst>
          </p:cNvPr>
          <p:cNvCxnSpPr>
            <a:cxnSpLocks/>
          </p:cNvCxnSpPr>
          <p:nvPr/>
        </p:nvCxnSpPr>
        <p:spPr>
          <a:xfrm flipV="1">
            <a:off x="2898107" y="1958614"/>
            <a:ext cx="0" cy="78511"/>
          </a:xfrm>
          <a:prstGeom prst="straightConnector1">
            <a:avLst/>
          </a:prstGeom>
          <a:ln w="9525"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55B77D6B-03C8-F090-33A3-0161E94046AA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32724" y="2532115"/>
            <a:ext cx="0" cy="78511"/>
          </a:xfrm>
          <a:prstGeom prst="straightConnector1">
            <a:avLst/>
          </a:prstGeom>
          <a:ln w="9525"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DF3DBDF1-667C-B1B7-74A5-2958BD195EAA}"/>
              </a:ext>
            </a:extLst>
          </p:cNvPr>
          <p:cNvCxnSpPr>
            <a:cxnSpLocks/>
          </p:cNvCxnSpPr>
          <p:nvPr/>
        </p:nvCxnSpPr>
        <p:spPr>
          <a:xfrm rot="10800000" flipV="1">
            <a:off x="2901877" y="2532115"/>
            <a:ext cx="0" cy="78511"/>
          </a:xfrm>
          <a:prstGeom prst="straightConnector1">
            <a:avLst/>
          </a:prstGeom>
          <a:ln w="9525"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A63E93C2-1F42-1236-060E-CB6E2F58968F}"/>
              </a:ext>
            </a:extLst>
          </p:cNvPr>
          <p:cNvGrpSpPr/>
          <p:nvPr/>
        </p:nvGrpSpPr>
        <p:grpSpPr>
          <a:xfrm>
            <a:off x="2312542" y="2168418"/>
            <a:ext cx="708670" cy="234715"/>
            <a:chOff x="6173405" y="4077701"/>
            <a:chExt cx="872209" cy="288880"/>
          </a:xfrm>
        </p:grpSpPr>
        <p:pic>
          <p:nvPicPr>
            <p:cNvPr id="92" name="그림 91">
              <a:extLst>
                <a:ext uri="{FF2B5EF4-FFF2-40B4-BE49-F238E27FC236}">
                  <a16:creationId xmlns:a16="http://schemas.microsoft.com/office/drawing/2014/main" id="{F1620958-BAD6-C6C8-02ED-C3643CB054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74284" y="4145520"/>
              <a:ext cx="265850" cy="167905"/>
            </a:xfrm>
            <a:prstGeom prst="rect">
              <a:avLst/>
            </a:prstGeom>
          </p:spPr>
        </p:pic>
        <p:pic>
          <p:nvPicPr>
            <p:cNvPr id="93" name="그림 92">
              <a:extLst>
                <a:ext uri="{FF2B5EF4-FFF2-40B4-BE49-F238E27FC236}">
                  <a16:creationId xmlns:a16="http://schemas.microsoft.com/office/drawing/2014/main" id="{DCB1D496-0BDA-4C7F-D11B-8C3CD59394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405" y="4078581"/>
              <a:ext cx="288000" cy="288000"/>
            </a:xfrm>
            <a:prstGeom prst="rect">
              <a:avLst/>
            </a:prstGeom>
          </p:spPr>
        </p:pic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C6CFBFE2-2F2C-3202-0867-F011B1378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7614" y="4077701"/>
              <a:ext cx="288000" cy="288000"/>
            </a:xfrm>
            <a:prstGeom prst="rect">
              <a:avLst/>
            </a:prstGeom>
          </p:spPr>
        </p:pic>
      </p:grpSp>
      <p:pic>
        <p:nvPicPr>
          <p:cNvPr id="95" name="그림 94" descr="텍스트, 표지판이(가) 표시된 사진&#10;&#10;자동 생성된 설명">
            <a:extLst>
              <a:ext uri="{FF2B5EF4-FFF2-40B4-BE49-F238E27FC236}">
                <a16:creationId xmlns:a16="http://schemas.microsoft.com/office/drawing/2014/main" id="{DE7643C4-2522-2AB9-EF99-72D948C1C30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461" y="2160771"/>
            <a:ext cx="209918" cy="209918"/>
          </a:xfrm>
          <a:prstGeom prst="rect">
            <a:avLst/>
          </a:prstGeom>
        </p:spPr>
      </p:pic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DC07CA90-7895-2EB3-A150-ACCE943024AA}"/>
              </a:ext>
            </a:extLst>
          </p:cNvPr>
          <p:cNvCxnSpPr>
            <a:cxnSpLocks/>
          </p:cNvCxnSpPr>
          <p:nvPr/>
        </p:nvCxnSpPr>
        <p:spPr>
          <a:xfrm flipH="1">
            <a:off x="2430298" y="2610624"/>
            <a:ext cx="474161" cy="0"/>
          </a:xfrm>
          <a:prstGeom prst="straightConnector1">
            <a:avLst/>
          </a:prstGeom>
          <a:ln w="9525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1EFD5F51-B0F6-D799-3072-1B4EE5BDEC76}"/>
              </a:ext>
            </a:extLst>
          </p:cNvPr>
          <p:cNvCxnSpPr>
            <a:cxnSpLocks/>
            <a:endCxn id="99" idx="2"/>
          </p:cNvCxnSpPr>
          <p:nvPr/>
        </p:nvCxnSpPr>
        <p:spPr>
          <a:xfrm flipH="1" flipV="1">
            <a:off x="2679825" y="1793142"/>
            <a:ext cx="3366" cy="1623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69A4E8A1-36AB-971B-FF35-28A5DBFBCE4A}"/>
              </a:ext>
            </a:extLst>
          </p:cNvPr>
          <p:cNvGrpSpPr/>
          <p:nvPr/>
        </p:nvGrpSpPr>
        <p:grpSpPr>
          <a:xfrm>
            <a:off x="2562824" y="1559140"/>
            <a:ext cx="912941" cy="234000"/>
            <a:chOff x="6024436" y="3287137"/>
            <a:chExt cx="1123620" cy="288000"/>
          </a:xfrm>
        </p:grpSpPr>
        <p:pic>
          <p:nvPicPr>
            <p:cNvPr id="99" name="그림 98" descr="텍스트, 클립아트이(가) 표시된 사진&#10;&#10;자동 생성된 설명">
              <a:extLst>
                <a:ext uri="{FF2B5EF4-FFF2-40B4-BE49-F238E27FC236}">
                  <a16:creationId xmlns:a16="http://schemas.microsoft.com/office/drawing/2014/main" id="{9F6E7AD1-7A2B-13D4-D811-24F77BC1A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4436" y="3287137"/>
              <a:ext cx="288000" cy="288000"/>
            </a:xfrm>
            <a:prstGeom prst="rect">
              <a:avLst/>
            </a:prstGeom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12494B5-C4B0-EB15-D6FA-2D456849603D}"/>
                </a:ext>
              </a:extLst>
            </p:cNvPr>
            <p:cNvSpPr txBox="1"/>
            <p:nvPr/>
          </p:nvSpPr>
          <p:spPr>
            <a:xfrm>
              <a:off x="6269709" y="3325487"/>
              <a:ext cx="878347" cy="2367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" altLang="ko-KR" sz="650" dirty="0">
                  <a:latin typeface="+mn-ea"/>
                  <a:cs typeface="Arial" panose="020B0604020202020204" pitchFamily="34" charset="0"/>
                </a:rPr>
                <a:t>Load Balancer</a:t>
              </a:r>
              <a:endParaRPr lang="ko-KR" altLang="en-US" sz="650" dirty="0">
                <a:latin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BB06463B-056D-4B8D-7B7F-9691ECC4D7AE}"/>
              </a:ext>
            </a:extLst>
          </p:cNvPr>
          <p:cNvSpPr txBox="1"/>
          <p:nvPr/>
        </p:nvSpPr>
        <p:spPr>
          <a:xfrm>
            <a:off x="3091696" y="3421614"/>
            <a:ext cx="625584" cy="179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69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Calibri" panose="020F0502020204030204" pitchFamily="34" charset="0"/>
              </a:rPr>
              <a:t>auto scaling</a:t>
            </a:r>
            <a:endParaRPr lang="ko-KR" altLang="en-US" sz="569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Calibri" panose="020F05020202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FE72DDF-3671-FDBD-AB85-B3C0F60AB3E7}"/>
              </a:ext>
            </a:extLst>
          </p:cNvPr>
          <p:cNvSpPr txBox="1"/>
          <p:nvPr/>
        </p:nvSpPr>
        <p:spPr>
          <a:xfrm>
            <a:off x="1122039" y="3231791"/>
            <a:ext cx="719501" cy="34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13" b="1" dirty="0">
                <a:solidFill>
                  <a:srgbClr val="12ADEA"/>
                </a:solidFill>
                <a:latin typeface="+mn-ea"/>
                <a:cs typeface="Calibri" panose="020F0502020204030204" pitchFamily="34" charset="0"/>
              </a:rPr>
              <a:t>WAS Servers</a:t>
            </a:r>
            <a:endParaRPr lang="ko-KR" altLang="en-US" sz="813" b="1" dirty="0">
              <a:solidFill>
                <a:srgbClr val="12ADEA"/>
              </a:solidFill>
              <a:latin typeface="+mn-ea"/>
              <a:cs typeface="Calibri" panose="020F0502020204030204" pitchFamily="34" charset="0"/>
            </a:endParaRPr>
          </a:p>
        </p:txBody>
      </p:sp>
      <p:sp>
        <p:nvSpPr>
          <p:cNvPr id="103" name="자유형 102">
            <a:extLst>
              <a:ext uri="{FF2B5EF4-FFF2-40B4-BE49-F238E27FC236}">
                <a16:creationId xmlns:a16="http://schemas.microsoft.com/office/drawing/2014/main" id="{D0E96E7C-75A7-811D-39EB-7E939A5892F8}"/>
              </a:ext>
            </a:extLst>
          </p:cNvPr>
          <p:cNvSpPr/>
          <p:nvPr/>
        </p:nvSpPr>
        <p:spPr>
          <a:xfrm rot="16200000">
            <a:off x="2466114" y="2443162"/>
            <a:ext cx="585782" cy="1832136"/>
          </a:xfrm>
          <a:custGeom>
            <a:avLst/>
            <a:gdLst>
              <a:gd name="connsiteX0" fmla="*/ 509359 w 569732"/>
              <a:gd name="connsiteY0" fmla="*/ 189557 h 2092553"/>
              <a:gd name="connsiteX1" fmla="*/ 509358 w 569732"/>
              <a:gd name="connsiteY1" fmla="*/ 1902997 h 2092553"/>
              <a:gd name="connsiteX2" fmla="*/ 60372 w 569732"/>
              <a:gd name="connsiteY2" fmla="*/ 1902997 h 2092553"/>
              <a:gd name="connsiteX3" fmla="*/ 60373 w 569732"/>
              <a:gd name="connsiteY3" fmla="*/ 189557 h 2092553"/>
              <a:gd name="connsiteX4" fmla="*/ 569731 w 569732"/>
              <a:gd name="connsiteY4" fmla="*/ 1902997 h 2092553"/>
              <a:gd name="connsiteX5" fmla="*/ 284865 w 569732"/>
              <a:gd name="connsiteY5" fmla="*/ 2092553 h 2092553"/>
              <a:gd name="connsiteX6" fmla="*/ 0 w 569732"/>
              <a:gd name="connsiteY6" fmla="*/ 1902997 h 2092553"/>
              <a:gd name="connsiteX7" fmla="*/ 569732 w 569732"/>
              <a:gd name="connsiteY7" fmla="*/ 189556 h 2092553"/>
              <a:gd name="connsiteX8" fmla="*/ 1 w 569732"/>
              <a:gd name="connsiteY8" fmla="*/ 189556 h 2092553"/>
              <a:gd name="connsiteX9" fmla="*/ 284867 w 569732"/>
              <a:gd name="connsiteY9" fmla="*/ 0 h 2092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9732" h="2092553">
                <a:moveTo>
                  <a:pt x="509359" y="189557"/>
                </a:moveTo>
                <a:lnTo>
                  <a:pt x="509358" y="1902997"/>
                </a:lnTo>
                <a:lnTo>
                  <a:pt x="60372" y="1902997"/>
                </a:lnTo>
                <a:lnTo>
                  <a:pt x="60373" y="189557"/>
                </a:lnTo>
                <a:close/>
                <a:moveTo>
                  <a:pt x="569731" y="1902997"/>
                </a:moveTo>
                <a:lnTo>
                  <a:pt x="284865" y="2092553"/>
                </a:lnTo>
                <a:lnTo>
                  <a:pt x="0" y="1902997"/>
                </a:lnTo>
                <a:close/>
                <a:moveTo>
                  <a:pt x="569732" y="189556"/>
                </a:moveTo>
                <a:lnTo>
                  <a:pt x="1" y="189556"/>
                </a:lnTo>
                <a:lnTo>
                  <a:pt x="284867" y="0"/>
                </a:lnTo>
                <a:close/>
              </a:path>
            </a:pathLst>
          </a:cu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 dirty="0">
              <a:latin typeface="+mn-ea"/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53274E50-9B86-989E-C4C8-E0FDD220A379}"/>
              </a:ext>
            </a:extLst>
          </p:cNvPr>
          <p:cNvCxnSpPr>
            <a:cxnSpLocks/>
          </p:cNvCxnSpPr>
          <p:nvPr/>
        </p:nvCxnSpPr>
        <p:spPr>
          <a:xfrm flipV="1">
            <a:off x="2423946" y="3031191"/>
            <a:ext cx="0" cy="78511"/>
          </a:xfrm>
          <a:prstGeom prst="straightConnector1">
            <a:avLst/>
          </a:prstGeom>
          <a:ln w="9525"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10517A67-BCEC-F42D-96B0-747CF9B087F4}"/>
              </a:ext>
            </a:extLst>
          </p:cNvPr>
          <p:cNvCxnSpPr>
            <a:cxnSpLocks/>
          </p:cNvCxnSpPr>
          <p:nvPr/>
        </p:nvCxnSpPr>
        <p:spPr>
          <a:xfrm flipH="1">
            <a:off x="2423948" y="3028333"/>
            <a:ext cx="474161" cy="0"/>
          </a:xfrm>
          <a:prstGeom prst="straightConnector1">
            <a:avLst/>
          </a:prstGeom>
          <a:ln w="9525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18ED50A7-EADD-1B2B-5A1E-3649F08C3B9A}"/>
              </a:ext>
            </a:extLst>
          </p:cNvPr>
          <p:cNvCxnSpPr>
            <a:cxnSpLocks/>
          </p:cNvCxnSpPr>
          <p:nvPr/>
        </p:nvCxnSpPr>
        <p:spPr>
          <a:xfrm flipV="1">
            <a:off x="2898107" y="3031191"/>
            <a:ext cx="0" cy="78511"/>
          </a:xfrm>
          <a:prstGeom prst="straightConnector1">
            <a:avLst/>
          </a:prstGeom>
          <a:ln w="9525"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9372FD72-EA9C-C1F4-5BDA-2D4BBEA4B1D9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32724" y="3604692"/>
            <a:ext cx="0" cy="78511"/>
          </a:xfrm>
          <a:prstGeom prst="straightConnector1">
            <a:avLst/>
          </a:prstGeom>
          <a:ln w="9525"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4FE19DAF-8325-4A11-AA10-14B2C6F8D539}"/>
              </a:ext>
            </a:extLst>
          </p:cNvPr>
          <p:cNvCxnSpPr>
            <a:cxnSpLocks/>
          </p:cNvCxnSpPr>
          <p:nvPr/>
        </p:nvCxnSpPr>
        <p:spPr>
          <a:xfrm rot="10800000" flipV="1">
            <a:off x="2901877" y="3604692"/>
            <a:ext cx="0" cy="78511"/>
          </a:xfrm>
          <a:prstGeom prst="straightConnector1">
            <a:avLst/>
          </a:prstGeom>
          <a:ln w="9525"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5BFD2AC2-04D0-03BB-7F53-EA2FDBB7BB19}"/>
              </a:ext>
            </a:extLst>
          </p:cNvPr>
          <p:cNvGrpSpPr/>
          <p:nvPr/>
        </p:nvGrpSpPr>
        <p:grpSpPr>
          <a:xfrm>
            <a:off x="2312542" y="3240995"/>
            <a:ext cx="708670" cy="234715"/>
            <a:chOff x="6173405" y="4077701"/>
            <a:chExt cx="872209" cy="288880"/>
          </a:xfrm>
        </p:grpSpPr>
        <p:pic>
          <p:nvPicPr>
            <p:cNvPr id="110" name="그림 109">
              <a:extLst>
                <a:ext uri="{FF2B5EF4-FFF2-40B4-BE49-F238E27FC236}">
                  <a16:creationId xmlns:a16="http://schemas.microsoft.com/office/drawing/2014/main" id="{95864FBF-37F1-9074-07B0-D0B043373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74284" y="4145520"/>
              <a:ext cx="265850" cy="167905"/>
            </a:xfrm>
            <a:prstGeom prst="rect">
              <a:avLst/>
            </a:prstGeom>
          </p:spPr>
        </p:pic>
        <p:pic>
          <p:nvPicPr>
            <p:cNvPr id="111" name="그림 110">
              <a:extLst>
                <a:ext uri="{FF2B5EF4-FFF2-40B4-BE49-F238E27FC236}">
                  <a16:creationId xmlns:a16="http://schemas.microsoft.com/office/drawing/2014/main" id="{1B43EBEC-1E58-51C3-3F82-2424698B7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405" y="4078581"/>
              <a:ext cx="288000" cy="288000"/>
            </a:xfrm>
            <a:prstGeom prst="rect">
              <a:avLst/>
            </a:prstGeom>
          </p:spPr>
        </p:pic>
        <p:pic>
          <p:nvPicPr>
            <p:cNvPr id="112" name="그림 111">
              <a:extLst>
                <a:ext uri="{FF2B5EF4-FFF2-40B4-BE49-F238E27FC236}">
                  <a16:creationId xmlns:a16="http://schemas.microsoft.com/office/drawing/2014/main" id="{127F232A-0304-2266-1D89-249FF25BF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7614" y="4077701"/>
              <a:ext cx="288000" cy="288000"/>
            </a:xfrm>
            <a:prstGeom prst="rect">
              <a:avLst/>
            </a:prstGeom>
          </p:spPr>
        </p:pic>
      </p:grpSp>
      <p:pic>
        <p:nvPicPr>
          <p:cNvPr id="113" name="그림 112" descr="텍스트, 표지판이(가) 표시된 사진&#10;&#10;자동 생성된 설명">
            <a:extLst>
              <a:ext uri="{FF2B5EF4-FFF2-40B4-BE49-F238E27FC236}">
                <a16:creationId xmlns:a16="http://schemas.microsoft.com/office/drawing/2014/main" id="{252B60B9-90CE-5694-A7D4-B1D959D33F3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461" y="3233348"/>
            <a:ext cx="209918" cy="209918"/>
          </a:xfrm>
          <a:prstGeom prst="rect">
            <a:avLst/>
          </a:prstGeom>
        </p:spPr>
      </p:pic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3C219359-94AC-4153-664E-EEA35F56D7A3}"/>
              </a:ext>
            </a:extLst>
          </p:cNvPr>
          <p:cNvCxnSpPr>
            <a:cxnSpLocks/>
          </p:cNvCxnSpPr>
          <p:nvPr/>
        </p:nvCxnSpPr>
        <p:spPr>
          <a:xfrm flipH="1">
            <a:off x="2430298" y="3683202"/>
            <a:ext cx="474161" cy="0"/>
          </a:xfrm>
          <a:prstGeom prst="straightConnector1">
            <a:avLst/>
          </a:prstGeom>
          <a:ln w="9525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DC71999A-C7AE-34AC-2A55-862193B20A37}"/>
              </a:ext>
            </a:extLst>
          </p:cNvPr>
          <p:cNvCxnSpPr>
            <a:cxnSpLocks/>
            <a:endCxn id="117" idx="2"/>
          </p:cNvCxnSpPr>
          <p:nvPr/>
        </p:nvCxnSpPr>
        <p:spPr>
          <a:xfrm flipV="1">
            <a:off x="2679471" y="2916604"/>
            <a:ext cx="354" cy="118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05D1A20B-10A2-F911-84FD-9B3E542BE59E}"/>
              </a:ext>
            </a:extLst>
          </p:cNvPr>
          <p:cNvGrpSpPr/>
          <p:nvPr/>
        </p:nvGrpSpPr>
        <p:grpSpPr>
          <a:xfrm>
            <a:off x="2562824" y="2682604"/>
            <a:ext cx="912941" cy="234000"/>
            <a:chOff x="6024436" y="3287137"/>
            <a:chExt cx="1123620" cy="288000"/>
          </a:xfrm>
        </p:grpSpPr>
        <p:pic>
          <p:nvPicPr>
            <p:cNvPr id="117" name="그림 116" descr="텍스트, 클립아트이(가) 표시된 사진&#10;&#10;자동 생성된 설명">
              <a:extLst>
                <a:ext uri="{FF2B5EF4-FFF2-40B4-BE49-F238E27FC236}">
                  <a16:creationId xmlns:a16="http://schemas.microsoft.com/office/drawing/2014/main" id="{3CF0B3D2-52D5-B4DF-AD4E-E90C70A07E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4436" y="3287137"/>
              <a:ext cx="288000" cy="288000"/>
            </a:xfrm>
            <a:prstGeom prst="rect">
              <a:avLst/>
            </a:prstGeom>
          </p:spPr>
        </p:pic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74798A97-4233-333F-52A3-4415A5B8EEFF}"/>
                </a:ext>
              </a:extLst>
            </p:cNvPr>
            <p:cNvSpPr txBox="1"/>
            <p:nvPr/>
          </p:nvSpPr>
          <p:spPr>
            <a:xfrm>
              <a:off x="6269709" y="3325487"/>
              <a:ext cx="878347" cy="2367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" altLang="ko-KR" sz="650" dirty="0">
                  <a:latin typeface="+mn-ea"/>
                  <a:cs typeface="Arial" panose="020B0604020202020204" pitchFamily="34" charset="0"/>
                </a:rPr>
                <a:t>Load Balancer</a:t>
              </a:r>
              <a:endParaRPr lang="ko-KR" altLang="en-US" sz="650" dirty="0">
                <a:latin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413F7411-FA03-BEE4-2FFA-22BA4F751AF0}"/>
              </a:ext>
            </a:extLst>
          </p:cNvPr>
          <p:cNvGrpSpPr/>
          <p:nvPr/>
        </p:nvGrpSpPr>
        <p:grpSpPr>
          <a:xfrm>
            <a:off x="4545311" y="3111417"/>
            <a:ext cx="1007593" cy="644535"/>
            <a:chOff x="7906900" y="5280500"/>
            <a:chExt cx="1240115" cy="793274"/>
          </a:xfrm>
        </p:grpSpPr>
        <p:pic>
          <p:nvPicPr>
            <p:cNvPr id="120" name="그림 119">
              <a:extLst>
                <a:ext uri="{FF2B5EF4-FFF2-40B4-BE49-F238E27FC236}">
                  <a16:creationId xmlns:a16="http://schemas.microsoft.com/office/drawing/2014/main" id="{508C1C1E-CB72-9550-0002-24889C9AD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02620" y="5412648"/>
              <a:ext cx="288000" cy="288000"/>
            </a:xfrm>
            <a:prstGeom prst="rect">
              <a:avLst/>
            </a:prstGeom>
          </p:spPr>
        </p:pic>
        <p:pic>
          <p:nvPicPr>
            <p:cNvPr id="121" name="그림 120">
              <a:extLst>
                <a:ext uri="{FF2B5EF4-FFF2-40B4-BE49-F238E27FC236}">
                  <a16:creationId xmlns:a16="http://schemas.microsoft.com/office/drawing/2014/main" id="{2C3D2FCA-6692-420F-7E11-C1B71BAED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44430" y="5412648"/>
              <a:ext cx="288000" cy="288000"/>
            </a:xfrm>
            <a:prstGeom prst="rect">
              <a:avLst/>
            </a:prstGeom>
          </p:spPr>
        </p:pic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59995070-2AB1-D735-0AEC-BE39FE46100F}"/>
                </a:ext>
              </a:extLst>
            </p:cNvPr>
            <p:cNvSpPr/>
            <p:nvPr/>
          </p:nvSpPr>
          <p:spPr>
            <a:xfrm>
              <a:off x="7910077" y="5280500"/>
              <a:ext cx="1236937" cy="793274"/>
            </a:xfrm>
            <a:prstGeom prst="rect">
              <a:avLst/>
            </a:prstGeom>
            <a:noFill/>
            <a:ln w="9525">
              <a:solidFill>
                <a:srgbClr val="B9B9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31">
                <a:latin typeface="+mn-ea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1AD916C4-357B-ABDB-FBAE-30C397A22320}"/>
                </a:ext>
              </a:extLst>
            </p:cNvPr>
            <p:cNvSpPr txBox="1"/>
            <p:nvPr/>
          </p:nvSpPr>
          <p:spPr>
            <a:xfrm>
              <a:off x="7906900" y="5696927"/>
              <a:ext cx="1240115" cy="3598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50" b="1" dirty="0">
                  <a:solidFill>
                    <a:srgbClr val="12ADEA"/>
                  </a:solidFill>
                  <a:latin typeface="+mn-ea"/>
                  <a:cs typeface="Calibri" panose="020F0502020204030204" pitchFamily="34" charset="0"/>
                </a:rPr>
                <a:t>AI I/F  +</a:t>
              </a:r>
              <a:r>
                <a:rPr lang="ko-KR" altLang="en-US" sz="650" b="1" dirty="0">
                  <a:solidFill>
                    <a:srgbClr val="12ADEA"/>
                  </a:solidFill>
                  <a:latin typeface="+mn-ea"/>
                  <a:cs typeface="Calibri" panose="020F0502020204030204" pitchFamily="34" charset="0"/>
                </a:rPr>
                <a:t> </a:t>
              </a:r>
              <a:r>
                <a:rPr lang="ko-KR" altLang="en-US" sz="650" b="1" dirty="0" err="1">
                  <a:solidFill>
                    <a:srgbClr val="12ADEA"/>
                  </a:solidFill>
                  <a:latin typeface="+mn-ea"/>
                  <a:cs typeface="Calibri" panose="020F0502020204030204" pitchFamily="34" charset="0"/>
                </a:rPr>
                <a:t>푸리봇</a:t>
              </a:r>
              <a:r>
                <a:rPr lang="ko-KR" altLang="en-US" sz="650" b="1" dirty="0">
                  <a:solidFill>
                    <a:srgbClr val="12ADEA"/>
                  </a:solidFill>
                  <a:latin typeface="+mn-ea"/>
                  <a:cs typeface="Calibri" panose="020F0502020204030204" pitchFamily="34" charset="0"/>
                </a:rPr>
                <a:t> </a:t>
              </a:r>
              <a:r>
                <a:rPr lang="en-US" altLang="ko-KR" sz="650" b="1" dirty="0">
                  <a:solidFill>
                    <a:srgbClr val="12ADEA"/>
                  </a:solidFill>
                  <a:latin typeface="+mn-ea"/>
                  <a:cs typeface="Calibri" panose="020F0502020204030204" pitchFamily="34" charset="0"/>
                </a:rPr>
                <a:t>UI</a:t>
              </a:r>
            </a:p>
            <a:p>
              <a:pPr algn="ctr"/>
              <a:r>
                <a:rPr lang="en-US" altLang="ko-KR" sz="650" b="1" dirty="0">
                  <a:solidFill>
                    <a:srgbClr val="12ADEA"/>
                  </a:solidFill>
                  <a:latin typeface="+mn-ea"/>
                  <a:cs typeface="Calibri" panose="020F0502020204030204" pitchFamily="34" charset="0"/>
                </a:rPr>
                <a:t>Servers</a:t>
              </a:r>
              <a:endParaRPr lang="ko-KR" altLang="en-US" sz="650" b="1" dirty="0">
                <a:solidFill>
                  <a:srgbClr val="12ADEA"/>
                </a:solidFill>
                <a:latin typeface="+mn-ea"/>
                <a:cs typeface="Calibri" panose="020F0502020204030204" pitchFamily="34" charset="0"/>
              </a:endParaRPr>
            </a:p>
          </p:txBody>
        </p:sp>
      </p:grpSp>
      <p:cxnSp>
        <p:nvCxnSpPr>
          <p:cNvPr id="124" name="꺾인 연결선[E] 123">
            <a:extLst>
              <a:ext uri="{FF2B5EF4-FFF2-40B4-BE49-F238E27FC236}">
                <a16:creationId xmlns:a16="http://schemas.microsoft.com/office/drawing/2014/main" id="{95B8E383-0595-65D7-4067-0A7B95D20F8A}"/>
              </a:ext>
            </a:extLst>
          </p:cNvPr>
          <p:cNvCxnSpPr>
            <a:cxnSpLocks/>
            <a:endCxn id="121" idx="0"/>
          </p:cNvCxnSpPr>
          <p:nvPr/>
        </p:nvCxnSpPr>
        <p:spPr>
          <a:xfrm rot="5400000">
            <a:off x="4797846" y="2967377"/>
            <a:ext cx="308868" cy="1939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꺾인 연결선[E] 124">
            <a:extLst>
              <a:ext uri="{FF2B5EF4-FFF2-40B4-BE49-F238E27FC236}">
                <a16:creationId xmlns:a16="http://schemas.microsoft.com/office/drawing/2014/main" id="{7FEFB991-3A00-90FB-4012-699CE6A74ED1}"/>
              </a:ext>
            </a:extLst>
          </p:cNvPr>
          <p:cNvCxnSpPr>
            <a:cxnSpLocks/>
            <a:stCxn id="127" idx="2"/>
            <a:endCxn id="120" idx="0"/>
          </p:cNvCxnSpPr>
          <p:nvPr/>
        </p:nvCxnSpPr>
        <p:spPr>
          <a:xfrm rot="16200000" flipH="1">
            <a:off x="4986325" y="2977529"/>
            <a:ext cx="302183" cy="1803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8ADBB5E7-122E-1B06-5C39-E83BD5513497}"/>
              </a:ext>
            </a:extLst>
          </p:cNvPr>
          <p:cNvGrpSpPr/>
          <p:nvPr/>
        </p:nvGrpSpPr>
        <p:grpSpPr>
          <a:xfrm>
            <a:off x="4930249" y="2682604"/>
            <a:ext cx="883431" cy="234000"/>
            <a:chOff x="8420241" y="4728451"/>
            <a:chExt cx="1087300" cy="288000"/>
          </a:xfrm>
        </p:grpSpPr>
        <p:pic>
          <p:nvPicPr>
            <p:cNvPr id="127" name="그림 126" descr="텍스트, 클립아트이(가) 표시된 사진&#10;&#10;자동 생성된 설명">
              <a:extLst>
                <a:ext uri="{FF2B5EF4-FFF2-40B4-BE49-F238E27FC236}">
                  <a16:creationId xmlns:a16="http://schemas.microsoft.com/office/drawing/2014/main" id="{CFF92638-B4F5-CA95-FC47-FE7FADF44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0241" y="4728451"/>
              <a:ext cx="288000" cy="288000"/>
            </a:xfrm>
            <a:prstGeom prst="rect">
              <a:avLst/>
            </a:prstGeom>
          </p:spPr>
        </p:pic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0F180CD5-B81B-E803-DC81-142ECD817D60}"/>
                </a:ext>
              </a:extLst>
            </p:cNvPr>
            <p:cNvSpPr txBox="1"/>
            <p:nvPr/>
          </p:nvSpPr>
          <p:spPr>
            <a:xfrm>
              <a:off x="8629194" y="4758037"/>
              <a:ext cx="878347" cy="2367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" altLang="ko-KR" sz="650" dirty="0">
                  <a:latin typeface="+mn-ea"/>
                  <a:cs typeface="Arial" panose="020B0604020202020204" pitchFamily="34" charset="0"/>
                </a:rPr>
                <a:t>Load Balancer</a:t>
              </a:r>
              <a:endParaRPr lang="ko-KR" altLang="en-US" sz="650" dirty="0">
                <a:latin typeface="+mn-ea"/>
                <a:cs typeface="Arial" panose="020B0604020202020204" pitchFamily="34" charset="0"/>
              </a:endParaRPr>
            </a:p>
          </p:txBody>
        </p:sp>
      </p:grpSp>
      <p:cxnSp>
        <p:nvCxnSpPr>
          <p:cNvPr id="174" name="꺾인 연결선[E] 173">
            <a:extLst>
              <a:ext uri="{FF2B5EF4-FFF2-40B4-BE49-F238E27FC236}">
                <a16:creationId xmlns:a16="http://schemas.microsoft.com/office/drawing/2014/main" id="{68CEF8C6-0CAE-0D09-83E8-2D304A4785E0}"/>
              </a:ext>
            </a:extLst>
          </p:cNvPr>
          <p:cNvCxnSpPr>
            <a:endCxn id="127" idx="1"/>
          </p:cNvCxnSpPr>
          <p:nvPr/>
        </p:nvCxnSpPr>
        <p:spPr>
          <a:xfrm flipV="1">
            <a:off x="3675072" y="2799604"/>
            <a:ext cx="1255178" cy="547858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2EE4822F-3F29-2229-AAF3-1E3CD0DA0C68}"/>
              </a:ext>
            </a:extLst>
          </p:cNvPr>
          <p:cNvGrpSpPr/>
          <p:nvPr/>
        </p:nvGrpSpPr>
        <p:grpSpPr>
          <a:xfrm>
            <a:off x="2937749" y="3806992"/>
            <a:ext cx="708498" cy="582311"/>
            <a:chOff x="4574158" y="4111059"/>
            <a:chExt cx="871998" cy="716690"/>
          </a:xfrm>
        </p:grpSpPr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42720EDF-AEE8-7F1E-8284-E80A8684358F}"/>
                </a:ext>
              </a:extLst>
            </p:cNvPr>
            <p:cNvGrpSpPr/>
            <p:nvPr/>
          </p:nvGrpSpPr>
          <p:grpSpPr>
            <a:xfrm>
              <a:off x="4574158" y="4281868"/>
              <a:ext cx="871998" cy="545881"/>
              <a:chOff x="7068406" y="6406275"/>
              <a:chExt cx="871998" cy="545881"/>
            </a:xfrm>
          </p:grpSpPr>
          <p:pic>
            <p:nvPicPr>
              <p:cNvPr id="150" name="그림 149">
                <a:extLst>
                  <a:ext uri="{FF2B5EF4-FFF2-40B4-BE49-F238E27FC236}">
                    <a16:creationId xmlns:a16="http://schemas.microsoft.com/office/drawing/2014/main" id="{E063159C-5631-BB3A-4A4C-77459FAD62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28632" y="6406275"/>
                <a:ext cx="351547" cy="351547"/>
              </a:xfrm>
              <a:prstGeom prst="rect">
                <a:avLst/>
              </a:prstGeom>
            </p:spPr>
          </p:pic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21AA66EE-553B-BB01-A04E-2B34E2AF07A9}"/>
                  </a:ext>
                </a:extLst>
              </p:cNvPr>
              <p:cNvSpPr txBox="1"/>
              <p:nvPr/>
            </p:nvSpPr>
            <p:spPr>
              <a:xfrm>
                <a:off x="7068406" y="6715405"/>
                <a:ext cx="871998" cy="236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50" dirty="0">
                    <a:solidFill>
                      <a:srgbClr val="12ADEA"/>
                    </a:solidFill>
                    <a:latin typeface="+mn-ea"/>
                    <a:cs typeface="Calibri" panose="020F0502020204030204" pitchFamily="34" charset="0"/>
                  </a:rPr>
                  <a:t>OCR </a:t>
                </a:r>
                <a:r>
                  <a:rPr lang="ko-KR" altLang="en-US" sz="650" dirty="0">
                    <a:solidFill>
                      <a:srgbClr val="12ADEA"/>
                    </a:solidFill>
                    <a:latin typeface="+mn-ea"/>
                    <a:cs typeface="Calibri" panose="020F0502020204030204" pitchFamily="34" charset="0"/>
                  </a:rPr>
                  <a:t>엔진</a:t>
                </a:r>
              </a:p>
            </p:txBody>
          </p:sp>
        </p:grp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3DF315BA-B426-3C46-A8CF-D7A503E57766}"/>
                </a:ext>
              </a:extLst>
            </p:cNvPr>
            <p:cNvSpPr txBox="1"/>
            <p:nvPr/>
          </p:nvSpPr>
          <p:spPr>
            <a:xfrm>
              <a:off x="5025683" y="4111059"/>
              <a:ext cx="418195" cy="252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31" dirty="0">
                  <a:solidFill>
                    <a:srgbClr val="C00000"/>
                  </a:solidFill>
                  <a:latin typeface="+mn-ea"/>
                </a:rPr>
                <a:t>❸</a:t>
              </a:r>
              <a:endParaRPr lang="ko-KR" altLang="en-US" sz="731" dirty="0">
                <a:solidFill>
                  <a:srgbClr val="C00000"/>
                </a:solidFill>
                <a:latin typeface="+mn-ea"/>
              </a:endParaRPr>
            </a:p>
          </p:txBody>
        </p:sp>
      </p:grp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80252952-1C8C-C80A-24B3-57D1A3EEDF3D}"/>
              </a:ext>
            </a:extLst>
          </p:cNvPr>
          <p:cNvGrpSpPr/>
          <p:nvPr/>
        </p:nvGrpSpPr>
        <p:grpSpPr>
          <a:xfrm>
            <a:off x="2773010" y="4405825"/>
            <a:ext cx="1010934" cy="601448"/>
            <a:chOff x="4371401" y="4848085"/>
            <a:chExt cx="1244227" cy="740243"/>
          </a:xfrm>
        </p:grpSpPr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B35E38EB-CD15-DC94-2322-CCD80109BA2B}"/>
                </a:ext>
              </a:extLst>
            </p:cNvPr>
            <p:cNvGrpSpPr/>
            <p:nvPr/>
          </p:nvGrpSpPr>
          <p:grpSpPr>
            <a:xfrm>
              <a:off x="4371401" y="5026484"/>
              <a:ext cx="1244227" cy="561844"/>
              <a:chOff x="11354210" y="4902171"/>
              <a:chExt cx="1244227" cy="561844"/>
            </a:xfrm>
          </p:grpSpPr>
          <p:pic>
            <p:nvPicPr>
              <p:cNvPr id="153" name="그림 152">
                <a:extLst>
                  <a:ext uri="{FF2B5EF4-FFF2-40B4-BE49-F238E27FC236}">
                    <a16:creationId xmlns:a16="http://schemas.microsoft.com/office/drawing/2014/main" id="{4FB4849A-BC5A-02E6-1E61-A9215B9DC6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17193" y="4902171"/>
                <a:ext cx="351547" cy="351547"/>
              </a:xfrm>
              <a:prstGeom prst="rect">
                <a:avLst/>
              </a:prstGeom>
            </p:spPr>
          </p:pic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77BC13C0-C2F3-E107-BE78-2CFB32A9FB29}"/>
                  </a:ext>
                </a:extLst>
              </p:cNvPr>
              <p:cNvSpPr txBox="1"/>
              <p:nvPr/>
            </p:nvSpPr>
            <p:spPr>
              <a:xfrm>
                <a:off x="11354210" y="5227265"/>
                <a:ext cx="1244227" cy="2367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650" dirty="0">
                    <a:solidFill>
                      <a:srgbClr val="12ADEA"/>
                    </a:solidFill>
                    <a:latin typeface="+mn-ea"/>
                    <a:cs typeface="Calibri" panose="020F0502020204030204" pitchFamily="34" charset="0"/>
                  </a:rPr>
                  <a:t>이미지 </a:t>
                </a:r>
                <a:r>
                  <a:rPr lang="ko-KR" altLang="en-US" sz="650" dirty="0" err="1">
                    <a:solidFill>
                      <a:srgbClr val="12ADEA"/>
                    </a:solidFill>
                    <a:latin typeface="+mn-ea"/>
                    <a:cs typeface="Calibri" panose="020F0502020204030204" pitchFamily="34" charset="0"/>
                  </a:rPr>
                  <a:t>패턴매칭</a:t>
                </a:r>
                <a:endParaRPr lang="ko-KR" altLang="en-US" sz="650" dirty="0">
                  <a:solidFill>
                    <a:srgbClr val="12ADEA"/>
                  </a:solidFill>
                  <a:latin typeface="+mn-ea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B4879547-1AD5-7B12-6EC8-BAEB2E6839E4}"/>
                </a:ext>
              </a:extLst>
            </p:cNvPr>
            <p:cNvSpPr txBox="1"/>
            <p:nvPr/>
          </p:nvSpPr>
          <p:spPr>
            <a:xfrm>
              <a:off x="5025683" y="4848085"/>
              <a:ext cx="418195" cy="252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31" dirty="0">
                  <a:solidFill>
                    <a:srgbClr val="C00000"/>
                  </a:solidFill>
                  <a:latin typeface="+mn-ea"/>
                </a:rPr>
                <a:t>❸</a:t>
              </a:r>
              <a:endParaRPr lang="ko-KR" altLang="en-US" sz="731" dirty="0">
                <a:solidFill>
                  <a:srgbClr val="C00000"/>
                </a:solidFill>
                <a:latin typeface="+mn-ea"/>
              </a:endParaRPr>
            </a:p>
          </p:txBody>
        </p:sp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59B7FF16-A42D-349F-BBE8-CE5C88D21FA5}"/>
              </a:ext>
            </a:extLst>
          </p:cNvPr>
          <p:cNvGrpSpPr/>
          <p:nvPr/>
        </p:nvGrpSpPr>
        <p:grpSpPr>
          <a:xfrm>
            <a:off x="5353190" y="4087799"/>
            <a:ext cx="708498" cy="724261"/>
            <a:chOff x="8872725" y="6487100"/>
            <a:chExt cx="871998" cy="891398"/>
          </a:xfrm>
        </p:grpSpPr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06DB94CD-7FC5-4A80-7346-B8CDC72E4E90}"/>
                </a:ext>
              </a:extLst>
            </p:cNvPr>
            <p:cNvGrpSpPr/>
            <p:nvPr/>
          </p:nvGrpSpPr>
          <p:grpSpPr>
            <a:xfrm>
              <a:off x="8872725" y="6677122"/>
              <a:ext cx="871998" cy="701376"/>
              <a:chOff x="4808190" y="6761822"/>
              <a:chExt cx="871998" cy="701376"/>
            </a:xfrm>
          </p:grpSpPr>
          <p:pic>
            <p:nvPicPr>
              <p:cNvPr id="180" name="그림 179">
                <a:extLst>
                  <a:ext uri="{FF2B5EF4-FFF2-40B4-BE49-F238E27FC236}">
                    <a16:creationId xmlns:a16="http://schemas.microsoft.com/office/drawing/2014/main" id="{624EB04F-2511-DEF2-E6B7-06686CC21E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68416" y="6761822"/>
                <a:ext cx="351547" cy="351547"/>
              </a:xfrm>
              <a:prstGeom prst="rect">
                <a:avLst/>
              </a:prstGeom>
            </p:spPr>
          </p:pic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FA6282FA-DCA3-012B-C0F1-2D9C54198BA3}"/>
                  </a:ext>
                </a:extLst>
              </p:cNvPr>
              <p:cNvSpPr txBox="1"/>
              <p:nvPr/>
            </p:nvSpPr>
            <p:spPr>
              <a:xfrm>
                <a:off x="4808190" y="7103336"/>
                <a:ext cx="871998" cy="3598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50" dirty="0" err="1">
                    <a:solidFill>
                      <a:srgbClr val="12ADEA"/>
                    </a:solidFill>
                    <a:latin typeface="+mn-ea"/>
                    <a:cs typeface="Calibri" panose="020F0502020204030204" pitchFamily="34" charset="0"/>
                  </a:rPr>
                  <a:t>Teana</a:t>
                </a:r>
                <a:r>
                  <a:rPr lang="en-US" altLang="ko-KR" sz="650" dirty="0">
                    <a:solidFill>
                      <a:srgbClr val="12ADEA"/>
                    </a:solidFill>
                    <a:latin typeface="+mn-ea"/>
                    <a:cs typeface="Calibri" panose="020F0502020204030204" pitchFamily="34" charset="0"/>
                  </a:rPr>
                  <a:t> Chat</a:t>
                </a:r>
              </a:p>
              <a:p>
                <a:pPr algn="ctr"/>
                <a:r>
                  <a:rPr lang="ko-KR" altLang="en-US" sz="650" dirty="0">
                    <a:solidFill>
                      <a:srgbClr val="12ADEA"/>
                    </a:solidFill>
                    <a:latin typeface="+mn-ea"/>
                    <a:cs typeface="Calibri" panose="020F0502020204030204" pitchFamily="34" charset="0"/>
                  </a:rPr>
                  <a:t>클러스터</a:t>
                </a:r>
              </a:p>
            </p:txBody>
          </p:sp>
        </p:grp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B112E113-9208-B7B8-9D1C-8F2AC439C940}"/>
                </a:ext>
              </a:extLst>
            </p:cNvPr>
            <p:cNvSpPr txBox="1"/>
            <p:nvPr/>
          </p:nvSpPr>
          <p:spPr>
            <a:xfrm>
              <a:off x="9308724" y="6487100"/>
              <a:ext cx="418195" cy="252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31" dirty="0">
                  <a:solidFill>
                    <a:srgbClr val="C00000"/>
                  </a:solidFill>
                  <a:latin typeface="+mn-ea"/>
                </a:rPr>
                <a:t>❷</a:t>
              </a:r>
              <a:endParaRPr lang="ko-KR" altLang="en-US" sz="731" dirty="0">
                <a:solidFill>
                  <a:srgbClr val="C00000"/>
                </a:solidFill>
                <a:latin typeface="+mn-ea"/>
              </a:endParaRPr>
            </a:p>
          </p:txBody>
        </p:sp>
      </p:grp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3E6D86DC-9198-2D81-2B89-6D93BD4CB198}"/>
              </a:ext>
            </a:extLst>
          </p:cNvPr>
          <p:cNvGrpSpPr/>
          <p:nvPr/>
        </p:nvGrpSpPr>
        <p:grpSpPr>
          <a:xfrm>
            <a:off x="4694858" y="4087799"/>
            <a:ext cx="708498" cy="724261"/>
            <a:chOff x="8872725" y="6487100"/>
            <a:chExt cx="871998" cy="891398"/>
          </a:xfrm>
        </p:grpSpPr>
        <p:grpSp>
          <p:nvGrpSpPr>
            <p:cNvPr id="200" name="그룹 199">
              <a:extLst>
                <a:ext uri="{FF2B5EF4-FFF2-40B4-BE49-F238E27FC236}">
                  <a16:creationId xmlns:a16="http://schemas.microsoft.com/office/drawing/2014/main" id="{19248F58-D473-F1CD-49F4-40BF34704701}"/>
                </a:ext>
              </a:extLst>
            </p:cNvPr>
            <p:cNvGrpSpPr/>
            <p:nvPr/>
          </p:nvGrpSpPr>
          <p:grpSpPr>
            <a:xfrm>
              <a:off x="8872725" y="6677122"/>
              <a:ext cx="871998" cy="701376"/>
              <a:chOff x="4808190" y="6761822"/>
              <a:chExt cx="871998" cy="701376"/>
            </a:xfrm>
          </p:grpSpPr>
          <p:pic>
            <p:nvPicPr>
              <p:cNvPr id="202" name="그림 201">
                <a:extLst>
                  <a:ext uri="{FF2B5EF4-FFF2-40B4-BE49-F238E27FC236}">
                    <a16:creationId xmlns:a16="http://schemas.microsoft.com/office/drawing/2014/main" id="{B25A3A64-7907-6BFA-A7EA-FD8F0C4496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68416" y="6761822"/>
                <a:ext cx="351547" cy="351547"/>
              </a:xfrm>
              <a:prstGeom prst="rect">
                <a:avLst/>
              </a:prstGeom>
            </p:spPr>
          </p:pic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CF0BBFEE-39B0-63A7-7F77-A56DDDD3B176}"/>
                  </a:ext>
                </a:extLst>
              </p:cNvPr>
              <p:cNvSpPr txBox="1"/>
              <p:nvPr/>
            </p:nvSpPr>
            <p:spPr>
              <a:xfrm>
                <a:off x="4808190" y="7103336"/>
                <a:ext cx="871998" cy="3598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650" dirty="0">
                    <a:solidFill>
                      <a:srgbClr val="12ADEA"/>
                    </a:solidFill>
                    <a:latin typeface="+mn-ea"/>
                    <a:cs typeface="Calibri" panose="020F0502020204030204" pitchFamily="34" charset="0"/>
                  </a:rPr>
                  <a:t>서비스</a:t>
                </a:r>
                <a:endParaRPr lang="en-US" altLang="ko-KR" sz="650" dirty="0">
                  <a:solidFill>
                    <a:srgbClr val="12ADEA"/>
                  </a:solidFill>
                  <a:latin typeface="+mn-ea"/>
                  <a:cs typeface="Calibri" panose="020F0502020204030204" pitchFamily="34" charset="0"/>
                </a:endParaRPr>
              </a:p>
              <a:p>
                <a:pPr algn="ctr"/>
                <a:r>
                  <a:rPr lang="ko-KR" altLang="en-US" sz="650" dirty="0">
                    <a:solidFill>
                      <a:srgbClr val="12ADEA"/>
                    </a:solidFill>
                    <a:latin typeface="+mn-ea"/>
                    <a:cs typeface="Calibri" panose="020F0502020204030204" pitchFamily="34" charset="0"/>
                  </a:rPr>
                  <a:t>클러스터</a:t>
                </a:r>
              </a:p>
            </p:txBody>
          </p:sp>
        </p:grp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935AE99D-88AD-D3CF-81B5-5EF418136AE3}"/>
                </a:ext>
              </a:extLst>
            </p:cNvPr>
            <p:cNvSpPr txBox="1"/>
            <p:nvPr/>
          </p:nvSpPr>
          <p:spPr>
            <a:xfrm>
              <a:off x="9308724" y="6487100"/>
              <a:ext cx="418195" cy="252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31" dirty="0">
                  <a:solidFill>
                    <a:srgbClr val="C00000"/>
                  </a:solidFill>
                  <a:latin typeface="+mn-ea"/>
                </a:rPr>
                <a:t>❺</a:t>
              </a:r>
              <a:endParaRPr lang="ko-KR" altLang="en-US" sz="731" dirty="0">
                <a:solidFill>
                  <a:srgbClr val="C00000"/>
                </a:solidFill>
                <a:latin typeface="+mn-ea"/>
              </a:endParaRPr>
            </a:p>
          </p:txBody>
        </p:sp>
      </p:grp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A66A4235-DE71-C502-241B-DBD65A91729D}"/>
              </a:ext>
            </a:extLst>
          </p:cNvPr>
          <p:cNvGrpSpPr/>
          <p:nvPr/>
        </p:nvGrpSpPr>
        <p:grpSpPr>
          <a:xfrm>
            <a:off x="3967419" y="4087799"/>
            <a:ext cx="708498" cy="724261"/>
            <a:chOff x="8872725" y="6487100"/>
            <a:chExt cx="871998" cy="891398"/>
          </a:xfrm>
        </p:grpSpPr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CE2FBBEF-7738-4B0E-823B-D37ABE854DEF}"/>
                </a:ext>
              </a:extLst>
            </p:cNvPr>
            <p:cNvGrpSpPr/>
            <p:nvPr/>
          </p:nvGrpSpPr>
          <p:grpSpPr>
            <a:xfrm>
              <a:off x="8872725" y="6677122"/>
              <a:ext cx="871998" cy="701376"/>
              <a:chOff x="4808190" y="6761822"/>
              <a:chExt cx="871998" cy="701376"/>
            </a:xfrm>
          </p:grpSpPr>
          <p:pic>
            <p:nvPicPr>
              <p:cNvPr id="207" name="그림 206">
                <a:extLst>
                  <a:ext uri="{FF2B5EF4-FFF2-40B4-BE49-F238E27FC236}">
                    <a16:creationId xmlns:a16="http://schemas.microsoft.com/office/drawing/2014/main" id="{6CB0439F-8813-9E23-0110-61C81C1FF0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68416" y="6761822"/>
                <a:ext cx="351547" cy="351547"/>
              </a:xfrm>
              <a:prstGeom prst="rect">
                <a:avLst/>
              </a:prstGeom>
            </p:spPr>
          </p:pic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371B8F47-830F-EDA3-6050-7C0D93B0696A}"/>
                  </a:ext>
                </a:extLst>
              </p:cNvPr>
              <p:cNvSpPr txBox="1"/>
              <p:nvPr/>
            </p:nvSpPr>
            <p:spPr>
              <a:xfrm>
                <a:off x="4808190" y="7103336"/>
                <a:ext cx="871998" cy="3598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650" dirty="0">
                    <a:solidFill>
                      <a:srgbClr val="12ADEA"/>
                    </a:solidFill>
                    <a:latin typeface="+mn-ea"/>
                    <a:cs typeface="Calibri" panose="020F0502020204030204" pitchFamily="34" charset="0"/>
                  </a:rPr>
                  <a:t>이벤트 수집</a:t>
                </a:r>
                <a:endParaRPr lang="en-US" altLang="ko-KR" sz="650" dirty="0">
                  <a:solidFill>
                    <a:srgbClr val="12ADEA"/>
                  </a:solidFill>
                  <a:latin typeface="+mn-ea"/>
                  <a:cs typeface="Calibri" panose="020F0502020204030204" pitchFamily="34" charset="0"/>
                </a:endParaRPr>
              </a:p>
              <a:p>
                <a:pPr algn="ctr"/>
                <a:r>
                  <a:rPr lang="ko-KR" altLang="en-US" sz="650" dirty="0">
                    <a:solidFill>
                      <a:srgbClr val="12ADEA"/>
                    </a:solidFill>
                    <a:latin typeface="+mn-ea"/>
                    <a:cs typeface="Calibri" panose="020F0502020204030204" pitchFamily="34" charset="0"/>
                  </a:rPr>
                  <a:t>클러스터</a:t>
                </a:r>
              </a:p>
            </p:txBody>
          </p:sp>
        </p:grp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927401-346E-443F-5BE2-45F3F8AA3059}"/>
                </a:ext>
              </a:extLst>
            </p:cNvPr>
            <p:cNvSpPr txBox="1"/>
            <p:nvPr/>
          </p:nvSpPr>
          <p:spPr>
            <a:xfrm>
              <a:off x="9308724" y="6487100"/>
              <a:ext cx="418195" cy="252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31" dirty="0">
                  <a:solidFill>
                    <a:srgbClr val="C00000"/>
                  </a:solidFill>
                  <a:latin typeface="+mn-ea"/>
                </a:rPr>
                <a:t>❸</a:t>
              </a:r>
              <a:endParaRPr lang="ko-KR" altLang="en-US" sz="731" dirty="0">
                <a:solidFill>
                  <a:srgbClr val="C00000"/>
                </a:solidFill>
                <a:latin typeface="+mn-ea"/>
              </a:endParaRPr>
            </a:p>
          </p:txBody>
        </p:sp>
      </p:grp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86C3701D-763A-3EF8-2CC9-7DB9F20718E7}"/>
              </a:ext>
            </a:extLst>
          </p:cNvPr>
          <p:cNvGrpSpPr/>
          <p:nvPr/>
        </p:nvGrpSpPr>
        <p:grpSpPr>
          <a:xfrm>
            <a:off x="1833685" y="4087795"/>
            <a:ext cx="1020652" cy="446295"/>
            <a:chOff x="8470732" y="6487100"/>
            <a:chExt cx="1256187" cy="549286"/>
          </a:xfrm>
        </p:grpSpPr>
        <p:grpSp>
          <p:nvGrpSpPr>
            <p:cNvPr id="210" name="그룹 209">
              <a:extLst>
                <a:ext uri="{FF2B5EF4-FFF2-40B4-BE49-F238E27FC236}">
                  <a16:creationId xmlns:a16="http://schemas.microsoft.com/office/drawing/2014/main" id="{F13D163C-90F7-46E7-C69B-641D74CA7800}"/>
                </a:ext>
              </a:extLst>
            </p:cNvPr>
            <p:cNvGrpSpPr/>
            <p:nvPr/>
          </p:nvGrpSpPr>
          <p:grpSpPr>
            <a:xfrm>
              <a:off x="8470732" y="6676524"/>
              <a:ext cx="1013766" cy="359862"/>
              <a:chOff x="4406197" y="6761224"/>
              <a:chExt cx="1013766" cy="359862"/>
            </a:xfrm>
          </p:grpSpPr>
          <p:pic>
            <p:nvPicPr>
              <p:cNvPr id="212" name="그림 211">
                <a:extLst>
                  <a:ext uri="{FF2B5EF4-FFF2-40B4-BE49-F238E27FC236}">
                    <a16:creationId xmlns:a16="http://schemas.microsoft.com/office/drawing/2014/main" id="{511E737C-E089-891A-361E-128A4641A8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68416" y="6761822"/>
                <a:ext cx="351547" cy="351547"/>
              </a:xfrm>
              <a:prstGeom prst="rect">
                <a:avLst/>
              </a:prstGeom>
            </p:spPr>
          </p:pic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98856D39-C314-F62A-0295-3724E06F3EE7}"/>
                  </a:ext>
                </a:extLst>
              </p:cNvPr>
              <p:cNvSpPr txBox="1"/>
              <p:nvPr/>
            </p:nvSpPr>
            <p:spPr>
              <a:xfrm>
                <a:off x="4406197" y="6761224"/>
                <a:ext cx="871997" cy="3598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50" dirty="0">
                    <a:solidFill>
                      <a:srgbClr val="12ADEA"/>
                    </a:solidFill>
                    <a:latin typeface="+mn-ea"/>
                    <a:cs typeface="Calibri" panose="020F0502020204030204" pitchFamily="34" charset="0"/>
                  </a:rPr>
                  <a:t>AI </a:t>
                </a:r>
                <a:r>
                  <a:rPr lang="ko-KR" altLang="en-US" sz="650" dirty="0">
                    <a:solidFill>
                      <a:srgbClr val="12ADEA"/>
                    </a:solidFill>
                    <a:latin typeface="+mn-ea"/>
                    <a:cs typeface="Calibri" panose="020F0502020204030204" pitchFamily="34" charset="0"/>
                  </a:rPr>
                  <a:t>분석</a:t>
                </a:r>
                <a:endParaRPr lang="en-US" altLang="ko-KR" sz="650" dirty="0">
                  <a:solidFill>
                    <a:srgbClr val="12ADEA"/>
                  </a:solidFill>
                  <a:latin typeface="+mn-ea"/>
                  <a:cs typeface="Calibri" panose="020F0502020204030204" pitchFamily="34" charset="0"/>
                </a:endParaRPr>
              </a:p>
              <a:p>
                <a:pPr algn="ctr"/>
                <a:r>
                  <a:rPr lang="ko-KR" altLang="en-US" sz="650" dirty="0">
                    <a:solidFill>
                      <a:srgbClr val="12ADEA"/>
                    </a:solidFill>
                    <a:latin typeface="+mn-ea"/>
                    <a:cs typeface="Calibri" panose="020F0502020204030204" pitchFamily="34" charset="0"/>
                  </a:rPr>
                  <a:t>클러스터</a:t>
                </a:r>
              </a:p>
            </p:txBody>
          </p:sp>
        </p:grp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5AAAE19B-5ADB-014C-DF88-A3B09FDC1427}"/>
                </a:ext>
              </a:extLst>
            </p:cNvPr>
            <p:cNvSpPr txBox="1"/>
            <p:nvPr/>
          </p:nvSpPr>
          <p:spPr>
            <a:xfrm>
              <a:off x="9308725" y="6487100"/>
              <a:ext cx="418194" cy="252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31" dirty="0">
                  <a:solidFill>
                    <a:srgbClr val="C00000"/>
                  </a:solidFill>
                  <a:latin typeface="+mn-ea"/>
                </a:rPr>
                <a:t>❸</a:t>
              </a:r>
              <a:endParaRPr lang="ko-KR" altLang="en-US" sz="731" dirty="0">
                <a:solidFill>
                  <a:srgbClr val="C00000"/>
                </a:solidFill>
                <a:latin typeface="+mn-ea"/>
              </a:endParaRPr>
            </a:p>
          </p:txBody>
        </p:sp>
      </p:grpSp>
      <p:cxnSp>
        <p:nvCxnSpPr>
          <p:cNvPr id="215" name="직선 화살표 연결선 214">
            <a:extLst>
              <a:ext uri="{FF2B5EF4-FFF2-40B4-BE49-F238E27FC236}">
                <a16:creationId xmlns:a16="http://schemas.microsoft.com/office/drawing/2014/main" id="{406AA5C1-CEE4-5B80-306C-038017C284D5}"/>
              </a:ext>
            </a:extLst>
          </p:cNvPr>
          <p:cNvCxnSpPr>
            <a:cxnSpLocks/>
            <a:stCxn id="123" idx="2"/>
            <a:endCxn id="202" idx="0"/>
          </p:cNvCxnSpPr>
          <p:nvPr/>
        </p:nvCxnSpPr>
        <p:spPr>
          <a:xfrm>
            <a:off x="5049107" y="3724839"/>
            <a:ext cx="0" cy="51735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직선 화살표 연결선 217">
            <a:extLst>
              <a:ext uri="{FF2B5EF4-FFF2-40B4-BE49-F238E27FC236}">
                <a16:creationId xmlns:a16="http://schemas.microsoft.com/office/drawing/2014/main" id="{C2CE30E0-9AB1-7D5E-F4FF-63C1B6D04046}"/>
              </a:ext>
            </a:extLst>
          </p:cNvPr>
          <p:cNvCxnSpPr>
            <a:stCxn id="207" idx="1"/>
            <a:endCxn id="212" idx="3"/>
          </p:cNvCxnSpPr>
          <p:nvPr/>
        </p:nvCxnSpPr>
        <p:spPr>
          <a:xfrm flipH="1">
            <a:off x="2657370" y="4385005"/>
            <a:ext cx="1521483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꺾인 연결선[E] 221">
            <a:extLst>
              <a:ext uri="{FF2B5EF4-FFF2-40B4-BE49-F238E27FC236}">
                <a16:creationId xmlns:a16="http://schemas.microsoft.com/office/drawing/2014/main" id="{AEBCCCC6-623A-E472-789D-B39464400015}"/>
              </a:ext>
            </a:extLst>
          </p:cNvPr>
          <p:cNvCxnSpPr>
            <a:cxnSpLocks/>
            <a:stCxn id="212" idx="2"/>
            <a:endCxn id="162" idx="0"/>
          </p:cNvCxnSpPr>
          <p:nvPr/>
        </p:nvCxnSpPr>
        <p:spPr>
          <a:xfrm rot="5400000">
            <a:off x="1919312" y="4736372"/>
            <a:ext cx="803794" cy="386691"/>
          </a:xfrm>
          <a:prstGeom prst="bentConnector3">
            <a:avLst>
              <a:gd name="adj1" fmla="val 21116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8" name="그룹 307">
            <a:extLst>
              <a:ext uri="{FF2B5EF4-FFF2-40B4-BE49-F238E27FC236}">
                <a16:creationId xmlns:a16="http://schemas.microsoft.com/office/drawing/2014/main" id="{EE378269-FF12-9A14-BFD0-F2F7D841FDD1}"/>
              </a:ext>
            </a:extLst>
          </p:cNvPr>
          <p:cNvGrpSpPr/>
          <p:nvPr/>
        </p:nvGrpSpPr>
        <p:grpSpPr>
          <a:xfrm>
            <a:off x="553968" y="5244544"/>
            <a:ext cx="2762493" cy="740308"/>
            <a:chOff x="681806" y="5880357"/>
            <a:chExt cx="3399991" cy="911148"/>
          </a:xfrm>
        </p:grpSpPr>
        <p:grpSp>
          <p:nvGrpSpPr>
            <p:cNvPr id="306" name="그룹 305">
              <a:extLst>
                <a:ext uri="{FF2B5EF4-FFF2-40B4-BE49-F238E27FC236}">
                  <a16:creationId xmlns:a16="http://schemas.microsoft.com/office/drawing/2014/main" id="{202EF33A-1D5E-3ABF-5F2D-4ACDFF65DD82}"/>
                </a:ext>
              </a:extLst>
            </p:cNvPr>
            <p:cNvGrpSpPr/>
            <p:nvPr/>
          </p:nvGrpSpPr>
          <p:grpSpPr>
            <a:xfrm>
              <a:off x="2203628" y="5987520"/>
              <a:ext cx="830561" cy="713255"/>
              <a:chOff x="2203628" y="5987520"/>
              <a:chExt cx="830561" cy="713255"/>
            </a:xfrm>
          </p:grpSpPr>
          <p:pic>
            <p:nvPicPr>
              <p:cNvPr id="162" name="그림 161">
                <a:extLst>
                  <a:ext uri="{FF2B5EF4-FFF2-40B4-BE49-F238E27FC236}">
                    <a16:creationId xmlns:a16="http://schemas.microsoft.com/office/drawing/2014/main" id="{0924F470-7CF9-A5C3-D7B4-50BDF09676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02908" y="5987520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FBDFBBFD-14C5-11D3-88CB-9FEFB29246DF}"/>
                  </a:ext>
                </a:extLst>
              </p:cNvPr>
              <p:cNvSpPr txBox="1"/>
              <p:nvPr/>
            </p:nvSpPr>
            <p:spPr>
              <a:xfrm>
                <a:off x="2203628" y="6433167"/>
                <a:ext cx="830561" cy="267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13" b="1" dirty="0">
                    <a:solidFill>
                      <a:srgbClr val="12ADEA"/>
                    </a:solidFill>
                    <a:latin typeface="+mn-ea"/>
                    <a:cs typeface="Calibri" panose="020F0502020204030204" pitchFamily="34" charset="0"/>
                  </a:rPr>
                  <a:t>Master</a:t>
                </a:r>
                <a:endParaRPr lang="ko-KR" altLang="en-US" sz="813" b="1" dirty="0">
                  <a:solidFill>
                    <a:srgbClr val="12ADEA"/>
                  </a:solidFill>
                  <a:latin typeface="+mn-ea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07" name="그룹 306">
              <a:extLst>
                <a:ext uri="{FF2B5EF4-FFF2-40B4-BE49-F238E27FC236}">
                  <a16:creationId xmlns:a16="http://schemas.microsoft.com/office/drawing/2014/main" id="{EE6414DC-DE81-598E-F87A-73785B105DD6}"/>
                </a:ext>
              </a:extLst>
            </p:cNvPr>
            <p:cNvGrpSpPr/>
            <p:nvPr/>
          </p:nvGrpSpPr>
          <p:grpSpPr>
            <a:xfrm>
              <a:off x="3251236" y="5987520"/>
              <a:ext cx="830561" cy="713255"/>
              <a:chOff x="3251236" y="5987520"/>
              <a:chExt cx="830561" cy="713255"/>
            </a:xfrm>
          </p:grpSpPr>
          <p:pic>
            <p:nvPicPr>
              <p:cNvPr id="163" name="그림 162">
                <a:extLst>
                  <a:ext uri="{FF2B5EF4-FFF2-40B4-BE49-F238E27FC236}">
                    <a16:creationId xmlns:a16="http://schemas.microsoft.com/office/drawing/2014/main" id="{581C2D63-3332-DC86-81F9-7EEB1B587F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50516" y="5987520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F20CA9AA-1485-B29E-7612-6C1C612C4D7F}"/>
                  </a:ext>
                </a:extLst>
              </p:cNvPr>
              <p:cNvSpPr txBox="1"/>
              <p:nvPr/>
            </p:nvSpPr>
            <p:spPr>
              <a:xfrm>
                <a:off x="3251236" y="6433167"/>
                <a:ext cx="830561" cy="267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13" b="1" dirty="0">
                    <a:solidFill>
                      <a:srgbClr val="12ADEA"/>
                    </a:solidFill>
                    <a:latin typeface="+mn-ea"/>
                    <a:cs typeface="Calibri" panose="020F0502020204030204" pitchFamily="34" charset="0"/>
                  </a:rPr>
                  <a:t>Slave</a:t>
                </a:r>
                <a:endParaRPr lang="ko-KR" altLang="en-US" sz="813" b="1" dirty="0">
                  <a:solidFill>
                    <a:srgbClr val="12ADEA"/>
                  </a:solidFill>
                  <a:latin typeface="+mn-ea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97BE2DD6-5A1B-19AD-995D-D081D3CB81DC}"/>
                </a:ext>
              </a:extLst>
            </p:cNvPr>
            <p:cNvSpPr txBox="1"/>
            <p:nvPr/>
          </p:nvSpPr>
          <p:spPr>
            <a:xfrm>
              <a:off x="2887093" y="5880357"/>
              <a:ext cx="740436" cy="667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925" dirty="0">
                  <a:latin typeface="+mn-ea"/>
                </a:rPr>
                <a:t>➟</a:t>
              </a:r>
              <a:endParaRPr lang="ko-KR" altLang="en-US" sz="2925" dirty="0">
                <a:latin typeface="+mn-ea"/>
              </a:endParaRPr>
            </a:p>
          </p:txBody>
        </p:sp>
        <p:grpSp>
          <p:nvGrpSpPr>
            <p:cNvPr id="303" name="그룹 302">
              <a:extLst>
                <a:ext uri="{FF2B5EF4-FFF2-40B4-BE49-F238E27FC236}">
                  <a16:creationId xmlns:a16="http://schemas.microsoft.com/office/drawing/2014/main" id="{CD4B002D-9977-6A53-D5CD-A8248F8C319D}"/>
                </a:ext>
              </a:extLst>
            </p:cNvPr>
            <p:cNvGrpSpPr/>
            <p:nvPr/>
          </p:nvGrpSpPr>
          <p:grpSpPr>
            <a:xfrm>
              <a:off x="1466053" y="5987520"/>
              <a:ext cx="950876" cy="803985"/>
              <a:chOff x="1594645" y="5987520"/>
              <a:chExt cx="950876" cy="803985"/>
            </a:xfrm>
          </p:grpSpPr>
          <p:pic>
            <p:nvPicPr>
              <p:cNvPr id="167" name="그림 166">
                <a:extLst>
                  <a:ext uri="{FF2B5EF4-FFF2-40B4-BE49-F238E27FC236}">
                    <a16:creationId xmlns:a16="http://schemas.microsoft.com/office/drawing/2014/main" id="{99EA9AC2-4C53-B61F-47F2-8A153C910A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54083" y="5987520"/>
                <a:ext cx="432000" cy="432000"/>
              </a:xfrm>
              <a:prstGeom prst="rect">
                <a:avLst/>
              </a:prstGeom>
            </p:spPr>
          </p:pic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C38041F2-4A37-525C-1D3F-17056E9DF028}"/>
                  </a:ext>
                </a:extLst>
              </p:cNvPr>
              <p:cNvSpPr txBox="1"/>
              <p:nvPr/>
            </p:nvSpPr>
            <p:spPr>
              <a:xfrm>
                <a:off x="1594645" y="6369930"/>
                <a:ext cx="950876" cy="421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13" b="1" dirty="0">
                    <a:solidFill>
                      <a:srgbClr val="12ADEA"/>
                    </a:solidFill>
                    <a:latin typeface="+mn-ea"/>
                    <a:cs typeface="Calibri" panose="020F0502020204030204" pitchFamily="34" charset="0"/>
                  </a:rPr>
                  <a:t>Cache</a:t>
                </a:r>
              </a:p>
              <a:p>
                <a:pPr algn="ctr"/>
                <a:r>
                  <a:rPr lang="en-US" altLang="ko-KR" sz="813" b="1" dirty="0">
                    <a:solidFill>
                      <a:srgbClr val="12ADEA"/>
                    </a:solidFill>
                    <a:latin typeface="+mn-ea"/>
                    <a:cs typeface="Calibri" panose="020F0502020204030204" pitchFamily="34" charset="0"/>
                  </a:rPr>
                  <a:t>Redis</a:t>
                </a:r>
                <a:endParaRPr lang="ko-KR" altLang="en-US" sz="813" b="1" dirty="0">
                  <a:solidFill>
                    <a:srgbClr val="12ADEA"/>
                  </a:solidFill>
                  <a:latin typeface="+mn-ea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170" name="그림 169">
              <a:extLst>
                <a:ext uri="{FF2B5EF4-FFF2-40B4-BE49-F238E27FC236}">
                  <a16:creationId xmlns:a16="http://schemas.microsoft.com/office/drawing/2014/main" id="{7240C0A7-6F6E-588B-2EAF-1CE11EC9E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2840" y="5981697"/>
              <a:ext cx="432000" cy="432000"/>
            </a:xfrm>
            <a:prstGeom prst="rect">
              <a:avLst/>
            </a:prstGeom>
          </p:spPr>
        </p:pic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3B7553B1-EF6A-50A9-9630-42E9479D6FD8}"/>
                </a:ext>
              </a:extLst>
            </p:cNvPr>
            <p:cNvSpPr txBox="1"/>
            <p:nvPr/>
          </p:nvSpPr>
          <p:spPr>
            <a:xfrm>
              <a:off x="681806" y="6363819"/>
              <a:ext cx="927306" cy="4215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13" b="1" dirty="0">
                  <a:solidFill>
                    <a:srgbClr val="12ADEA"/>
                  </a:solidFill>
                  <a:latin typeface="+mn-ea"/>
                  <a:cs typeface="Calibri" panose="020F0502020204030204" pitchFamily="34" charset="0"/>
                </a:rPr>
                <a:t>Proxy</a:t>
              </a:r>
            </a:p>
            <a:p>
              <a:pPr algn="ctr"/>
              <a:r>
                <a:rPr lang="en-US" altLang="ko-KR" sz="813" b="1" dirty="0">
                  <a:solidFill>
                    <a:srgbClr val="12ADEA"/>
                  </a:solidFill>
                  <a:latin typeface="+mn-ea"/>
                  <a:cs typeface="Calibri" panose="020F0502020204030204" pitchFamily="34" charset="0"/>
                </a:rPr>
                <a:t>Redis</a:t>
              </a:r>
              <a:endParaRPr lang="ko-KR" altLang="en-US" sz="813" b="1" dirty="0">
                <a:solidFill>
                  <a:srgbClr val="12ADEA"/>
                </a:solidFill>
                <a:latin typeface="+mn-ea"/>
                <a:cs typeface="Calibri" panose="020F0502020204030204" pitchFamily="34" charset="0"/>
              </a:endParaRPr>
            </a:p>
          </p:txBody>
        </p:sp>
        <p:cxnSp>
          <p:nvCxnSpPr>
            <p:cNvPr id="226" name="직선 화살표 연결선 225">
              <a:extLst>
                <a:ext uri="{FF2B5EF4-FFF2-40B4-BE49-F238E27FC236}">
                  <a16:creationId xmlns:a16="http://schemas.microsoft.com/office/drawing/2014/main" id="{F24BBD7A-F701-D4FA-717B-0DE32B515C98}"/>
                </a:ext>
              </a:extLst>
            </p:cNvPr>
            <p:cNvCxnSpPr>
              <a:cxnSpLocks/>
              <a:stCxn id="167" idx="3"/>
              <a:endCxn id="162" idx="1"/>
            </p:cNvCxnSpPr>
            <p:nvPr/>
          </p:nvCxnSpPr>
          <p:spPr>
            <a:xfrm>
              <a:off x="2157491" y="6203520"/>
              <a:ext cx="245417" cy="0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직선 화살표 연결선 228">
              <a:extLst>
                <a:ext uri="{FF2B5EF4-FFF2-40B4-BE49-F238E27FC236}">
                  <a16:creationId xmlns:a16="http://schemas.microsoft.com/office/drawing/2014/main" id="{9D5CEF51-4F3D-3F6A-525B-69FC82F364B6}"/>
                </a:ext>
              </a:extLst>
            </p:cNvPr>
            <p:cNvCxnSpPr>
              <a:stCxn id="170" idx="3"/>
              <a:endCxn id="167" idx="1"/>
            </p:cNvCxnSpPr>
            <p:nvPr/>
          </p:nvCxnSpPr>
          <p:spPr>
            <a:xfrm>
              <a:off x="1324840" y="6197697"/>
              <a:ext cx="400651" cy="5823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1" name="꺾인 연결선[E] 230">
            <a:extLst>
              <a:ext uri="{FF2B5EF4-FFF2-40B4-BE49-F238E27FC236}">
                <a16:creationId xmlns:a16="http://schemas.microsoft.com/office/drawing/2014/main" id="{99BD9C73-3447-A61D-C884-32241F213239}"/>
              </a:ext>
            </a:extLst>
          </p:cNvPr>
          <p:cNvCxnSpPr>
            <a:stCxn id="212" idx="0"/>
            <a:endCxn id="150" idx="1"/>
          </p:cNvCxnSpPr>
          <p:nvPr/>
        </p:nvCxnSpPr>
        <p:spPr>
          <a:xfrm rot="5400000" flipH="1" flipV="1">
            <a:off x="2755068" y="3848074"/>
            <a:ext cx="153600" cy="634629"/>
          </a:xfrm>
          <a:prstGeom prst="bentConnector2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꺾인 연결선[E] 232">
            <a:extLst>
              <a:ext uri="{FF2B5EF4-FFF2-40B4-BE49-F238E27FC236}">
                <a16:creationId xmlns:a16="http://schemas.microsoft.com/office/drawing/2014/main" id="{C7B7E2A1-58EF-1DAB-F01F-2A355B727BB3}"/>
              </a:ext>
            </a:extLst>
          </p:cNvPr>
          <p:cNvCxnSpPr>
            <a:stCxn id="212" idx="2"/>
            <a:endCxn id="153" idx="1"/>
          </p:cNvCxnSpPr>
          <p:nvPr/>
        </p:nvCxnSpPr>
        <p:spPr>
          <a:xfrm rot="16200000" flipH="1">
            <a:off x="2748984" y="4293390"/>
            <a:ext cx="165769" cy="634629"/>
          </a:xfrm>
          <a:prstGeom prst="bentConnector2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직선 화살표 연결선 234">
            <a:extLst>
              <a:ext uri="{FF2B5EF4-FFF2-40B4-BE49-F238E27FC236}">
                <a16:creationId xmlns:a16="http://schemas.microsoft.com/office/drawing/2014/main" id="{A89114B8-51AB-8209-683F-0B257A96C485}"/>
              </a:ext>
            </a:extLst>
          </p:cNvPr>
          <p:cNvCxnSpPr>
            <a:stCxn id="207" idx="3"/>
            <a:endCxn id="202" idx="1"/>
          </p:cNvCxnSpPr>
          <p:nvPr/>
        </p:nvCxnSpPr>
        <p:spPr>
          <a:xfrm>
            <a:off x="4464484" y="4385005"/>
            <a:ext cx="441807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꺾인 연결선[E] 238">
            <a:extLst>
              <a:ext uri="{FF2B5EF4-FFF2-40B4-BE49-F238E27FC236}">
                <a16:creationId xmlns:a16="http://schemas.microsoft.com/office/drawing/2014/main" id="{26773CFB-6024-5B1A-2A54-2667216E1AD3}"/>
              </a:ext>
            </a:extLst>
          </p:cNvPr>
          <p:cNvCxnSpPr>
            <a:cxnSpLocks/>
          </p:cNvCxnSpPr>
          <p:nvPr/>
        </p:nvCxnSpPr>
        <p:spPr>
          <a:xfrm rot="5400000">
            <a:off x="1535716" y="4200427"/>
            <a:ext cx="1659309" cy="603068"/>
          </a:xfrm>
          <a:prstGeom prst="bentConnector3">
            <a:avLst>
              <a:gd name="adj1" fmla="val 17818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2" name="그룹 261">
            <a:extLst>
              <a:ext uri="{FF2B5EF4-FFF2-40B4-BE49-F238E27FC236}">
                <a16:creationId xmlns:a16="http://schemas.microsoft.com/office/drawing/2014/main" id="{D0536C48-FE7A-0E3C-2EF2-2C58D5F097A6}"/>
              </a:ext>
            </a:extLst>
          </p:cNvPr>
          <p:cNvGrpSpPr/>
          <p:nvPr/>
        </p:nvGrpSpPr>
        <p:grpSpPr>
          <a:xfrm>
            <a:off x="7272511" y="1178750"/>
            <a:ext cx="2216934" cy="1702940"/>
            <a:chOff x="8027224" y="876302"/>
            <a:chExt cx="2728534" cy="2095926"/>
          </a:xfrm>
        </p:grpSpPr>
        <p:sp>
          <p:nvSpPr>
            <p:cNvPr id="254" name="직사각형 253">
              <a:extLst>
                <a:ext uri="{FF2B5EF4-FFF2-40B4-BE49-F238E27FC236}">
                  <a16:creationId xmlns:a16="http://schemas.microsoft.com/office/drawing/2014/main" id="{767D31B5-BCF3-6262-3B13-E5ED6D481837}"/>
                </a:ext>
              </a:extLst>
            </p:cNvPr>
            <p:cNvSpPr/>
            <p:nvPr/>
          </p:nvSpPr>
          <p:spPr>
            <a:xfrm>
              <a:off x="8027224" y="876302"/>
              <a:ext cx="2728534" cy="20959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31" dirty="0">
                <a:latin typeface="+mn-ea"/>
              </a:endParaRPr>
            </a:p>
          </p:txBody>
        </p:sp>
        <p:sp>
          <p:nvSpPr>
            <p:cNvPr id="255" name="Google Shape;91;p2">
              <a:extLst>
                <a:ext uri="{FF2B5EF4-FFF2-40B4-BE49-F238E27FC236}">
                  <a16:creationId xmlns:a16="http://schemas.microsoft.com/office/drawing/2014/main" id="{4A430E4B-F895-E948-8097-DC0E204C1058}"/>
                </a:ext>
              </a:extLst>
            </p:cNvPr>
            <p:cNvSpPr txBox="1"/>
            <p:nvPr/>
          </p:nvSpPr>
          <p:spPr>
            <a:xfrm>
              <a:off x="8384642" y="906474"/>
              <a:ext cx="2025529" cy="3693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4283" tIns="37131" rIns="74283" bIns="37131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</a:pPr>
              <a:r>
                <a:rPr lang="ko-KR" altLang="en-US" sz="1463" dirty="0">
                  <a:solidFill>
                    <a:srgbClr val="5DA1C3"/>
                  </a:solidFill>
                  <a:latin typeface="+mn-ea"/>
                  <a:cs typeface="Malgun Gothic"/>
                  <a:sym typeface="Malgun Gothic"/>
                </a:rPr>
                <a:t>강의</a:t>
              </a:r>
              <a:r>
                <a:rPr lang="en-US" sz="1463" dirty="0">
                  <a:solidFill>
                    <a:srgbClr val="5DA1C3"/>
                  </a:solidFill>
                  <a:latin typeface="+mn-ea"/>
                  <a:cs typeface="Malgun Gothic"/>
                  <a:sym typeface="Malgun Gothic"/>
                </a:rPr>
                <a:t> VPC</a:t>
              </a:r>
              <a:endParaRPr sz="1463" dirty="0">
                <a:solidFill>
                  <a:srgbClr val="5DA1C3"/>
                </a:solidFill>
                <a:latin typeface="+mn-ea"/>
                <a:cs typeface="Malgun Gothic"/>
                <a:sym typeface="Malgun Gothic"/>
              </a:endParaRPr>
            </a:p>
          </p:txBody>
        </p:sp>
        <p:pic>
          <p:nvPicPr>
            <p:cNvPr id="256" name="Google Shape;92;p2">
              <a:extLst>
                <a:ext uri="{FF2B5EF4-FFF2-40B4-BE49-F238E27FC236}">
                  <a16:creationId xmlns:a16="http://schemas.microsoft.com/office/drawing/2014/main" id="{C3AC243A-2627-2F75-5155-FBADD33035E3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027224" y="876302"/>
              <a:ext cx="421979" cy="48368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7" name="그룹 256">
            <a:extLst>
              <a:ext uri="{FF2B5EF4-FFF2-40B4-BE49-F238E27FC236}">
                <a16:creationId xmlns:a16="http://schemas.microsoft.com/office/drawing/2014/main" id="{4C1C81D8-3E25-731E-3884-54BC32BEF1AF}"/>
              </a:ext>
            </a:extLst>
          </p:cNvPr>
          <p:cNvGrpSpPr/>
          <p:nvPr/>
        </p:nvGrpSpPr>
        <p:grpSpPr>
          <a:xfrm>
            <a:off x="6424548" y="1713877"/>
            <a:ext cx="604868" cy="297517"/>
            <a:chOff x="3285170" y="5744901"/>
            <a:chExt cx="744453" cy="366174"/>
          </a:xfrm>
        </p:grpSpPr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F048C76C-DD2F-F392-F02E-D6685D49BACC}"/>
                </a:ext>
              </a:extLst>
            </p:cNvPr>
            <p:cNvSpPr txBox="1"/>
            <p:nvPr/>
          </p:nvSpPr>
          <p:spPr>
            <a:xfrm>
              <a:off x="3461356" y="5744901"/>
              <a:ext cx="568267" cy="366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813"/>
                </a:lnSpc>
              </a:pPr>
              <a:r>
                <a:rPr lang="en-US" altLang="ko-KR" sz="813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Calibri" panose="020F0502020204030204" pitchFamily="34" charset="0"/>
                </a:rPr>
                <a:t>IPSec</a:t>
              </a:r>
            </a:p>
            <a:p>
              <a:pPr algn="ctr">
                <a:lnSpc>
                  <a:spcPts val="813"/>
                </a:lnSpc>
              </a:pPr>
              <a:r>
                <a:rPr lang="en-US" altLang="ko-KR" sz="813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Calibri" panose="020F0502020204030204" pitchFamily="34" charset="0"/>
                </a:rPr>
                <a:t>VPN</a:t>
              </a:r>
              <a:endParaRPr lang="ko-KR" altLang="en-US" sz="813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Calibri" panose="020F0502020204030204" pitchFamily="34" charset="0"/>
              </a:endParaRPr>
            </a:p>
          </p:txBody>
        </p:sp>
        <p:pic>
          <p:nvPicPr>
            <p:cNvPr id="259" name="그림 258">
              <a:extLst>
                <a:ext uri="{FF2B5EF4-FFF2-40B4-BE49-F238E27FC236}">
                  <a16:creationId xmlns:a16="http://schemas.microsoft.com/office/drawing/2014/main" id="{749D80F9-CF65-EC02-F244-7A0EDF7E7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5170" y="5779169"/>
              <a:ext cx="288000" cy="288000"/>
            </a:xfrm>
            <a:prstGeom prst="rect">
              <a:avLst/>
            </a:prstGeom>
          </p:spPr>
        </p:pic>
      </p:grp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41D9A7CB-E179-7D99-2455-68C773324E71}"/>
              </a:ext>
            </a:extLst>
          </p:cNvPr>
          <p:cNvGrpSpPr/>
          <p:nvPr/>
        </p:nvGrpSpPr>
        <p:grpSpPr>
          <a:xfrm>
            <a:off x="6285249" y="2228493"/>
            <a:ext cx="769763" cy="551235"/>
            <a:chOff x="7256587" y="1158089"/>
            <a:chExt cx="947401" cy="678443"/>
          </a:xfrm>
        </p:grpSpPr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61BDA13E-8593-88EE-0A22-D793EDF9F0E7}"/>
                </a:ext>
              </a:extLst>
            </p:cNvPr>
            <p:cNvSpPr txBox="1"/>
            <p:nvPr/>
          </p:nvSpPr>
          <p:spPr>
            <a:xfrm>
              <a:off x="7256587" y="1568924"/>
              <a:ext cx="947401" cy="2676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" altLang="ko-KR" sz="813" dirty="0">
                  <a:latin typeface="+mn-ea"/>
                  <a:cs typeface="Arial" panose="020B0604020202020204" pitchFamily="34" charset="0"/>
                </a:rPr>
                <a:t>VPC Peering</a:t>
              </a:r>
              <a:endParaRPr lang="ko-KR" altLang="en-US" sz="813" dirty="0"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261" name="그림 260">
              <a:extLst>
                <a:ext uri="{FF2B5EF4-FFF2-40B4-BE49-F238E27FC236}">
                  <a16:creationId xmlns:a16="http://schemas.microsoft.com/office/drawing/2014/main" id="{D0545E0D-7977-A7F7-A17A-A83641F085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2124" y="1158089"/>
              <a:ext cx="432000" cy="432000"/>
            </a:xfrm>
            <a:prstGeom prst="rect">
              <a:avLst/>
            </a:prstGeom>
          </p:spPr>
        </p:pic>
      </p:grpSp>
      <p:grpSp>
        <p:nvGrpSpPr>
          <p:cNvPr id="268" name="그룹 267">
            <a:extLst>
              <a:ext uri="{FF2B5EF4-FFF2-40B4-BE49-F238E27FC236}">
                <a16:creationId xmlns:a16="http://schemas.microsoft.com/office/drawing/2014/main" id="{24E930BC-A3A8-118F-215D-95CC49DD18F7}"/>
              </a:ext>
            </a:extLst>
          </p:cNvPr>
          <p:cNvGrpSpPr/>
          <p:nvPr/>
        </p:nvGrpSpPr>
        <p:grpSpPr>
          <a:xfrm>
            <a:off x="7272511" y="1989555"/>
            <a:ext cx="2216934" cy="899255"/>
            <a:chOff x="8950783" y="1874216"/>
            <a:chExt cx="2728534" cy="1106775"/>
          </a:xfrm>
        </p:grpSpPr>
        <p:sp>
          <p:nvSpPr>
            <p:cNvPr id="265" name="Google Shape;94;p2">
              <a:extLst>
                <a:ext uri="{FF2B5EF4-FFF2-40B4-BE49-F238E27FC236}">
                  <a16:creationId xmlns:a16="http://schemas.microsoft.com/office/drawing/2014/main" id="{73B87CAD-A0E6-9C04-EF7F-B4C022A6934C}"/>
                </a:ext>
              </a:extLst>
            </p:cNvPr>
            <p:cNvSpPr/>
            <p:nvPr/>
          </p:nvSpPr>
          <p:spPr>
            <a:xfrm>
              <a:off x="8950783" y="1874216"/>
              <a:ext cx="2728534" cy="1106775"/>
            </a:xfrm>
            <a:prstGeom prst="rect">
              <a:avLst/>
            </a:prstGeom>
            <a:solidFill>
              <a:srgbClr val="ABDAF2">
                <a:alpha val="29411"/>
              </a:srgbClr>
            </a:solidFill>
            <a:ln>
              <a:noFill/>
            </a:ln>
          </p:spPr>
          <p:txBody>
            <a:bodyPr spcFirstLastPara="1" wrap="square" lIns="74283" tIns="37131" rIns="74283" bIns="37131" anchor="ctr" anchorCtr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</a:pPr>
              <a:endParaRPr sz="1463">
                <a:solidFill>
                  <a:schemeClr val="lt1"/>
                </a:solidFill>
                <a:latin typeface="+mn-ea"/>
                <a:cs typeface="Malgun Gothic"/>
                <a:sym typeface="Malgun Gothic"/>
              </a:endParaRPr>
            </a:p>
          </p:txBody>
        </p:sp>
        <p:sp>
          <p:nvSpPr>
            <p:cNvPr id="266" name="Google Shape;95;p2">
              <a:extLst>
                <a:ext uri="{FF2B5EF4-FFF2-40B4-BE49-F238E27FC236}">
                  <a16:creationId xmlns:a16="http://schemas.microsoft.com/office/drawing/2014/main" id="{7709D166-72B1-5A89-FE03-FA300FBAA29D}"/>
                </a:ext>
              </a:extLst>
            </p:cNvPr>
            <p:cNvSpPr txBox="1"/>
            <p:nvPr/>
          </p:nvSpPr>
          <p:spPr>
            <a:xfrm>
              <a:off x="9138321" y="1878434"/>
              <a:ext cx="1018226" cy="2616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4283" tIns="37131" rIns="74283" bIns="37131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</a:pPr>
              <a:r>
                <a:rPr lang="en-US" sz="894" dirty="0">
                  <a:solidFill>
                    <a:srgbClr val="5DA1C3"/>
                  </a:solidFill>
                  <a:latin typeface="+mn-ea"/>
                  <a:cs typeface="Malgun Gothic"/>
                  <a:sym typeface="Malgun Gothic"/>
                </a:rPr>
                <a:t>DB subnet</a:t>
              </a:r>
              <a:endParaRPr sz="894" dirty="0">
                <a:solidFill>
                  <a:srgbClr val="5DA1C3"/>
                </a:solidFill>
                <a:latin typeface="+mn-ea"/>
                <a:cs typeface="Malgun Gothic"/>
                <a:sym typeface="Malgun Gothic"/>
              </a:endParaRPr>
            </a:p>
          </p:txBody>
        </p:sp>
        <p:pic>
          <p:nvPicPr>
            <p:cNvPr id="267" name="Google Shape;96;p2">
              <a:extLst>
                <a:ext uri="{FF2B5EF4-FFF2-40B4-BE49-F238E27FC236}">
                  <a16:creationId xmlns:a16="http://schemas.microsoft.com/office/drawing/2014/main" id="{89F3E8B5-16F4-7A96-F260-6FE0AFCDEEA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950783" y="1874217"/>
              <a:ext cx="230400" cy="27208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D55D75CB-D58E-F702-BFC4-BD3752C4417E}"/>
              </a:ext>
            </a:extLst>
          </p:cNvPr>
          <p:cNvGrpSpPr/>
          <p:nvPr/>
        </p:nvGrpSpPr>
        <p:grpSpPr>
          <a:xfrm>
            <a:off x="3639138" y="1222108"/>
            <a:ext cx="979225" cy="594467"/>
            <a:chOff x="4767005" y="1951362"/>
            <a:chExt cx="1205200" cy="731651"/>
          </a:xfrm>
        </p:grpSpPr>
        <p:sp>
          <p:nvSpPr>
            <p:cNvPr id="270" name="직사각형 269">
              <a:extLst>
                <a:ext uri="{FF2B5EF4-FFF2-40B4-BE49-F238E27FC236}">
                  <a16:creationId xmlns:a16="http://schemas.microsoft.com/office/drawing/2014/main" id="{5359A56F-B7FE-8851-D482-372EFFD229F9}"/>
                </a:ext>
              </a:extLst>
            </p:cNvPr>
            <p:cNvSpPr/>
            <p:nvPr/>
          </p:nvSpPr>
          <p:spPr>
            <a:xfrm>
              <a:off x="4767005" y="1951362"/>
              <a:ext cx="1205200" cy="6631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B9B9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31">
                <a:latin typeface="+mn-ea"/>
              </a:endParaRPr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D9532308-12B6-C96A-BD15-1DF71E0F927F}"/>
                </a:ext>
              </a:extLst>
            </p:cNvPr>
            <p:cNvSpPr txBox="1"/>
            <p:nvPr/>
          </p:nvSpPr>
          <p:spPr>
            <a:xfrm>
              <a:off x="4828039" y="2323151"/>
              <a:ext cx="635628" cy="3598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" altLang="ko-KR" sz="65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Calibri" panose="020F0502020204030204" pitchFamily="34" charset="0"/>
                </a:rPr>
                <a:t>An</a:t>
              </a:r>
              <a:r>
                <a:rPr lang="en-US" altLang="ko-KR" sz="65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Calibri" panose="020F0502020204030204" pitchFamily="34" charset="0"/>
                </a:rPr>
                <a:t>ti</a:t>
              </a:r>
              <a:r>
                <a:rPr lang="en-US" altLang="ko-KR" sz="65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Calibri" panose="020F0502020204030204" pitchFamily="34" charset="0"/>
                </a:rPr>
                <a:t>-DDoS</a:t>
              </a:r>
              <a:endParaRPr lang="ko-KR" altLang="en-US" sz="6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Calibri" panose="020F0502020204030204" pitchFamily="34" charset="0"/>
              </a:endParaRP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39A5D706-692B-5AF4-2EE2-1FF04668AD78}"/>
                </a:ext>
              </a:extLst>
            </p:cNvPr>
            <p:cNvSpPr txBox="1"/>
            <p:nvPr/>
          </p:nvSpPr>
          <p:spPr>
            <a:xfrm>
              <a:off x="5389878" y="2323151"/>
              <a:ext cx="568267" cy="2367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5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Calibri" panose="020F0502020204030204" pitchFamily="34" charset="0"/>
                </a:rPr>
                <a:t>WAF</a:t>
              </a:r>
              <a:endParaRPr lang="ko-KR" altLang="en-US" sz="6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Calibri" panose="020F0502020204030204" pitchFamily="34" charset="0"/>
              </a:endParaRPr>
            </a:p>
          </p:txBody>
        </p:sp>
        <p:pic>
          <p:nvPicPr>
            <p:cNvPr id="273" name="그림 272">
              <a:extLst>
                <a:ext uri="{FF2B5EF4-FFF2-40B4-BE49-F238E27FC236}">
                  <a16:creationId xmlns:a16="http://schemas.microsoft.com/office/drawing/2014/main" id="{CBFE0F6C-C32E-41CC-D2A4-61D158A0E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553040" y="2047950"/>
              <a:ext cx="244386" cy="303831"/>
            </a:xfrm>
            <a:prstGeom prst="rect">
              <a:avLst/>
            </a:prstGeom>
          </p:spPr>
        </p:pic>
        <p:pic>
          <p:nvPicPr>
            <p:cNvPr id="274" name="그림 273">
              <a:extLst>
                <a:ext uri="{FF2B5EF4-FFF2-40B4-BE49-F238E27FC236}">
                  <a16:creationId xmlns:a16="http://schemas.microsoft.com/office/drawing/2014/main" id="{880A4436-69D4-7376-2496-924E205D0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91856" y="2055865"/>
              <a:ext cx="288000" cy="288000"/>
            </a:xfrm>
            <a:prstGeom prst="rect">
              <a:avLst/>
            </a:prstGeom>
          </p:spPr>
        </p:pic>
      </p:grpSp>
      <p:sp>
        <p:nvSpPr>
          <p:cNvPr id="276" name="TextBox 275">
            <a:extLst>
              <a:ext uri="{FF2B5EF4-FFF2-40B4-BE49-F238E27FC236}">
                <a16:creationId xmlns:a16="http://schemas.microsoft.com/office/drawing/2014/main" id="{3FB09B13-909E-9515-0DC5-1F42B38491EB}"/>
              </a:ext>
            </a:extLst>
          </p:cNvPr>
          <p:cNvSpPr txBox="1"/>
          <p:nvPr/>
        </p:nvSpPr>
        <p:spPr>
          <a:xfrm>
            <a:off x="2456233" y="1383202"/>
            <a:ext cx="511680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" altLang="ko-KR" sz="650" dirty="0">
                <a:latin typeface="+mn-ea"/>
                <a:cs typeface="Arial" panose="020B0604020202020204" pitchFamily="34" charset="0"/>
              </a:rPr>
              <a:t>Public IP</a:t>
            </a:r>
            <a:endParaRPr lang="ko-KR" altLang="en-US" sz="650" dirty="0">
              <a:latin typeface="+mn-ea"/>
              <a:cs typeface="Arial" panose="020B0604020202020204" pitchFamily="34" charset="0"/>
            </a:endParaRPr>
          </a:p>
        </p:txBody>
      </p:sp>
      <p:pic>
        <p:nvPicPr>
          <p:cNvPr id="277" name="그림 276">
            <a:extLst>
              <a:ext uri="{FF2B5EF4-FFF2-40B4-BE49-F238E27FC236}">
                <a16:creationId xmlns:a16="http://schemas.microsoft.com/office/drawing/2014/main" id="{BA9533CD-8CAE-C56F-00FB-DC836BA34679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071" y="1214912"/>
            <a:ext cx="234000" cy="234000"/>
          </a:xfrm>
          <a:prstGeom prst="rect">
            <a:avLst/>
          </a:prstGeom>
        </p:spPr>
      </p:pic>
      <p:grpSp>
        <p:nvGrpSpPr>
          <p:cNvPr id="278" name="그룹 277">
            <a:extLst>
              <a:ext uri="{FF2B5EF4-FFF2-40B4-BE49-F238E27FC236}">
                <a16:creationId xmlns:a16="http://schemas.microsoft.com/office/drawing/2014/main" id="{4B6585B6-7D28-20DD-8562-10CA00F2F49C}"/>
              </a:ext>
            </a:extLst>
          </p:cNvPr>
          <p:cNvGrpSpPr/>
          <p:nvPr/>
        </p:nvGrpSpPr>
        <p:grpSpPr>
          <a:xfrm>
            <a:off x="4621228" y="1293936"/>
            <a:ext cx="450123" cy="507500"/>
            <a:chOff x="9441355" y="1621558"/>
            <a:chExt cx="553998" cy="624615"/>
          </a:xfrm>
        </p:grpSpPr>
        <p:sp>
          <p:nvSpPr>
            <p:cNvPr id="279" name="TextBox 46">
              <a:extLst>
                <a:ext uri="{FF2B5EF4-FFF2-40B4-BE49-F238E27FC236}">
                  <a16:creationId xmlns:a16="http://schemas.microsoft.com/office/drawing/2014/main" id="{408C75A1-A88E-6940-73C4-BAFFC03A43B8}"/>
                </a:ext>
              </a:extLst>
            </p:cNvPr>
            <p:cNvSpPr txBox="1"/>
            <p:nvPr/>
          </p:nvSpPr>
          <p:spPr>
            <a:xfrm>
              <a:off x="9441355" y="1886311"/>
              <a:ext cx="553998" cy="35986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7147" rIns="37147">
              <a:spAutoFit/>
            </a:bodyPr>
            <a:lstStyle>
              <a:lvl1pPr algn="ctr">
                <a:defRPr sz="1000">
                  <a:solidFill>
                    <a:srgbClr val="AFABA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650" dirty="0">
                  <a:solidFill>
                    <a:schemeClr val="tx1"/>
                  </a:solidFill>
                  <a:latin typeface="+mn-ea"/>
                  <a:ea typeface="+mn-ea"/>
                </a:rPr>
                <a:t>Certificate</a:t>
              </a:r>
              <a:endParaRPr lang="en-US" sz="650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r>
                <a:rPr sz="650" dirty="0">
                  <a:solidFill>
                    <a:schemeClr val="tx1"/>
                  </a:solidFill>
                  <a:latin typeface="+mn-ea"/>
                  <a:ea typeface="+mn-ea"/>
                </a:rPr>
                <a:t>Manager</a:t>
              </a:r>
            </a:p>
          </p:txBody>
        </p:sp>
        <p:pic>
          <p:nvPicPr>
            <p:cNvPr id="280" name="그림 279" descr="텍스트, 표지판이(가) 표시된 사진&#10;&#10;자동 생성된 설명">
              <a:extLst>
                <a:ext uri="{FF2B5EF4-FFF2-40B4-BE49-F238E27FC236}">
                  <a16:creationId xmlns:a16="http://schemas.microsoft.com/office/drawing/2014/main" id="{A726A51F-4322-C81B-6497-60CC52990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5216" y="1621558"/>
              <a:ext cx="288000" cy="288000"/>
            </a:xfrm>
            <a:prstGeom prst="rect">
              <a:avLst/>
            </a:prstGeom>
          </p:spPr>
        </p:pic>
      </p:grpSp>
      <p:grpSp>
        <p:nvGrpSpPr>
          <p:cNvPr id="281" name="그룹 280">
            <a:extLst>
              <a:ext uri="{FF2B5EF4-FFF2-40B4-BE49-F238E27FC236}">
                <a16:creationId xmlns:a16="http://schemas.microsoft.com/office/drawing/2014/main" id="{89428B6B-7BF9-DD7D-6C28-7641EB17285E}"/>
              </a:ext>
            </a:extLst>
          </p:cNvPr>
          <p:cNvGrpSpPr/>
          <p:nvPr/>
        </p:nvGrpSpPr>
        <p:grpSpPr>
          <a:xfrm>
            <a:off x="5056038" y="1297264"/>
            <a:ext cx="349776" cy="404141"/>
            <a:chOff x="9976505" y="1625657"/>
            <a:chExt cx="430494" cy="497404"/>
          </a:xfrm>
        </p:grpSpPr>
        <p:pic>
          <p:nvPicPr>
            <p:cNvPr id="282" name="그림 281" descr="텍스트, 표지판, 거리, 쇠살대이(가) 표시된 사진&#10;&#10;자동 생성된 설명">
              <a:extLst>
                <a:ext uri="{FF2B5EF4-FFF2-40B4-BE49-F238E27FC236}">
                  <a16:creationId xmlns:a16="http://schemas.microsoft.com/office/drawing/2014/main" id="{5179A66E-C4A6-9ACB-3DEA-77A9E0242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47752" y="1625657"/>
              <a:ext cx="288000" cy="288000"/>
            </a:xfrm>
            <a:prstGeom prst="rect">
              <a:avLst/>
            </a:prstGeom>
          </p:spPr>
        </p:pic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106BD1FF-AE04-1BB6-A9B8-036AF0ECF704}"/>
                </a:ext>
              </a:extLst>
            </p:cNvPr>
            <p:cNvSpPr txBox="1"/>
            <p:nvPr/>
          </p:nvSpPr>
          <p:spPr>
            <a:xfrm>
              <a:off x="9976505" y="1886310"/>
              <a:ext cx="430494" cy="2367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" altLang="ko-KR" sz="650" dirty="0">
                  <a:latin typeface="+mn-ea"/>
                  <a:cs typeface="Arial" panose="020B0604020202020204" pitchFamily="34" charset="0"/>
                </a:rPr>
                <a:t>ACG</a:t>
              </a:r>
              <a:endParaRPr lang="ko-KR" altLang="en-US" sz="650" dirty="0">
                <a:latin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302" name="그룹 301">
            <a:extLst>
              <a:ext uri="{FF2B5EF4-FFF2-40B4-BE49-F238E27FC236}">
                <a16:creationId xmlns:a16="http://schemas.microsoft.com/office/drawing/2014/main" id="{1D2AE3DA-E3DE-4737-BD37-CAD743729AC8}"/>
              </a:ext>
            </a:extLst>
          </p:cNvPr>
          <p:cNvGrpSpPr/>
          <p:nvPr/>
        </p:nvGrpSpPr>
        <p:grpSpPr>
          <a:xfrm>
            <a:off x="5872952" y="4810690"/>
            <a:ext cx="762708" cy="584478"/>
            <a:chOff x="7228247" y="5346382"/>
            <a:chExt cx="938718" cy="719357"/>
          </a:xfrm>
        </p:grpSpPr>
        <p:sp>
          <p:nvSpPr>
            <p:cNvPr id="284" name="TextBox 55">
              <a:extLst>
                <a:ext uri="{FF2B5EF4-FFF2-40B4-BE49-F238E27FC236}">
                  <a16:creationId xmlns:a16="http://schemas.microsoft.com/office/drawing/2014/main" id="{2044B427-43CB-A705-E700-AF0F24F954B0}"/>
                </a:ext>
              </a:extLst>
            </p:cNvPr>
            <p:cNvSpPr txBox="1"/>
            <p:nvPr/>
          </p:nvSpPr>
          <p:spPr>
            <a:xfrm>
              <a:off x="7228247" y="5798131"/>
              <a:ext cx="938718" cy="26760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7147" rIns="37147">
              <a:spAutoFit/>
            </a:bodyPr>
            <a:lstStyle>
              <a:lvl1pPr algn="ctr">
                <a:defRPr sz="1000">
                  <a:solidFill>
                    <a:srgbClr val="AFABA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en-US" sz="813" dirty="0">
                  <a:solidFill>
                    <a:schemeClr val="tx1"/>
                  </a:solidFill>
                  <a:latin typeface="+mn-ea"/>
                  <a:ea typeface="+mn-ea"/>
                </a:rPr>
                <a:t>Cloud Connect</a:t>
              </a:r>
              <a:endParaRPr sz="813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pic>
          <p:nvPicPr>
            <p:cNvPr id="285" name="그림 284">
              <a:extLst>
                <a:ext uri="{FF2B5EF4-FFF2-40B4-BE49-F238E27FC236}">
                  <a16:creationId xmlns:a16="http://schemas.microsoft.com/office/drawing/2014/main" id="{96D32C72-59C3-6D41-788A-82CB68396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0579" y="5346382"/>
              <a:ext cx="432000" cy="432000"/>
            </a:xfrm>
            <a:prstGeom prst="rect">
              <a:avLst/>
            </a:prstGeom>
          </p:spPr>
        </p:pic>
      </p:grpSp>
      <p:grpSp>
        <p:nvGrpSpPr>
          <p:cNvPr id="296" name="그룹 295">
            <a:extLst>
              <a:ext uri="{FF2B5EF4-FFF2-40B4-BE49-F238E27FC236}">
                <a16:creationId xmlns:a16="http://schemas.microsoft.com/office/drawing/2014/main" id="{C4A45B81-1E0E-8B2C-6CE9-3CBE9117B377}"/>
              </a:ext>
            </a:extLst>
          </p:cNvPr>
          <p:cNvGrpSpPr/>
          <p:nvPr/>
        </p:nvGrpSpPr>
        <p:grpSpPr>
          <a:xfrm>
            <a:off x="6737841" y="4153806"/>
            <a:ext cx="539840" cy="531746"/>
            <a:chOff x="8404575" y="4852297"/>
            <a:chExt cx="664419" cy="654456"/>
          </a:xfrm>
        </p:grpSpPr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30ABDA75-0516-9231-A288-EBEF680EA154}"/>
                </a:ext>
              </a:extLst>
            </p:cNvPr>
            <p:cNvSpPr txBox="1"/>
            <p:nvPr/>
          </p:nvSpPr>
          <p:spPr>
            <a:xfrm>
              <a:off x="8404575" y="5266845"/>
              <a:ext cx="664419" cy="239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813"/>
                </a:lnSpc>
              </a:pPr>
              <a:r>
                <a:rPr lang="en-US" altLang="ko-KR" sz="813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Calibri" panose="020F0502020204030204" pitchFamily="34" charset="0"/>
                </a:rPr>
                <a:t>Admin</a:t>
              </a:r>
              <a:endParaRPr lang="ko-KR" altLang="en-US" sz="813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Calibri" panose="020F0502020204030204" pitchFamily="34" charset="0"/>
              </a:endParaRPr>
            </a:p>
          </p:txBody>
        </p:sp>
        <p:grpSp>
          <p:nvGrpSpPr>
            <p:cNvPr id="295" name="그룹 294">
              <a:extLst>
                <a:ext uri="{FF2B5EF4-FFF2-40B4-BE49-F238E27FC236}">
                  <a16:creationId xmlns:a16="http://schemas.microsoft.com/office/drawing/2014/main" id="{84980898-B01B-09D9-7DF5-9A26845A9CB0}"/>
                </a:ext>
              </a:extLst>
            </p:cNvPr>
            <p:cNvGrpSpPr/>
            <p:nvPr/>
          </p:nvGrpSpPr>
          <p:grpSpPr>
            <a:xfrm>
              <a:off x="8549984" y="4852297"/>
              <a:ext cx="406799" cy="406799"/>
              <a:chOff x="8659310" y="4852297"/>
              <a:chExt cx="406799" cy="406799"/>
            </a:xfrm>
          </p:grpSpPr>
          <p:pic>
            <p:nvPicPr>
              <p:cNvPr id="289" name="그림 288">
                <a:extLst>
                  <a:ext uri="{FF2B5EF4-FFF2-40B4-BE49-F238E27FC236}">
                    <a16:creationId xmlns:a16="http://schemas.microsoft.com/office/drawing/2014/main" id="{7946E07F-D483-69BB-887E-D9F390C27B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661266" y="4856209"/>
                <a:ext cx="402887" cy="402887"/>
              </a:xfrm>
              <a:prstGeom prst="rect">
                <a:avLst/>
              </a:prstGeom>
            </p:spPr>
          </p:pic>
          <p:pic>
            <p:nvPicPr>
              <p:cNvPr id="290" name="그림 289">
                <a:extLst>
                  <a:ext uri="{FF2B5EF4-FFF2-40B4-BE49-F238E27FC236}">
                    <a16:creationId xmlns:a16="http://schemas.microsoft.com/office/drawing/2014/main" id="{AC67A433-1A57-783E-C6CC-9E14B2BCEA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659310" y="4852297"/>
                <a:ext cx="406799" cy="406799"/>
              </a:xfrm>
              <a:prstGeom prst="rect">
                <a:avLst/>
              </a:prstGeom>
            </p:spPr>
          </p:pic>
        </p:grpSp>
      </p:grpSp>
      <p:grpSp>
        <p:nvGrpSpPr>
          <p:cNvPr id="297" name="그룹 296">
            <a:extLst>
              <a:ext uri="{FF2B5EF4-FFF2-40B4-BE49-F238E27FC236}">
                <a16:creationId xmlns:a16="http://schemas.microsoft.com/office/drawing/2014/main" id="{24C029BE-0D83-5DDF-9638-D7F3F9E3FD93}"/>
              </a:ext>
            </a:extLst>
          </p:cNvPr>
          <p:cNvGrpSpPr/>
          <p:nvPr/>
        </p:nvGrpSpPr>
        <p:grpSpPr>
          <a:xfrm>
            <a:off x="6720691" y="5282218"/>
            <a:ext cx="704195" cy="531618"/>
            <a:chOff x="9864879" y="4852454"/>
            <a:chExt cx="866701" cy="654299"/>
          </a:xfrm>
        </p:grpSpPr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E7700787-C8E6-4064-F8C9-D01BDED7056D}"/>
                </a:ext>
              </a:extLst>
            </p:cNvPr>
            <p:cNvSpPr txBox="1"/>
            <p:nvPr/>
          </p:nvSpPr>
          <p:spPr>
            <a:xfrm>
              <a:off x="9864879" y="5266845"/>
              <a:ext cx="866701" cy="239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ts val="813"/>
                </a:lnSpc>
              </a:pPr>
              <a:r>
                <a:rPr lang="en-US" altLang="ko-KR" sz="813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Calibri" panose="020F0502020204030204" pitchFamily="34" charset="0"/>
                </a:rPr>
                <a:t>Developer</a:t>
              </a:r>
              <a:endParaRPr lang="ko-KR" altLang="en-US" sz="813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Calibri" panose="020F0502020204030204" pitchFamily="34" charset="0"/>
              </a:endParaRPr>
            </a:p>
          </p:txBody>
        </p:sp>
        <p:grpSp>
          <p:nvGrpSpPr>
            <p:cNvPr id="292" name="그룹 291">
              <a:extLst>
                <a:ext uri="{FF2B5EF4-FFF2-40B4-BE49-F238E27FC236}">
                  <a16:creationId xmlns:a16="http://schemas.microsoft.com/office/drawing/2014/main" id="{9956ECDC-C14B-7FA4-4E51-CEF7E0DB64EC}"/>
                </a:ext>
              </a:extLst>
            </p:cNvPr>
            <p:cNvGrpSpPr/>
            <p:nvPr/>
          </p:nvGrpSpPr>
          <p:grpSpPr>
            <a:xfrm>
              <a:off x="10060273" y="4852454"/>
              <a:ext cx="407439" cy="406799"/>
              <a:chOff x="9072689" y="983801"/>
              <a:chExt cx="407439" cy="406799"/>
            </a:xfrm>
          </p:grpSpPr>
          <p:pic>
            <p:nvPicPr>
              <p:cNvPr id="293" name="그림 292">
                <a:extLst>
                  <a:ext uri="{FF2B5EF4-FFF2-40B4-BE49-F238E27FC236}">
                    <a16:creationId xmlns:a16="http://schemas.microsoft.com/office/drawing/2014/main" id="{2E97AB73-5CA2-52D4-30F4-6C1A603D74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077241" y="987713"/>
                <a:ext cx="402887" cy="402887"/>
              </a:xfrm>
              <a:prstGeom prst="rect">
                <a:avLst/>
              </a:prstGeom>
            </p:spPr>
          </p:pic>
          <p:pic>
            <p:nvPicPr>
              <p:cNvPr id="294" name="그림 293">
                <a:extLst>
                  <a:ext uri="{FF2B5EF4-FFF2-40B4-BE49-F238E27FC236}">
                    <a16:creationId xmlns:a16="http://schemas.microsoft.com/office/drawing/2014/main" id="{0304E25A-5CB8-D30D-5F8D-40E1368D8A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72689" y="983801"/>
                <a:ext cx="406799" cy="406799"/>
              </a:xfrm>
              <a:prstGeom prst="rect">
                <a:avLst/>
              </a:prstGeom>
            </p:spPr>
          </p:pic>
        </p:grpSp>
      </p:grpSp>
      <p:cxnSp>
        <p:nvCxnSpPr>
          <p:cNvPr id="299" name="꺾인 연결선[E] 298">
            <a:extLst>
              <a:ext uri="{FF2B5EF4-FFF2-40B4-BE49-F238E27FC236}">
                <a16:creationId xmlns:a16="http://schemas.microsoft.com/office/drawing/2014/main" id="{E83A151D-654C-9C09-4CEB-B397313CBA6D}"/>
              </a:ext>
            </a:extLst>
          </p:cNvPr>
          <p:cNvCxnSpPr>
            <a:stCxn id="290" idx="1"/>
            <a:endCxn id="285" idx="0"/>
          </p:cNvCxnSpPr>
          <p:nvPr/>
        </p:nvCxnSpPr>
        <p:spPr>
          <a:xfrm rot="10800000" flipV="1">
            <a:off x="6269721" y="4319066"/>
            <a:ext cx="586264" cy="491623"/>
          </a:xfrm>
          <a:prstGeom prst="bentConnector2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꺾인 연결선[E] 300">
            <a:extLst>
              <a:ext uri="{FF2B5EF4-FFF2-40B4-BE49-F238E27FC236}">
                <a16:creationId xmlns:a16="http://schemas.microsoft.com/office/drawing/2014/main" id="{17255F08-A6FE-0717-736B-C43DA9C34588}"/>
              </a:ext>
            </a:extLst>
          </p:cNvPr>
          <p:cNvCxnSpPr>
            <a:cxnSpLocks/>
            <a:stCxn id="291" idx="1"/>
            <a:endCxn id="284" idx="2"/>
          </p:cNvCxnSpPr>
          <p:nvPr/>
        </p:nvCxnSpPr>
        <p:spPr>
          <a:xfrm rot="10800000">
            <a:off x="6254305" y="5377791"/>
            <a:ext cx="466386" cy="330728"/>
          </a:xfrm>
          <a:prstGeom prst="bentConnector2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꺾인 연결선[E] 309">
            <a:extLst>
              <a:ext uri="{FF2B5EF4-FFF2-40B4-BE49-F238E27FC236}">
                <a16:creationId xmlns:a16="http://schemas.microsoft.com/office/drawing/2014/main" id="{C83624FB-221C-59F0-72A9-14EA9A503536}"/>
              </a:ext>
            </a:extLst>
          </p:cNvPr>
          <p:cNvCxnSpPr>
            <a:cxnSpLocks/>
          </p:cNvCxnSpPr>
          <p:nvPr/>
        </p:nvCxnSpPr>
        <p:spPr>
          <a:xfrm flipV="1">
            <a:off x="3639138" y="2387664"/>
            <a:ext cx="3604997" cy="852828"/>
          </a:xfrm>
          <a:prstGeom prst="bentConnector3">
            <a:avLst>
              <a:gd name="adj1" fmla="val 11358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8" name="그룹 327">
            <a:extLst>
              <a:ext uri="{FF2B5EF4-FFF2-40B4-BE49-F238E27FC236}">
                <a16:creationId xmlns:a16="http://schemas.microsoft.com/office/drawing/2014/main" id="{A9E282A9-AE1D-07E1-F7BD-F5BC70FB0A2C}"/>
              </a:ext>
            </a:extLst>
          </p:cNvPr>
          <p:cNvGrpSpPr/>
          <p:nvPr/>
        </p:nvGrpSpPr>
        <p:grpSpPr>
          <a:xfrm>
            <a:off x="7372080" y="2263261"/>
            <a:ext cx="674831" cy="579520"/>
            <a:chOff x="9073329" y="2211084"/>
            <a:chExt cx="830561" cy="713255"/>
          </a:xfrm>
        </p:grpSpPr>
        <p:pic>
          <p:nvPicPr>
            <p:cNvPr id="320" name="그림 319">
              <a:extLst>
                <a:ext uri="{FF2B5EF4-FFF2-40B4-BE49-F238E27FC236}">
                  <a16:creationId xmlns:a16="http://schemas.microsoft.com/office/drawing/2014/main" id="{5AEF6C0A-6AAA-917D-D2EE-AFE0222EF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609" y="2211084"/>
              <a:ext cx="432000" cy="432000"/>
            </a:xfrm>
            <a:prstGeom prst="rect">
              <a:avLst/>
            </a:prstGeom>
          </p:spPr>
        </p:pic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04C54E7B-AEEE-9E55-D994-137153DD5650}"/>
                </a:ext>
              </a:extLst>
            </p:cNvPr>
            <p:cNvSpPr txBox="1"/>
            <p:nvPr/>
          </p:nvSpPr>
          <p:spPr>
            <a:xfrm>
              <a:off x="9073329" y="2656731"/>
              <a:ext cx="830561" cy="267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13" b="1" dirty="0">
                  <a:solidFill>
                    <a:srgbClr val="12ADEA"/>
                  </a:solidFill>
                  <a:latin typeface="+mn-ea"/>
                  <a:cs typeface="Calibri" panose="020F0502020204030204" pitchFamily="34" charset="0"/>
                </a:rPr>
                <a:t>DB 1</a:t>
              </a:r>
              <a:endParaRPr lang="ko-KR" altLang="en-US" sz="813" b="1" dirty="0">
                <a:solidFill>
                  <a:srgbClr val="12ADEA"/>
                </a:solidFill>
                <a:latin typeface="+mn-ea"/>
                <a:cs typeface="Calibri" panose="020F0502020204030204" pitchFamily="34" charset="0"/>
              </a:endParaRPr>
            </a:p>
          </p:txBody>
        </p:sp>
      </p:grpSp>
      <p:grpSp>
        <p:nvGrpSpPr>
          <p:cNvPr id="327" name="그룹 326">
            <a:extLst>
              <a:ext uri="{FF2B5EF4-FFF2-40B4-BE49-F238E27FC236}">
                <a16:creationId xmlns:a16="http://schemas.microsoft.com/office/drawing/2014/main" id="{2EF87A25-9E7F-D2CB-2F88-BCB3D3798D16}"/>
              </a:ext>
            </a:extLst>
          </p:cNvPr>
          <p:cNvGrpSpPr/>
          <p:nvPr/>
        </p:nvGrpSpPr>
        <p:grpSpPr>
          <a:xfrm>
            <a:off x="7969009" y="2263261"/>
            <a:ext cx="674831" cy="579520"/>
            <a:chOff x="9776071" y="2211084"/>
            <a:chExt cx="830561" cy="713255"/>
          </a:xfrm>
        </p:grpSpPr>
        <p:pic>
          <p:nvPicPr>
            <p:cNvPr id="322" name="그림 321">
              <a:extLst>
                <a:ext uri="{FF2B5EF4-FFF2-40B4-BE49-F238E27FC236}">
                  <a16:creationId xmlns:a16="http://schemas.microsoft.com/office/drawing/2014/main" id="{D6E61C28-05CA-12BB-C00D-E5E79AF9C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75351" y="2211084"/>
              <a:ext cx="432000" cy="432000"/>
            </a:xfrm>
            <a:prstGeom prst="rect">
              <a:avLst/>
            </a:prstGeom>
          </p:spPr>
        </p:pic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E0D8086D-A85C-CEEB-1E71-444FCB924E69}"/>
                </a:ext>
              </a:extLst>
            </p:cNvPr>
            <p:cNvSpPr txBox="1"/>
            <p:nvPr/>
          </p:nvSpPr>
          <p:spPr>
            <a:xfrm>
              <a:off x="9776071" y="2656731"/>
              <a:ext cx="830561" cy="267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13" b="1" dirty="0">
                  <a:solidFill>
                    <a:srgbClr val="12ADEA"/>
                  </a:solidFill>
                  <a:latin typeface="+mn-ea"/>
                  <a:cs typeface="Calibri" panose="020F0502020204030204" pitchFamily="34" charset="0"/>
                </a:rPr>
                <a:t>DB 2</a:t>
              </a:r>
              <a:endParaRPr lang="ko-KR" altLang="en-US" sz="813" b="1" dirty="0">
                <a:solidFill>
                  <a:srgbClr val="12ADEA"/>
                </a:solidFill>
                <a:latin typeface="+mn-ea"/>
                <a:cs typeface="Calibri" panose="020F0502020204030204" pitchFamily="34" charset="0"/>
              </a:endParaRPr>
            </a:p>
          </p:txBody>
        </p:sp>
      </p:grpSp>
      <p:grpSp>
        <p:nvGrpSpPr>
          <p:cNvPr id="326" name="그룹 325">
            <a:extLst>
              <a:ext uri="{FF2B5EF4-FFF2-40B4-BE49-F238E27FC236}">
                <a16:creationId xmlns:a16="http://schemas.microsoft.com/office/drawing/2014/main" id="{3CD9C4B7-BCB5-32FC-84C9-233C6D5C8A69}"/>
              </a:ext>
            </a:extLst>
          </p:cNvPr>
          <p:cNvGrpSpPr/>
          <p:nvPr/>
        </p:nvGrpSpPr>
        <p:grpSpPr>
          <a:xfrm>
            <a:off x="8565938" y="2263261"/>
            <a:ext cx="674831" cy="579520"/>
            <a:chOff x="10542692" y="2211084"/>
            <a:chExt cx="830561" cy="713255"/>
          </a:xfrm>
        </p:grpSpPr>
        <p:pic>
          <p:nvPicPr>
            <p:cNvPr id="324" name="그림 323">
              <a:extLst>
                <a:ext uri="{FF2B5EF4-FFF2-40B4-BE49-F238E27FC236}">
                  <a16:creationId xmlns:a16="http://schemas.microsoft.com/office/drawing/2014/main" id="{3D6E9BE0-2B74-B272-B046-1F061F4CE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41972" y="2211084"/>
              <a:ext cx="432000" cy="432000"/>
            </a:xfrm>
            <a:prstGeom prst="rect">
              <a:avLst/>
            </a:prstGeom>
          </p:spPr>
        </p:pic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68E38A6F-54E1-31D9-6DA4-AEB7C96D26E5}"/>
                </a:ext>
              </a:extLst>
            </p:cNvPr>
            <p:cNvSpPr txBox="1"/>
            <p:nvPr/>
          </p:nvSpPr>
          <p:spPr>
            <a:xfrm>
              <a:off x="10542692" y="2656731"/>
              <a:ext cx="830561" cy="267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13" b="1" dirty="0">
                  <a:solidFill>
                    <a:srgbClr val="12ADEA"/>
                  </a:solidFill>
                  <a:latin typeface="+mn-ea"/>
                  <a:cs typeface="Calibri" panose="020F0502020204030204" pitchFamily="34" charset="0"/>
                </a:rPr>
                <a:t>DB 3</a:t>
              </a:r>
              <a:endParaRPr lang="ko-KR" altLang="en-US" sz="813" b="1" dirty="0">
                <a:solidFill>
                  <a:srgbClr val="12ADEA"/>
                </a:solidFill>
                <a:latin typeface="+mn-ea"/>
                <a:cs typeface="Calibri" panose="020F0502020204030204" pitchFamily="34" charset="0"/>
              </a:endParaRPr>
            </a:p>
          </p:txBody>
        </p:sp>
      </p:grpSp>
      <p:sp>
        <p:nvSpPr>
          <p:cNvPr id="182" name="텍스트 개체 틀 1"/>
          <p:cNvSpPr txBox="1">
            <a:spLocks/>
          </p:cNvSpPr>
          <p:nvPr/>
        </p:nvSpPr>
        <p:spPr>
          <a:xfrm>
            <a:off x="947555" y="183878"/>
            <a:ext cx="5535615" cy="351569"/>
          </a:xfrm>
          <a:prstGeom prst="rect">
            <a:avLst/>
          </a:prstGeom>
        </p:spPr>
        <p:txBody>
          <a:bodyPr lIns="0" tIns="0" rIns="0" bIns="0" anchor="b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 marL="0" indent="0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b="1" kern="1200" spc="-1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defRPr/>
            </a:pPr>
            <a:r>
              <a:rPr lang="en-US" altLang="ko-KR" spc="0" dirty="0">
                <a:solidFill>
                  <a:prstClr val="black"/>
                </a:solidFill>
                <a:sym typeface="Malgun Gothic"/>
              </a:rPr>
              <a:t>1. AS-IS </a:t>
            </a:r>
            <a:r>
              <a:rPr lang="ko-KR" altLang="en-US" spc="0" dirty="0">
                <a:solidFill>
                  <a:prstClr val="black"/>
                </a:solidFill>
                <a:sym typeface="Malgun Gothic"/>
              </a:rPr>
              <a:t>분석</a:t>
            </a:r>
            <a:r>
              <a:rPr lang="en-US" altLang="ko-KR" spc="0" dirty="0">
                <a:solidFill>
                  <a:prstClr val="black"/>
                </a:solidFill>
                <a:sym typeface="Malgun Gothic"/>
              </a:rPr>
              <a:t> (1/2) – Cloud Architecture </a:t>
            </a:r>
            <a:endParaRPr lang="ko-KR" altLang="en-US" spc="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854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61D2C8-F454-ED9C-65ED-1F732FAC4FA4}"/>
              </a:ext>
            </a:extLst>
          </p:cNvPr>
          <p:cNvSpPr txBox="1"/>
          <p:nvPr/>
        </p:nvSpPr>
        <p:spPr>
          <a:xfrm>
            <a:off x="2341418" y="1358770"/>
            <a:ext cx="744114" cy="369332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rtlCol="0">
            <a:spAutoFit/>
          </a:bodyPr>
          <a:lstStyle/>
          <a:p>
            <a:r>
              <a:rPr lang="en-US" altLang="ko-KR" sz="1800" dirty="0"/>
              <a:t>AS-IS</a:t>
            </a:r>
            <a:endParaRPr lang="ko-KR" altLang="en-US" sz="18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7717308-2E3A-4696-FC63-5F25B6106807}"/>
              </a:ext>
            </a:extLst>
          </p:cNvPr>
          <p:cNvSpPr/>
          <p:nvPr/>
        </p:nvSpPr>
        <p:spPr>
          <a:xfrm>
            <a:off x="1752059" y="1903814"/>
            <a:ext cx="1895151" cy="298303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050" dirty="0"/>
              <a:t>자율문제풀이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C0D241-E34C-AF7B-78B5-9D3BE4C844C9}"/>
              </a:ext>
            </a:extLst>
          </p:cNvPr>
          <p:cNvSpPr/>
          <p:nvPr/>
        </p:nvSpPr>
        <p:spPr>
          <a:xfrm>
            <a:off x="4814171" y="1903813"/>
            <a:ext cx="1647501" cy="298305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050" dirty="0"/>
              <a:t>자율학습관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B5D6BE0-B595-5789-BB99-C2C684AB36F8}"/>
              </a:ext>
            </a:extLst>
          </p:cNvPr>
          <p:cNvSpPr/>
          <p:nvPr/>
        </p:nvSpPr>
        <p:spPr>
          <a:xfrm>
            <a:off x="6491432" y="1903813"/>
            <a:ext cx="1647501" cy="2983044"/>
          </a:xfrm>
          <a:prstGeom prst="rect">
            <a:avLst/>
          </a:prstGeom>
          <a:pattFill prst="wdUpDiag">
            <a:fgClr>
              <a:schemeClr val="accent6"/>
            </a:fgClr>
            <a:bgClr>
              <a:schemeClr val="bg1"/>
            </a:bgClr>
          </a:patt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05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원스탑학습관</a:t>
            </a:r>
            <a:endParaRPr lang="ko-KR" altLang="en-US" sz="105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0A2F8B-AC1D-2AF2-AE24-31FEABB0D1D8}"/>
              </a:ext>
            </a:extLst>
          </p:cNvPr>
          <p:cNvSpPr/>
          <p:nvPr/>
        </p:nvSpPr>
        <p:spPr>
          <a:xfrm>
            <a:off x="4814170" y="2346075"/>
            <a:ext cx="1647501" cy="345712"/>
          </a:xfrm>
          <a:prstGeom prst="rect">
            <a:avLst/>
          </a:prstGeom>
          <a:pattFill prst="wdUpDiag">
            <a:fgClr>
              <a:schemeClr val="accent6"/>
            </a:fgClr>
            <a:bgClr>
              <a:schemeClr val="bg1"/>
            </a:bgClr>
          </a:patt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국</a:t>
            </a:r>
            <a:r>
              <a:rPr lang="en-US" altLang="ko-KR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ko-KR" alt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영</a:t>
            </a:r>
            <a:r>
              <a:rPr lang="en-US" altLang="ko-KR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ko-KR" alt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BDA0871-FDFB-825E-DCDB-A60BFFF63ADE}"/>
              </a:ext>
            </a:extLst>
          </p:cNvPr>
          <p:cNvSpPr/>
          <p:nvPr/>
        </p:nvSpPr>
        <p:spPr>
          <a:xfrm>
            <a:off x="4814170" y="2773834"/>
            <a:ext cx="1647501" cy="345712"/>
          </a:xfrm>
          <a:prstGeom prst="rect">
            <a:avLst/>
          </a:prstGeom>
          <a:pattFill prst="wdUpDiag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105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사탐</a:t>
            </a:r>
            <a:r>
              <a:rPr lang="en-US" altLang="ko-KR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ko-KR" alt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5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과탐</a:t>
            </a:r>
            <a:endParaRPr lang="ko-KR" altLang="en-US" sz="105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CF136F2-C40B-39BF-CF8F-4F5D89CB65CC}"/>
              </a:ext>
            </a:extLst>
          </p:cNvPr>
          <p:cNvSpPr/>
          <p:nvPr/>
        </p:nvSpPr>
        <p:spPr>
          <a:xfrm>
            <a:off x="4814170" y="3237389"/>
            <a:ext cx="1647501" cy="345712"/>
          </a:xfrm>
          <a:prstGeom prst="rect">
            <a:avLst/>
          </a:prstGeom>
          <a:pattFill prst="wdUpDiag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한국사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679C8C-6505-D3CA-29EA-A4694BE9DE5E}"/>
              </a:ext>
            </a:extLst>
          </p:cNvPr>
          <p:cNvSpPr/>
          <p:nvPr/>
        </p:nvSpPr>
        <p:spPr>
          <a:xfrm>
            <a:off x="4814171" y="4474415"/>
            <a:ext cx="269648" cy="412441"/>
          </a:xfrm>
          <a:prstGeom prst="rect">
            <a:avLst/>
          </a:prstGeom>
          <a:pattFill prst="wdUpDiag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고전</a:t>
            </a:r>
            <a:r>
              <a:rPr lang="en-US" altLang="ko-KR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ko-KR" altLang="en-US" sz="1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59C0AC3-9CE6-E733-881D-5A760F5AE92D}"/>
              </a:ext>
            </a:extLst>
          </p:cNvPr>
          <p:cNvSpPr/>
          <p:nvPr/>
        </p:nvSpPr>
        <p:spPr>
          <a:xfrm>
            <a:off x="5120506" y="4474415"/>
            <a:ext cx="589102" cy="412441"/>
          </a:xfrm>
          <a:prstGeom prst="rect">
            <a:avLst/>
          </a:prstGeom>
          <a:pattFill prst="wdUpDiag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ko-KR" sz="11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Voca</a:t>
            </a:r>
            <a:r>
              <a:rPr lang="en-US" altLang="ko-KR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ko-KR" altLang="en-US" sz="1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BDE76DB-2BCC-E453-3E3B-3D18842B7F05}"/>
              </a:ext>
            </a:extLst>
          </p:cNvPr>
          <p:cNvSpPr/>
          <p:nvPr/>
        </p:nvSpPr>
        <p:spPr>
          <a:xfrm>
            <a:off x="5746296" y="4474415"/>
            <a:ext cx="715375" cy="412441"/>
          </a:xfrm>
          <a:prstGeom prst="rect">
            <a:avLst/>
          </a:prstGeom>
          <a:pattFill prst="wdUpDiag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학습성과</a:t>
            </a:r>
            <a:endParaRPr lang="en-US" altLang="ko-K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Map </a:t>
            </a:r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688AB9-F0E5-371C-2245-247DB7E9A1FC}"/>
              </a:ext>
            </a:extLst>
          </p:cNvPr>
          <p:cNvSpPr txBox="1"/>
          <p:nvPr/>
        </p:nvSpPr>
        <p:spPr>
          <a:xfrm>
            <a:off x="6159374" y="1358770"/>
            <a:ext cx="822726" cy="369332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rtlCol="0">
            <a:spAutoFit/>
          </a:bodyPr>
          <a:lstStyle/>
          <a:p>
            <a:r>
              <a:rPr lang="en-US" altLang="ko-KR" sz="1800" dirty="0"/>
              <a:t>TO-BE</a:t>
            </a:r>
            <a:endParaRPr lang="ko-KR" altLang="en-US" sz="1800" dirty="0"/>
          </a:p>
        </p:txBody>
      </p:sp>
      <p:sp>
        <p:nvSpPr>
          <p:cNvPr id="16" name="오른쪽 화살표[R] 15">
            <a:extLst>
              <a:ext uri="{FF2B5EF4-FFF2-40B4-BE49-F238E27FC236}">
                <a16:creationId xmlns:a16="http://schemas.microsoft.com/office/drawing/2014/main" id="{19D98D8F-E974-BE32-3DBE-FECA915FEA01}"/>
              </a:ext>
            </a:extLst>
          </p:cNvPr>
          <p:cNvSpPr/>
          <p:nvPr/>
        </p:nvSpPr>
        <p:spPr>
          <a:xfrm>
            <a:off x="3996170" y="3237389"/>
            <a:ext cx="461530" cy="345712"/>
          </a:xfrm>
          <a:prstGeom prst="rightArrow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B68F1C-D5DF-357D-5E58-C9CA72444B74}"/>
              </a:ext>
            </a:extLst>
          </p:cNvPr>
          <p:cNvSpPr/>
          <p:nvPr/>
        </p:nvSpPr>
        <p:spPr>
          <a:xfrm flipV="1">
            <a:off x="6587442" y="5275701"/>
            <a:ext cx="198900" cy="198900"/>
          </a:xfrm>
          <a:prstGeom prst="rect">
            <a:avLst/>
          </a:prstGeom>
          <a:pattFill prst="wdUpDiag">
            <a:fgClr>
              <a:schemeClr val="accent6"/>
            </a:fgClr>
            <a:bgClr>
              <a:schemeClr val="bg1"/>
            </a:bgClr>
          </a:patt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ko-KR" altLang="en-US" sz="10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174AF8-8525-34F5-54E6-3D29D8A443BD}"/>
              </a:ext>
            </a:extLst>
          </p:cNvPr>
          <p:cNvSpPr txBox="1"/>
          <p:nvPr/>
        </p:nvSpPr>
        <p:spPr>
          <a:xfrm>
            <a:off x="6618185" y="5224935"/>
            <a:ext cx="1647501" cy="415498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/>
              <a:t>신규 </a:t>
            </a:r>
            <a:r>
              <a:rPr lang="en-US" altLang="ko-KR" sz="1050" dirty="0"/>
              <a:t>DKT </a:t>
            </a:r>
            <a:r>
              <a:rPr lang="ko-KR" altLang="en-US" sz="1050" dirty="0"/>
              <a:t>서비스</a:t>
            </a:r>
            <a:endParaRPr lang="en-US" altLang="ko-KR" sz="1050" dirty="0"/>
          </a:p>
          <a:p>
            <a:pPr algn="ctr"/>
            <a:r>
              <a:rPr lang="en-US" altLang="ko-KR" sz="1050" dirty="0"/>
              <a:t>(</a:t>
            </a:r>
            <a:r>
              <a:rPr lang="ko-KR" altLang="en-US" sz="1050" dirty="0"/>
              <a:t>현 과업대상</a:t>
            </a:r>
            <a:r>
              <a:rPr lang="en-US" altLang="ko-KR" sz="1050" dirty="0"/>
              <a:t>)</a:t>
            </a:r>
            <a:r>
              <a:rPr lang="ko-KR" altLang="en-US" sz="1050" dirty="0"/>
              <a:t> 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9136FA8-6676-0AA4-F860-7D9387DEA7D2}"/>
              </a:ext>
            </a:extLst>
          </p:cNvPr>
          <p:cNvSpPr/>
          <p:nvPr/>
        </p:nvSpPr>
        <p:spPr>
          <a:xfrm flipV="1">
            <a:off x="4723601" y="5275701"/>
            <a:ext cx="198900" cy="198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ko-KR" altLang="en-US" sz="10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ED69B5-3A71-78AB-63E1-0A5CA762E541}"/>
              </a:ext>
            </a:extLst>
          </p:cNvPr>
          <p:cNvSpPr txBox="1"/>
          <p:nvPr/>
        </p:nvSpPr>
        <p:spPr>
          <a:xfrm>
            <a:off x="4922723" y="5224935"/>
            <a:ext cx="1503623" cy="253916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현 </a:t>
            </a:r>
            <a:r>
              <a:rPr lang="en-US" altLang="ko-KR" sz="1050" dirty="0"/>
              <a:t>BKT </a:t>
            </a:r>
            <a:r>
              <a:rPr lang="ko-KR" altLang="en-US" sz="1050" dirty="0"/>
              <a:t>서비스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0CCD6-E9CB-6B65-3195-36DBF84B42C6}"/>
              </a:ext>
            </a:extLst>
          </p:cNvPr>
          <p:cNvSpPr/>
          <p:nvPr/>
        </p:nvSpPr>
        <p:spPr>
          <a:xfrm>
            <a:off x="1875883" y="2341008"/>
            <a:ext cx="1647501" cy="3457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국</a:t>
            </a:r>
            <a:r>
              <a:rPr lang="en-US" altLang="ko-KR" sz="1050" dirty="0">
                <a:solidFill>
                  <a:schemeClr val="tx1"/>
                </a:solidFill>
              </a:rPr>
              <a:t>,</a:t>
            </a:r>
            <a:r>
              <a:rPr lang="ko-KR" altLang="en-US" sz="1050" dirty="0">
                <a:solidFill>
                  <a:schemeClr val="tx1"/>
                </a:solidFill>
              </a:rPr>
              <a:t> 영</a:t>
            </a:r>
            <a:r>
              <a:rPr lang="en-US" altLang="ko-KR" sz="1050" dirty="0">
                <a:solidFill>
                  <a:schemeClr val="tx1"/>
                </a:solidFill>
              </a:rPr>
              <a:t>,</a:t>
            </a:r>
            <a:r>
              <a:rPr lang="ko-KR" altLang="en-US" sz="1050" dirty="0">
                <a:solidFill>
                  <a:schemeClr val="tx1"/>
                </a:solidFill>
              </a:rPr>
              <a:t> 수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98E5C3A-E918-EBC1-67AA-2E976B7F3A0F}"/>
              </a:ext>
            </a:extLst>
          </p:cNvPr>
          <p:cNvSpPr/>
          <p:nvPr/>
        </p:nvSpPr>
        <p:spPr>
          <a:xfrm>
            <a:off x="1875883" y="3203975"/>
            <a:ext cx="1647501" cy="3457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한국사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5052885-8C66-CE97-2D60-E5060229F9CC}"/>
              </a:ext>
            </a:extLst>
          </p:cNvPr>
          <p:cNvSpPr/>
          <p:nvPr/>
        </p:nvSpPr>
        <p:spPr>
          <a:xfrm>
            <a:off x="1875883" y="2761990"/>
            <a:ext cx="1647501" cy="3457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사회</a:t>
            </a:r>
            <a:r>
              <a:rPr lang="en-US" altLang="ko-KR" sz="1050" dirty="0">
                <a:solidFill>
                  <a:schemeClr val="tx1"/>
                </a:solidFill>
              </a:rPr>
              <a:t>,</a:t>
            </a:r>
            <a:r>
              <a:rPr lang="ko-KR" altLang="en-US" sz="1050" dirty="0">
                <a:solidFill>
                  <a:schemeClr val="tx1"/>
                </a:solidFill>
              </a:rPr>
              <a:t> 과학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8D67655-15F8-78D1-99BF-37D02C280E4D}"/>
              </a:ext>
            </a:extLst>
          </p:cNvPr>
          <p:cNvSpPr/>
          <p:nvPr/>
        </p:nvSpPr>
        <p:spPr>
          <a:xfrm>
            <a:off x="1875883" y="3656832"/>
            <a:ext cx="1647501" cy="6232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선택과목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물리</a:t>
            </a:r>
            <a:r>
              <a:rPr lang="en-US" altLang="ko-KR" sz="1100" dirty="0">
                <a:solidFill>
                  <a:schemeClr val="tx1"/>
                </a:solidFill>
              </a:rPr>
              <a:t>,</a:t>
            </a:r>
            <a:r>
              <a:rPr lang="ko-KR" altLang="en-US" sz="1100" dirty="0">
                <a:solidFill>
                  <a:schemeClr val="tx1"/>
                </a:solidFill>
              </a:rPr>
              <a:t> 화학</a:t>
            </a:r>
            <a:r>
              <a:rPr lang="en-US" altLang="ko-KR" sz="1100" dirty="0">
                <a:solidFill>
                  <a:schemeClr val="tx1"/>
                </a:solidFill>
              </a:rPr>
              <a:t>,</a:t>
            </a:r>
            <a:r>
              <a:rPr lang="ko-KR" altLang="en-US" sz="1100" dirty="0">
                <a:solidFill>
                  <a:schemeClr val="tx1"/>
                </a:solidFill>
              </a:rPr>
              <a:t> 생물</a:t>
            </a:r>
            <a:r>
              <a:rPr lang="en-US" altLang="ko-KR" sz="1100" dirty="0">
                <a:solidFill>
                  <a:schemeClr val="tx1"/>
                </a:solidFill>
              </a:rPr>
              <a:t>,</a:t>
            </a:r>
            <a:r>
              <a:rPr lang="ko-KR" altLang="en-US" sz="1100" dirty="0">
                <a:solidFill>
                  <a:schemeClr val="tx1"/>
                </a:solidFill>
              </a:rPr>
              <a:t> 제</a:t>
            </a:r>
            <a:r>
              <a:rPr lang="en-US" altLang="ko-KR" sz="1100" dirty="0">
                <a:solidFill>
                  <a:schemeClr val="tx1"/>
                </a:solidFill>
              </a:rPr>
              <a:t>2</a:t>
            </a:r>
            <a:r>
              <a:rPr lang="ko-KR" altLang="en-US" sz="1100" dirty="0">
                <a:solidFill>
                  <a:schemeClr val="tx1"/>
                </a:solidFill>
              </a:rPr>
              <a:t>외국어</a:t>
            </a:r>
            <a:r>
              <a:rPr lang="en-US" altLang="ko-KR" sz="1100" dirty="0">
                <a:solidFill>
                  <a:schemeClr val="tx1"/>
                </a:solidFill>
              </a:rPr>
              <a:t>…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08558D6-D55D-AFC1-439C-22EA4EAFAFA2}"/>
              </a:ext>
            </a:extLst>
          </p:cNvPr>
          <p:cNvSpPr/>
          <p:nvPr/>
        </p:nvSpPr>
        <p:spPr>
          <a:xfrm>
            <a:off x="6491432" y="2346075"/>
            <a:ext cx="1647501" cy="345712"/>
          </a:xfrm>
          <a:prstGeom prst="rect">
            <a:avLst/>
          </a:prstGeom>
          <a:pattFill prst="wdUpDiag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커리큘럼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AEFE7E5-088C-DE0C-5F37-57F011177144}"/>
              </a:ext>
            </a:extLst>
          </p:cNvPr>
          <p:cNvSpPr/>
          <p:nvPr/>
        </p:nvSpPr>
        <p:spPr>
          <a:xfrm>
            <a:off x="6491432" y="2761990"/>
            <a:ext cx="1647501" cy="345712"/>
          </a:xfrm>
          <a:prstGeom prst="rect">
            <a:avLst/>
          </a:prstGeom>
          <a:pattFill prst="wdUpDiag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강의추천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01EDF04-9B01-5651-9F0C-B8640BDA5849}"/>
              </a:ext>
            </a:extLst>
          </p:cNvPr>
          <p:cNvSpPr/>
          <p:nvPr/>
        </p:nvSpPr>
        <p:spPr>
          <a:xfrm>
            <a:off x="6491432" y="3215584"/>
            <a:ext cx="1647501" cy="345712"/>
          </a:xfrm>
          <a:prstGeom prst="rect">
            <a:avLst/>
          </a:prstGeom>
          <a:pattFill prst="wdUpDiag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진단문제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C8DC6A2-2450-59DE-A2B0-4CFB3EA0300C}"/>
              </a:ext>
            </a:extLst>
          </p:cNvPr>
          <p:cNvSpPr/>
          <p:nvPr/>
        </p:nvSpPr>
        <p:spPr>
          <a:xfrm>
            <a:off x="4814169" y="3699519"/>
            <a:ext cx="1647501" cy="6341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선택과목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물리</a:t>
            </a:r>
            <a:r>
              <a:rPr lang="en-US" altLang="ko-KR" sz="1100" dirty="0">
                <a:solidFill>
                  <a:schemeClr val="tx1"/>
                </a:solidFill>
              </a:rPr>
              <a:t>,</a:t>
            </a:r>
            <a:r>
              <a:rPr lang="ko-KR" altLang="en-US" sz="1100" dirty="0">
                <a:solidFill>
                  <a:schemeClr val="tx1"/>
                </a:solidFill>
              </a:rPr>
              <a:t> 화학</a:t>
            </a:r>
            <a:r>
              <a:rPr lang="en-US" altLang="ko-KR" sz="1100" dirty="0">
                <a:solidFill>
                  <a:schemeClr val="tx1"/>
                </a:solidFill>
              </a:rPr>
              <a:t>,</a:t>
            </a:r>
            <a:r>
              <a:rPr lang="ko-KR" altLang="en-US" sz="1100" dirty="0">
                <a:solidFill>
                  <a:schemeClr val="tx1"/>
                </a:solidFill>
              </a:rPr>
              <a:t> 생물</a:t>
            </a:r>
            <a:r>
              <a:rPr lang="en-US" altLang="ko-KR" sz="1100" dirty="0">
                <a:solidFill>
                  <a:schemeClr val="tx1"/>
                </a:solidFill>
              </a:rPr>
              <a:t>,</a:t>
            </a:r>
            <a:r>
              <a:rPr lang="ko-KR" altLang="en-US" sz="1100" dirty="0">
                <a:solidFill>
                  <a:schemeClr val="tx1"/>
                </a:solidFill>
              </a:rPr>
              <a:t> 제</a:t>
            </a:r>
            <a:r>
              <a:rPr lang="en-US" altLang="ko-KR" sz="1100" dirty="0">
                <a:solidFill>
                  <a:schemeClr val="tx1"/>
                </a:solidFill>
              </a:rPr>
              <a:t>2</a:t>
            </a:r>
            <a:r>
              <a:rPr lang="ko-KR" altLang="en-US" sz="1100" dirty="0">
                <a:solidFill>
                  <a:schemeClr val="tx1"/>
                </a:solidFill>
              </a:rPr>
              <a:t>외국어</a:t>
            </a:r>
            <a:r>
              <a:rPr lang="en-US" altLang="ko-KR" sz="1100" dirty="0">
                <a:solidFill>
                  <a:schemeClr val="tx1"/>
                </a:solidFill>
              </a:rPr>
              <a:t>…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9" name="텍스트 개체 틀 1"/>
          <p:cNvSpPr txBox="1">
            <a:spLocks/>
          </p:cNvSpPr>
          <p:nvPr/>
        </p:nvSpPr>
        <p:spPr>
          <a:xfrm>
            <a:off x="947555" y="183878"/>
            <a:ext cx="5535615" cy="351569"/>
          </a:xfrm>
          <a:prstGeom prst="rect">
            <a:avLst/>
          </a:prstGeom>
        </p:spPr>
        <p:txBody>
          <a:bodyPr lIns="0" tIns="0" rIns="0" bIns="0" anchor="b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 marL="0" indent="0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b="1" kern="1200" spc="-1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defRPr/>
            </a:pPr>
            <a:r>
              <a:rPr lang="en-US" altLang="ko-KR" spc="0" dirty="0">
                <a:solidFill>
                  <a:prstClr val="black"/>
                </a:solidFill>
                <a:sym typeface="Malgun Gothic"/>
              </a:rPr>
              <a:t>2. AS-IS </a:t>
            </a:r>
            <a:r>
              <a:rPr lang="ko-KR" altLang="en-US" spc="0" dirty="0">
                <a:solidFill>
                  <a:prstClr val="black"/>
                </a:solidFill>
                <a:sym typeface="Malgun Gothic"/>
              </a:rPr>
              <a:t>분석</a:t>
            </a:r>
            <a:r>
              <a:rPr lang="en-US" altLang="ko-KR" spc="0" dirty="0">
                <a:solidFill>
                  <a:prstClr val="black"/>
                </a:solidFill>
                <a:sym typeface="Malgun Gothic"/>
              </a:rPr>
              <a:t> (2/2) – Service</a:t>
            </a:r>
            <a:endParaRPr lang="ko-KR" altLang="en-US" spc="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80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55FB30-75C0-F769-E99F-372557122D80}"/>
              </a:ext>
            </a:extLst>
          </p:cNvPr>
          <p:cNvSpPr txBox="1"/>
          <p:nvPr/>
        </p:nvSpPr>
        <p:spPr>
          <a:xfrm>
            <a:off x="273050" y="908720"/>
            <a:ext cx="4187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O</a:t>
            </a:r>
            <a:r>
              <a:rPr lang="ko-KR" altLang="en-US" sz="1600" dirty="0"/>
              <a:t> 영향도 평가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26D7A22-9DEC-64C9-0F79-AC1BA25D7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854765"/>
              </p:ext>
            </p:extLst>
          </p:nvPr>
        </p:nvGraphicFramePr>
        <p:xfrm>
          <a:off x="273050" y="1474336"/>
          <a:ext cx="9359900" cy="47449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51939">
                  <a:extLst>
                    <a:ext uri="{9D8B030D-6E8A-4147-A177-3AD203B41FA5}">
                      <a16:colId xmlns:a16="http://schemas.microsoft.com/office/drawing/2014/main" val="1214470695"/>
                    </a:ext>
                  </a:extLst>
                </a:gridCol>
                <a:gridCol w="3704825">
                  <a:extLst>
                    <a:ext uri="{9D8B030D-6E8A-4147-A177-3AD203B41FA5}">
                      <a16:colId xmlns:a16="http://schemas.microsoft.com/office/drawing/2014/main" val="2174177558"/>
                    </a:ext>
                  </a:extLst>
                </a:gridCol>
                <a:gridCol w="3203136">
                  <a:extLst>
                    <a:ext uri="{9D8B030D-6E8A-4147-A177-3AD203B41FA5}">
                      <a16:colId xmlns:a16="http://schemas.microsoft.com/office/drawing/2014/main" val="882413121"/>
                    </a:ext>
                  </a:extLst>
                </a:gridCol>
              </a:tblGrid>
              <a:tr h="4574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항목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개발단계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운영단계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42017"/>
                  </a:ext>
                </a:extLst>
              </a:tr>
              <a:tr h="129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데이터 전송속도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100" dirty="0"/>
                        <a:t>AI</a:t>
                      </a:r>
                      <a:r>
                        <a:rPr lang="ko-KR" altLang="en-US" sz="1100" dirty="0"/>
                        <a:t> 학습위한 데이터 전송</a:t>
                      </a:r>
                      <a:endParaRPr lang="en-US" altLang="ko-KR" sz="1100" dirty="0"/>
                    </a:p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100" dirty="0"/>
                        <a:t> - </a:t>
                      </a:r>
                      <a:r>
                        <a:rPr lang="ko-KR" altLang="en-US" sz="1100" dirty="0"/>
                        <a:t>초기 대용량 선행학습</a:t>
                      </a:r>
                      <a:endParaRPr lang="en-US" altLang="ko-KR" sz="1100" dirty="0"/>
                    </a:p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100" dirty="0"/>
                        <a:t>타 </a:t>
                      </a:r>
                      <a:r>
                        <a:rPr lang="en-US" altLang="ko-KR" sz="1100" dirty="0"/>
                        <a:t>VPC </a:t>
                      </a:r>
                      <a:r>
                        <a:rPr lang="ko-KR" altLang="en-US" sz="1100" dirty="0"/>
                        <a:t>간 연동방법</a:t>
                      </a:r>
                      <a:endParaRPr lang="en-US" altLang="ko-KR" sz="1100" dirty="0"/>
                    </a:p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100" dirty="0"/>
                        <a:t>-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VPC </a:t>
                      </a:r>
                      <a:r>
                        <a:rPr lang="ko-KR" altLang="en-US" sz="1100" dirty="0" err="1"/>
                        <a:t>피어링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:</a:t>
                      </a:r>
                      <a:r>
                        <a:rPr lang="ko-KR" altLang="en-US" sz="1100" dirty="0"/>
                        <a:t> 최고속도</a:t>
                      </a:r>
                      <a:endParaRPr lang="en-US" altLang="ko-KR" sz="1100" dirty="0"/>
                    </a:p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100" dirty="0"/>
                        <a:t>-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VPN :</a:t>
                      </a:r>
                      <a:r>
                        <a:rPr lang="ko-KR" altLang="en-US" sz="1100" dirty="0"/>
                        <a:t> 저하된 속도</a:t>
                      </a:r>
                      <a:endParaRPr lang="en-US" altLang="ko-KR" sz="11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100" dirty="0"/>
                        <a:t>AI</a:t>
                      </a:r>
                      <a:r>
                        <a:rPr lang="ko-KR" altLang="en-US" sz="1100" dirty="0"/>
                        <a:t> 학습위한 데이터 전송속도</a:t>
                      </a:r>
                      <a:endParaRPr lang="en-US" altLang="ko-KR" sz="1100" dirty="0"/>
                    </a:p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100" dirty="0"/>
                        <a:t>- </a:t>
                      </a:r>
                      <a:r>
                        <a:rPr lang="ko-KR" altLang="en-US" sz="1100" dirty="0"/>
                        <a:t>주기적 증분 학습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4052299492"/>
                  </a:ext>
                </a:extLst>
              </a:tr>
              <a:tr h="801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비용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100" dirty="0"/>
                        <a:t>관리형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설치형</a:t>
                      </a:r>
                      <a:endParaRPr lang="en-US" altLang="ko-KR" sz="1100" dirty="0"/>
                    </a:p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100" dirty="0"/>
                        <a:t>백업</a:t>
                      </a:r>
                      <a:r>
                        <a:rPr lang="en-US" altLang="ko-KR" sz="1100" dirty="0"/>
                        <a:t>,</a:t>
                      </a:r>
                      <a:r>
                        <a:rPr lang="ko-KR" altLang="en-US" sz="1100" dirty="0"/>
                        <a:t> 복구 편의성 비용</a:t>
                      </a:r>
                      <a:endParaRPr lang="en-US" altLang="ko-KR" sz="1100" dirty="0"/>
                    </a:p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100" dirty="0"/>
                        <a:t>타 </a:t>
                      </a:r>
                      <a:r>
                        <a:rPr lang="en-US" altLang="ko-KR" sz="1100" dirty="0"/>
                        <a:t>VPC</a:t>
                      </a:r>
                      <a:r>
                        <a:rPr lang="ko-KR" altLang="en-US" sz="1100" dirty="0"/>
                        <a:t>간 연동비용</a:t>
                      </a:r>
                      <a:endParaRPr lang="en-US" altLang="ko-KR" sz="11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100" dirty="0"/>
                        <a:t>VPC </a:t>
                      </a:r>
                      <a:r>
                        <a:rPr lang="ko-KR" altLang="en-US" sz="1100" dirty="0" err="1"/>
                        <a:t>독립시</a:t>
                      </a:r>
                      <a:r>
                        <a:rPr lang="ko-KR" altLang="en-US" sz="1100" dirty="0"/>
                        <a:t> 연간유지보수 비용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3456930286"/>
                  </a:ext>
                </a:extLst>
              </a:tr>
              <a:tr h="5570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개발용이성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en-US" altLang="ko-KR" sz="1100" dirty="0"/>
                        <a:t>DB </a:t>
                      </a:r>
                      <a:r>
                        <a:rPr lang="ko-KR" altLang="en-US" sz="1100" dirty="0"/>
                        <a:t>데이터 개발활용</a:t>
                      </a:r>
                      <a:endParaRPr lang="en-US" altLang="ko-KR" sz="1100" dirty="0"/>
                    </a:p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-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Dump, DB</a:t>
                      </a:r>
                      <a:r>
                        <a:rPr lang="ko-KR" altLang="en-US" sz="1100" dirty="0"/>
                        <a:t> 복제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100" dirty="0"/>
                        <a:t>데이터</a:t>
                      </a:r>
                      <a:r>
                        <a:rPr lang="en-US" altLang="ko-KR" sz="1100" dirty="0"/>
                        <a:t>,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DB </a:t>
                      </a:r>
                      <a:r>
                        <a:rPr lang="ko-KR" altLang="en-US" sz="1100" dirty="0"/>
                        <a:t>삭제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2847814675"/>
                  </a:ext>
                </a:extLst>
              </a:tr>
              <a:tr h="801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서비스 분리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100" dirty="0"/>
                        <a:t>타 서비스 </a:t>
                      </a:r>
                      <a:r>
                        <a:rPr lang="ko-KR" altLang="en-US" sz="1100" dirty="0" err="1"/>
                        <a:t>영향없는</a:t>
                      </a:r>
                      <a:r>
                        <a:rPr lang="ko-KR" altLang="en-US" sz="1100" dirty="0"/>
                        <a:t> 자유로운 생성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삭제</a:t>
                      </a:r>
                      <a:endParaRPr lang="en-US" altLang="ko-KR" sz="1100" dirty="0"/>
                    </a:p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100" dirty="0"/>
                        <a:t>휴먼 에러 간섭 최소화</a:t>
                      </a:r>
                      <a:endParaRPr lang="en-US" altLang="ko-KR" sz="11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endParaRPr lang="ko-KR" altLang="en-US" sz="1100" dirty="0"/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2720686828"/>
                  </a:ext>
                </a:extLst>
              </a:tr>
              <a:tr h="3121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보안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100" dirty="0"/>
                        <a:t>현 보안진단 </a:t>
                      </a:r>
                      <a:r>
                        <a:rPr lang="ko-KR" altLang="en-US" sz="1100" dirty="0" err="1"/>
                        <a:t>영향없는</a:t>
                      </a:r>
                      <a:r>
                        <a:rPr lang="ko-KR" altLang="en-US" sz="1100" dirty="0"/>
                        <a:t> 개발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100" dirty="0"/>
                        <a:t>개인정보 보호진단 평가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236957760"/>
                  </a:ext>
                </a:extLst>
              </a:tr>
              <a:tr h="5227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성능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100" dirty="0" err="1"/>
                        <a:t>지연없는</a:t>
                      </a:r>
                      <a:r>
                        <a:rPr lang="ko-KR" altLang="en-US" sz="1100" dirty="0"/>
                        <a:t> 성능보장</a:t>
                      </a:r>
                      <a:endParaRPr lang="en-US" altLang="ko-KR" sz="1100" dirty="0"/>
                    </a:p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100" dirty="0"/>
                        <a:t>무결성 보장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endParaRPr lang="ko-KR" altLang="en-US" sz="1100" dirty="0"/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3936727597"/>
                  </a:ext>
                </a:extLst>
              </a:tr>
            </a:tbl>
          </a:graphicData>
        </a:graphic>
      </p:graphicFrame>
      <p:sp>
        <p:nvSpPr>
          <p:cNvPr id="6" name="텍스트 개체 틀 1"/>
          <p:cNvSpPr txBox="1">
            <a:spLocks/>
          </p:cNvSpPr>
          <p:nvPr/>
        </p:nvSpPr>
        <p:spPr>
          <a:xfrm>
            <a:off x="947555" y="183878"/>
            <a:ext cx="5535615" cy="351569"/>
          </a:xfrm>
          <a:prstGeom prst="rect">
            <a:avLst/>
          </a:prstGeom>
        </p:spPr>
        <p:txBody>
          <a:bodyPr lIns="0" tIns="0" rIns="0" bIns="0" anchor="b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 marL="0" indent="0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b="1" kern="1200" spc="-1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ko-KR" spc="0" dirty="0">
                <a:solidFill>
                  <a:prstClr val="black"/>
                </a:solidFill>
                <a:sym typeface="Malgun Gothic"/>
              </a:rPr>
              <a:t>3. Cloud Infra Architecture </a:t>
            </a:r>
            <a:r>
              <a:rPr lang="ko-KR" altLang="en-US" spc="0" dirty="0">
                <a:solidFill>
                  <a:prstClr val="black"/>
                </a:solidFill>
                <a:sym typeface="Malgun Gothic"/>
              </a:rPr>
              <a:t>구성 고려사항</a:t>
            </a:r>
            <a:endParaRPr lang="ko-KR" altLang="en-US" spc="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283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B6EC1408-A060-CFBD-2A56-932990B0B1E7}"/>
              </a:ext>
            </a:extLst>
          </p:cNvPr>
          <p:cNvSpPr/>
          <p:nvPr/>
        </p:nvSpPr>
        <p:spPr>
          <a:xfrm>
            <a:off x="373485" y="2385515"/>
            <a:ext cx="2251826" cy="547303"/>
          </a:xfrm>
          <a:prstGeom prst="rect">
            <a:avLst/>
          </a:prstGeom>
          <a:solidFill>
            <a:schemeClr val="accent3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E235D02-E4FF-84FC-7708-7F64837B09C6}"/>
              </a:ext>
            </a:extLst>
          </p:cNvPr>
          <p:cNvSpPr/>
          <p:nvPr/>
        </p:nvSpPr>
        <p:spPr>
          <a:xfrm>
            <a:off x="369889" y="1451191"/>
            <a:ext cx="2251826" cy="3908585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D21BC4D-3B91-713E-93E3-DAF45AB5BA32}"/>
              </a:ext>
            </a:extLst>
          </p:cNvPr>
          <p:cNvSpPr/>
          <p:nvPr/>
        </p:nvSpPr>
        <p:spPr>
          <a:xfrm>
            <a:off x="369889" y="3077031"/>
            <a:ext cx="2251826" cy="702241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/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BD94B153-EB63-A2F6-A102-9F433D373545}"/>
              </a:ext>
            </a:extLst>
          </p:cNvPr>
          <p:cNvGrpSpPr/>
          <p:nvPr/>
        </p:nvGrpSpPr>
        <p:grpSpPr>
          <a:xfrm>
            <a:off x="1567607" y="3288532"/>
            <a:ext cx="708670" cy="234715"/>
            <a:chOff x="6173405" y="4077701"/>
            <a:chExt cx="872209" cy="288880"/>
          </a:xfrm>
        </p:grpSpPr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8383E75B-5283-FCCA-8B92-6FC33CE65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4284" y="4145520"/>
              <a:ext cx="265850" cy="167905"/>
            </a:xfrm>
            <a:prstGeom prst="rect">
              <a:avLst/>
            </a:prstGeom>
          </p:spPr>
        </p:pic>
        <p:pic>
          <p:nvPicPr>
            <p:cNvPr id="75" name="그림 74">
              <a:extLst>
                <a:ext uri="{FF2B5EF4-FFF2-40B4-BE49-F238E27FC236}">
                  <a16:creationId xmlns:a16="http://schemas.microsoft.com/office/drawing/2014/main" id="{FDF38065-8159-8133-8FAA-CCE8D05AFF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405" y="4078581"/>
              <a:ext cx="288000" cy="288000"/>
            </a:xfrm>
            <a:prstGeom prst="rect">
              <a:avLst/>
            </a:prstGeom>
          </p:spPr>
        </p:pic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CD89C57B-1044-18B7-4799-BB51C3929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7614" y="4077701"/>
              <a:ext cx="288000" cy="288000"/>
            </a:xfrm>
            <a:prstGeom prst="rect">
              <a:avLst/>
            </a:prstGeom>
          </p:spPr>
        </p:pic>
      </p:grp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426E7E97-57CC-27F0-78F9-BB634AE6FB47}"/>
              </a:ext>
            </a:extLst>
          </p:cNvPr>
          <p:cNvSpPr/>
          <p:nvPr/>
        </p:nvSpPr>
        <p:spPr>
          <a:xfrm>
            <a:off x="369889" y="3881171"/>
            <a:ext cx="2251826" cy="702241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/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584D3E4C-DBD9-DC96-CF69-E352B086175D}"/>
              </a:ext>
            </a:extLst>
          </p:cNvPr>
          <p:cNvGrpSpPr/>
          <p:nvPr/>
        </p:nvGrpSpPr>
        <p:grpSpPr>
          <a:xfrm>
            <a:off x="1567607" y="4070296"/>
            <a:ext cx="708670" cy="234715"/>
            <a:chOff x="6173405" y="4077701"/>
            <a:chExt cx="872209" cy="288880"/>
          </a:xfrm>
        </p:grpSpPr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EBF4D241-8F54-C47E-BD72-BF697A0D4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4284" y="4145520"/>
              <a:ext cx="265850" cy="167905"/>
            </a:xfrm>
            <a:prstGeom prst="rect">
              <a:avLst/>
            </a:prstGeom>
          </p:spPr>
        </p:pic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723A91AC-C98F-0059-8EFB-94599C6AF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405" y="4078581"/>
              <a:ext cx="288000" cy="288000"/>
            </a:xfrm>
            <a:prstGeom prst="rect">
              <a:avLst/>
            </a:prstGeom>
          </p:spPr>
        </p:pic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8EA90CBA-B329-D531-E0C7-F4BAA1202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7614" y="4077701"/>
              <a:ext cx="288000" cy="288000"/>
            </a:xfrm>
            <a:prstGeom prst="rect">
              <a:avLst/>
            </a:prstGeom>
          </p:spPr>
        </p:pic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F131E192-9161-0B18-6F1C-DE54C7AF47CF}"/>
              </a:ext>
            </a:extLst>
          </p:cNvPr>
          <p:cNvGrpSpPr/>
          <p:nvPr/>
        </p:nvGrpSpPr>
        <p:grpSpPr>
          <a:xfrm>
            <a:off x="1567607" y="2615306"/>
            <a:ext cx="708670" cy="234715"/>
            <a:chOff x="6173405" y="4077701"/>
            <a:chExt cx="872209" cy="288880"/>
          </a:xfrm>
        </p:grpSpPr>
        <p:pic>
          <p:nvPicPr>
            <p:cNvPr id="85" name="그림 84">
              <a:extLst>
                <a:ext uri="{FF2B5EF4-FFF2-40B4-BE49-F238E27FC236}">
                  <a16:creationId xmlns:a16="http://schemas.microsoft.com/office/drawing/2014/main" id="{280286EC-F5ED-2EEB-B9EC-5DF620B75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4284" y="4145520"/>
              <a:ext cx="265850" cy="167905"/>
            </a:xfrm>
            <a:prstGeom prst="rect">
              <a:avLst/>
            </a:prstGeom>
          </p:spPr>
        </p:pic>
        <p:pic>
          <p:nvPicPr>
            <p:cNvPr id="86" name="그림 85">
              <a:extLst>
                <a:ext uri="{FF2B5EF4-FFF2-40B4-BE49-F238E27FC236}">
                  <a16:creationId xmlns:a16="http://schemas.microsoft.com/office/drawing/2014/main" id="{4794FCAE-36F1-3B88-F276-F61EBCB34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405" y="4078581"/>
              <a:ext cx="288000" cy="288000"/>
            </a:xfrm>
            <a:prstGeom prst="rect">
              <a:avLst/>
            </a:prstGeom>
          </p:spPr>
        </p:pic>
        <p:pic>
          <p:nvPicPr>
            <p:cNvPr id="87" name="그림 86">
              <a:extLst>
                <a:ext uri="{FF2B5EF4-FFF2-40B4-BE49-F238E27FC236}">
                  <a16:creationId xmlns:a16="http://schemas.microsoft.com/office/drawing/2014/main" id="{07183FC7-F8C2-1091-031A-DC46B68F6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7614" y="4077701"/>
              <a:ext cx="288000" cy="288000"/>
            </a:xfrm>
            <a:prstGeom prst="rect">
              <a:avLst/>
            </a:prstGeom>
          </p:spPr>
        </p:pic>
      </p:grp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027D0A26-A0A8-5A3A-B5D7-72D3BE4D2436}"/>
              </a:ext>
            </a:extLst>
          </p:cNvPr>
          <p:cNvSpPr/>
          <p:nvPr/>
        </p:nvSpPr>
        <p:spPr>
          <a:xfrm>
            <a:off x="369889" y="4657536"/>
            <a:ext cx="2251826" cy="702241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/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79154293-65FF-B3C7-7A7D-BAC0A55EC51A}"/>
              </a:ext>
            </a:extLst>
          </p:cNvPr>
          <p:cNvGrpSpPr/>
          <p:nvPr/>
        </p:nvGrpSpPr>
        <p:grpSpPr>
          <a:xfrm>
            <a:off x="1567607" y="4869529"/>
            <a:ext cx="708670" cy="234715"/>
            <a:chOff x="6173405" y="4077701"/>
            <a:chExt cx="872209" cy="288880"/>
          </a:xfrm>
        </p:grpSpPr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A1CE8268-AA67-5DB6-733F-E00A703E2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4284" y="4145520"/>
              <a:ext cx="265850" cy="167905"/>
            </a:xfrm>
            <a:prstGeom prst="rect">
              <a:avLst/>
            </a:prstGeom>
          </p:spPr>
        </p:pic>
        <p:pic>
          <p:nvPicPr>
            <p:cNvPr id="92" name="그림 91">
              <a:extLst>
                <a:ext uri="{FF2B5EF4-FFF2-40B4-BE49-F238E27FC236}">
                  <a16:creationId xmlns:a16="http://schemas.microsoft.com/office/drawing/2014/main" id="{74146DB7-60B3-4E9B-4FE0-87ED6E6B1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405" y="4078581"/>
              <a:ext cx="288000" cy="288000"/>
            </a:xfrm>
            <a:prstGeom prst="rect">
              <a:avLst/>
            </a:prstGeom>
          </p:spPr>
        </p:pic>
        <p:pic>
          <p:nvPicPr>
            <p:cNvPr id="93" name="그림 92">
              <a:extLst>
                <a:ext uri="{FF2B5EF4-FFF2-40B4-BE49-F238E27FC236}">
                  <a16:creationId xmlns:a16="http://schemas.microsoft.com/office/drawing/2014/main" id="{A2F14A86-5104-836C-EBEE-3393AD4A5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7614" y="4077701"/>
              <a:ext cx="288000" cy="288000"/>
            </a:xfrm>
            <a:prstGeom prst="rect">
              <a:avLst/>
            </a:prstGeom>
          </p:spPr>
        </p:pic>
      </p:grp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C8BC676C-EF36-717F-53F0-06F16A57A276}"/>
              </a:ext>
            </a:extLst>
          </p:cNvPr>
          <p:cNvSpPr/>
          <p:nvPr/>
        </p:nvSpPr>
        <p:spPr>
          <a:xfrm>
            <a:off x="369889" y="1451192"/>
            <a:ext cx="2251826" cy="3819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31" dirty="0" err="1"/>
              <a:t>페밀리</a:t>
            </a:r>
            <a:r>
              <a:rPr lang="ko-KR" altLang="en-US" sz="731" dirty="0"/>
              <a:t> </a:t>
            </a:r>
            <a:r>
              <a:rPr lang="ko-KR" altLang="en-US" sz="731" dirty="0" err="1"/>
              <a:t>시험계</a:t>
            </a:r>
            <a:r>
              <a:rPr lang="ko-KR" altLang="en-US" sz="731" dirty="0"/>
              <a:t> </a:t>
            </a:r>
            <a:r>
              <a:rPr lang="en-US" altLang="ko-KR" sz="731" dirty="0"/>
              <a:t>VPC</a:t>
            </a:r>
            <a:endParaRPr lang="ko-KR" altLang="en-US" sz="731" dirty="0"/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F0129458-0270-ACCB-A666-32EB8EBB92AE}"/>
              </a:ext>
            </a:extLst>
          </p:cNvPr>
          <p:cNvCxnSpPr/>
          <p:nvPr/>
        </p:nvCxnSpPr>
        <p:spPr>
          <a:xfrm flipH="1">
            <a:off x="1801606" y="3522532"/>
            <a:ext cx="118466" cy="547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B01BC8C8-B92D-E13E-14A1-8C47C74443CD}"/>
              </a:ext>
            </a:extLst>
          </p:cNvPr>
          <p:cNvCxnSpPr/>
          <p:nvPr/>
        </p:nvCxnSpPr>
        <p:spPr>
          <a:xfrm flipH="1">
            <a:off x="1801606" y="3520406"/>
            <a:ext cx="118466" cy="1359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411E416D-5E53-5699-A907-4F6696A44E45}"/>
              </a:ext>
            </a:extLst>
          </p:cNvPr>
          <p:cNvSpPr/>
          <p:nvPr/>
        </p:nvSpPr>
        <p:spPr>
          <a:xfrm>
            <a:off x="3378065" y="1451191"/>
            <a:ext cx="2251826" cy="3908585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59B06F5C-038D-6E9F-2951-9568462A7CF3}"/>
              </a:ext>
            </a:extLst>
          </p:cNvPr>
          <p:cNvSpPr/>
          <p:nvPr/>
        </p:nvSpPr>
        <p:spPr>
          <a:xfrm>
            <a:off x="3386716" y="2385515"/>
            <a:ext cx="2251826" cy="547303"/>
          </a:xfrm>
          <a:prstGeom prst="rect">
            <a:avLst/>
          </a:prstGeom>
          <a:solidFill>
            <a:schemeClr val="accent3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9D74663-2A80-9F35-8E6B-3988249489DC}"/>
              </a:ext>
            </a:extLst>
          </p:cNvPr>
          <p:cNvSpPr/>
          <p:nvPr/>
        </p:nvSpPr>
        <p:spPr>
          <a:xfrm>
            <a:off x="3386716" y="3077031"/>
            <a:ext cx="2251826" cy="702241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36D6ACB-ECDB-ACA5-5D10-B8E26C04DC0F}"/>
              </a:ext>
            </a:extLst>
          </p:cNvPr>
          <p:cNvSpPr txBox="1"/>
          <p:nvPr/>
        </p:nvSpPr>
        <p:spPr>
          <a:xfrm>
            <a:off x="3378065" y="3112620"/>
            <a:ext cx="674831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13" b="1" dirty="0">
                <a:solidFill>
                  <a:srgbClr val="12ADE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Was Layer</a:t>
            </a:r>
            <a:endParaRPr lang="ko-KR" altLang="en-US" sz="813" b="1" dirty="0">
              <a:solidFill>
                <a:srgbClr val="12ADE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E94C410A-3FAA-0611-1A27-FEA39BA69DFE}"/>
              </a:ext>
            </a:extLst>
          </p:cNvPr>
          <p:cNvSpPr/>
          <p:nvPr/>
        </p:nvSpPr>
        <p:spPr>
          <a:xfrm>
            <a:off x="3386716" y="3881171"/>
            <a:ext cx="2251826" cy="702241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859EEA8-7F0C-37E7-F7D3-7D42D30C0B88}"/>
              </a:ext>
            </a:extLst>
          </p:cNvPr>
          <p:cNvSpPr txBox="1"/>
          <p:nvPr/>
        </p:nvSpPr>
        <p:spPr>
          <a:xfrm>
            <a:off x="3378065" y="3887008"/>
            <a:ext cx="698940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13" b="1" dirty="0">
                <a:solidFill>
                  <a:srgbClr val="12ADE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 Layer</a:t>
            </a:r>
            <a:endParaRPr lang="ko-KR" altLang="en-US" sz="813" b="1" dirty="0">
              <a:solidFill>
                <a:srgbClr val="12ADE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4" name="그림 113">
            <a:extLst>
              <a:ext uri="{FF2B5EF4-FFF2-40B4-BE49-F238E27FC236}">
                <a16:creationId xmlns:a16="http://schemas.microsoft.com/office/drawing/2014/main" id="{5A5C65AF-B1E0-DC1A-A809-520451DA7C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331" y="2612956"/>
            <a:ext cx="234000" cy="234000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2501C6FD-7E76-3F9B-1BE3-DA97F678BD44}"/>
              </a:ext>
            </a:extLst>
          </p:cNvPr>
          <p:cNvSpPr txBox="1"/>
          <p:nvPr/>
        </p:nvSpPr>
        <p:spPr>
          <a:xfrm>
            <a:off x="3378066" y="2398181"/>
            <a:ext cx="698939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13" b="1" dirty="0">
                <a:solidFill>
                  <a:srgbClr val="12ADE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</a:t>
            </a:r>
            <a:r>
              <a:rPr lang="ko-KR" altLang="en-US" sz="813" b="1" dirty="0">
                <a:solidFill>
                  <a:srgbClr val="12ADE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813" b="1" dirty="0">
                <a:solidFill>
                  <a:srgbClr val="12ADE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  <a:endParaRPr lang="ko-KR" altLang="en-US" sz="813" b="1" dirty="0">
              <a:solidFill>
                <a:srgbClr val="12ADE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6008AFA5-6B32-BD28-90E5-49C5A7543CA4}"/>
              </a:ext>
            </a:extLst>
          </p:cNvPr>
          <p:cNvSpPr/>
          <p:nvPr/>
        </p:nvSpPr>
        <p:spPr>
          <a:xfrm>
            <a:off x="3386716" y="4657536"/>
            <a:ext cx="2251826" cy="702241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EC50D69-5E53-4326-EC6F-103CCAD7BF25}"/>
              </a:ext>
            </a:extLst>
          </p:cNvPr>
          <p:cNvSpPr txBox="1"/>
          <p:nvPr/>
        </p:nvSpPr>
        <p:spPr>
          <a:xfrm>
            <a:off x="3378065" y="4654116"/>
            <a:ext cx="698940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13" b="1" dirty="0">
                <a:solidFill>
                  <a:srgbClr val="12ADE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DB  Layer</a:t>
            </a:r>
            <a:endParaRPr lang="ko-KR" altLang="en-US" sz="813" b="1" dirty="0">
              <a:solidFill>
                <a:srgbClr val="12ADE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3B65C4D3-0F89-50F3-1D03-78E420CDC40A}"/>
              </a:ext>
            </a:extLst>
          </p:cNvPr>
          <p:cNvSpPr/>
          <p:nvPr/>
        </p:nvSpPr>
        <p:spPr>
          <a:xfrm>
            <a:off x="3386716" y="1451192"/>
            <a:ext cx="2251826" cy="3819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31" dirty="0" err="1"/>
              <a:t>코넥</a:t>
            </a:r>
            <a:r>
              <a:rPr lang="ko-KR" altLang="en-US" sz="731" dirty="0"/>
              <a:t> </a:t>
            </a:r>
            <a:r>
              <a:rPr lang="ko-KR" altLang="en-US" sz="731" dirty="0" err="1"/>
              <a:t>컨소시움</a:t>
            </a:r>
            <a:r>
              <a:rPr lang="ko-KR" altLang="en-US" sz="731" dirty="0"/>
              <a:t> </a:t>
            </a:r>
            <a:r>
              <a:rPr lang="en-US" altLang="ko-KR" sz="731" dirty="0"/>
              <a:t>VPC</a:t>
            </a:r>
            <a:endParaRPr lang="ko-KR" altLang="en-US" sz="731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BD8A2BC-662E-BE6A-4251-E3FB74D878CC}"/>
              </a:ext>
            </a:extLst>
          </p:cNvPr>
          <p:cNvSpPr txBox="1"/>
          <p:nvPr/>
        </p:nvSpPr>
        <p:spPr>
          <a:xfrm>
            <a:off x="3685666" y="908720"/>
            <a:ext cx="2534668" cy="267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38" dirty="0" err="1"/>
              <a:t>시험계</a:t>
            </a:r>
            <a:r>
              <a:rPr lang="ko-KR" altLang="en-US" sz="1138" dirty="0"/>
              <a:t> </a:t>
            </a:r>
            <a:r>
              <a:rPr lang="en-US" altLang="ko-KR" sz="1138" dirty="0"/>
              <a:t>–</a:t>
            </a:r>
            <a:r>
              <a:rPr lang="ko-KR" altLang="en-US" sz="1138" dirty="0"/>
              <a:t> 과업수행기간 </a:t>
            </a:r>
            <a:r>
              <a:rPr lang="en-US" altLang="ko-KR" sz="1138" dirty="0"/>
              <a:t>( ~ 2025.03)</a:t>
            </a:r>
            <a:endParaRPr lang="ko-KR" altLang="en-US" sz="1138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24CBA4F7-76C5-AB7E-3DBE-0FFFED6FA881}"/>
              </a:ext>
            </a:extLst>
          </p:cNvPr>
          <p:cNvGrpSpPr/>
          <p:nvPr/>
        </p:nvGrpSpPr>
        <p:grpSpPr>
          <a:xfrm>
            <a:off x="2621428" y="4049553"/>
            <a:ext cx="769763" cy="551235"/>
            <a:chOff x="7256587" y="1158089"/>
            <a:chExt cx="947401" cy="678443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4CC3B4F2-C83F-D5B2-D4CE-A2235800981A}"/>
                </a:ext>
              </a:extLst>
            </p:cNvPr>
            <p:cNvSpPr txBox="1"/>
            <p:nvPr/>
          </p:nvSpPr>
          <p:spPr>
            <a:xfrm>
              <a:off x="7256587" y="1568924"/>
              <a:ext cx="947401" cy="2676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" altLang="ko-KR" sz="813" dirty="0">
                  <a:latin typeface="+mn-ea"/>
                  <a:cs typeface="Arial" panose="020B0604020202020204" pitchFamily="34" charset="0"/>
                </a:rPr>
                <a:t>VPC Peering</a:t>
              </a:r>
              <a:endParaRPr lang="ko-KR" altLang="en-US" sz="813" dirty="0"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129" name="그림 128">
              <a:extLst>
                <a:ext uri="{FF2B5EF4-FFF2-40B4-BE49-F238E27FC236}">
                  <a16:creationId xmlns:a16="http://schemas.microsoft.com/office/drawing/2014/main" id="{9B419568-CE58-CFAA-D835-F4C4801530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2124" y="1158089"/>
              <a:ext cx="432000" cy="432000"/>
            </a:xfrm>
            <a:prstGeom prst="rect">
              <a:avLst/>
            </a:prstGeom>
          </p:spPr>
        </p:pic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3291F28A-24B5-D4B2-9FF3-18AAC9780ACA}"/>
              </a:ext>
            </a:extLst>
          </p:cNvPr>
          <p:cNvGrpSpPr/>
          <p:nvPr/>
        </p:nvGrpSpPr>
        <p:grpSpPr>
          <a:xfrm>
            <a:off x="4238552" y="4046623"/>
            <a:ext cx="830677" cy="451432"/>
            <a:chOff x="5061297" y="4606996"/>
            <a:chExt cx="1022372" cy="555608"/>
          </a:xfrm>
        </p:grpSpPr>
        <p:pic>
          <p:nvPicPr>
            <p:cNvPr id="109" name="그림 108">
              <a:extLst>
                <a:ext uri="{FF2B5EF4-FFF2-40B4-BE49-F238E27FC236}">
                  <a16:creationId xmlns:a16="http://schemas.microsoft.com/office/drawing/2014/main" id="{C3239859-2582-04E6-3902-80D31D853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2449" y="4607876"/>
              <a:ext cx="288000" cy="288000"/>
            </a:xfrm>
            <a:prstGeom prst="rect">
              <a:avLst/>
            </a:prstGeom>
          </p:spPr>
        </p:pic>
        <p:pic>
          <p:nvPicPr>
            <p:cNvPr id="110" name="그림 109">
              <a:extLst>
                <a:ext uri="{FF2B5EF4-FFF2-40B4-BE49-F238E27FC236}">
                  <a16:creationId xmlns:a16="http://schemas.microsoft.com/office/drawing/2014/main" id="{9EBE5A0A-A732-A911-759B-0C0C959E3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90449" y="4606996"/>
              <a:ext cx="288000" cy="288000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9125EE8-8725-AE85-6DCD-2159A976C168}"/>
                </a:ext>
              </a:extLst>
            </p:cNvPr>
            <p:cNvSpPr txBox="1"/>
            <p:nvPr/>
          </p:nvSpPr>
          <p:spPr>
            <a:xfrm>
              <a:off x="5061297" y="4894996"/>
              <a:ext cx="1022372" cy="2676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13" dirty="0"/>
                <a:t>DKT </a:t>
              </a:r>
              <a:r>
                <a:rPr lang="ko-KR" altLang="en-US" sz="813" dirty="0"/>
                <a:t>분석모델</a:t>
              </a:r>
            </a:p>
          </p:txBody>
        </p:sp>
      </p:grp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03589EA9-2FF8-7121-F824-BD0C7E59AAB1}"/>
              </a:ext>
            </a:extLst>
          </p:cNvPr>
          <p:cNvGrpSpPr/>
          <p:nvPr/>
        </p:nvGrpSpPr>
        <p:grpSpPr>
          <a:xfrm>
            <a:off x="4945066" y="4046623"/>
            <a:ext cx="497252" cy="451432"/>
            <a:chOff x="6207950" y="4606996"/>
            <a:chExt cx="612003" cy="555608"/>
          </a:xfrm>
        </p:grpSpPr>
        <p:pic>
          <p:nvPicPr>
            <p:cNvPr id="133" name="그림 132">
              <a:extLst>
                <a:ext uri="{FF2B5EF4-FFF2-40B4-BE49-F238E27FC236}">
                  <a16:creationId xmlns:a16="http://schemas.microsoft.com/office/drawing/2014/main" id="{8AB1A6B5-52B9-3F2E-3040-0578FF38B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6901" y="4606996"/>
              <a:ext cx="288000" cy="288000"/>
            </a:xfrm>
            <a:prstGeom prst="rect">
              <a:avLst/>
            </a:prstGeom>
          </p:spPr>
        </p:pic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4A59652A-0059-C194-C45A-C69CCAF360A1}"/>
                </a:ext>
              </a:extLst>
            </p:cNvPr>
            <p:cNvSpPr txBox="1"/>
            <p:nvPr/>
          </p:nvSpPr>
          <p:spPr>
            <a:xfrm>
              <a:off x="6207950" y="4894996"/>
              <a:ext cx="612003" cy="2676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13" dirty="0"/>
                <a:t>서비스</a:t>
              </a:r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B6AC4A53-2E04-2FEF-DC49-4BA54412F319}"/>
              </a:ext>
            </a:extLst>
          </p:cNvPr>
          <p:cNvSpPr txBox="1"/>
          <p:nvPr/>
        </p:nvSpPr>
        <p:spPr>
          <a:xfrm>
            <a:off x="362490" y="3112620"/>
            <a:ext cx="674831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13" b="1" dirty="0">
                <a:solidFill>
                  <a:srgbClr val="12ADE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Was Layer</a:t>
            </a:r>
            <a:endParaRPr lang="ko-KR" altLang="en-US" sz="813" b="1" dirty="0">
              <a:solidFill>
                <a:srgbClr val="12ADE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8A4457E-FA27-9846-7203-FAA040AFC94C}"/>
              </a:ext>
            </a:extLst>
          </p:cNvPr>
          <p:cNvSpPr txBox="1"/>
          <p:nvPr/>
        </p:nvSpPr>
        <p:spPr>
          <a:xfrm>
            <a:off x="362490" y="3887008"/>
            <a:ext cx="698940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13" b="1" dirty="0">
                <a:solidFill>
                  <a:srgbClr val="12ADE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 Layer</a:t>
            </a:r>
            <a:endParaRPr lang="ko-KR" altLang="en-US" sz="813" b="1" dirty="0">
              <a:solidFill>
                <a:srgbClr val="12ADE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D8F70A8-3594-4583-AB24-BFD887E391C4}"/>
              </a:ext>
            </a:extLst>
          </p:cNvPr>
          <p:cNvSpPr txBox="1"/>
          <p:nvPr/>
        </p:nvSpPr>
        <p:spPr>
          <a:xfrm>
            <a:off x="362491" y="2206809"/>
            <a:ext cx="698939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13" b="1" dirty="0">
                <a:solidFill>
                  <a:srgbClr val="12ADE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</a:t>
            </a:r>
            <a:r>
              <a:rPr lang="ko-KR" altLang="en-US" sz="813" b="1" dirty="0">
                <a:solidFill>
                  <a:srgbClr val="12ADE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813" b="1" dirty="0">
                <a:solidFill>
                  <a:srgbClr val="12ADE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  <a:endParaRPr lang="ko-KR" altLang="en-US" sz="813" b="1" dirty="0">
              <a:solidFill>
                <a:srgbClr val="12ADE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008E08B-DBA7-1B62-C907-94FDE58159D0}"/>
              </a:ext>
            </a:extLst>
          </p:cNvPr>
          <p:cNvSpPr txBox="1"/>
          <p:nvPr/>
        </p:nvSpPr>
        <p:spPr>
          <a:xfrm>
            <a:off x="362490" y="4654116"/>
            <a:ext cx="698940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13" b="1" dirty="0">
                <a:solidFill>
                  <a:srgbClr val="12ADE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DB  Layer</a:t>
            </a:r>
            <a:endParaRPr lang="ko-KR" altLang="en-US" sz="813" b="1" dirty="0">
              <a:solidFill>
                <a:srgbClr val="12ADE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587AA3AA-7CAD-82C1-C6F7-9CF43A8D2F4F}"/>
              </a:ext>
            </a:extLst>
          </p:cNvPr>
          <p:cNvGrpSpPr/>
          <p:nvPr/>
        </p:nvGrpSpPr>
        <p:grpSpPr>
          <a:xfrm>
            <a:off x="4590437" y="4948329"/>
            <a:ext cx="708670" cy="429309"/>
            <a:chOff x="5200858" y="5633659"/>
            <a:chExt cx="872209" cy="528380"/>
          </a:xfrm>
        </p:grpSpPr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F99E6BD3-B007-0BC5-632C-B613888B9D15}"/>
                </a:ext>
              </a:extLst>
            </p:cNvPr>
            <p:cNvGrpSpPr/>
            <p:nvPr/>
          </p:nvGrpSpPr>
          <p:grpSpPr>
            <a:xfrm>
              <a:off x="5200858" y="5633659"/>
              <a:ext cx="872209" cy="288880"/>
              <a:chOff x="6173405" y="4077701"/>
              <a:chExt cx="872209" cy="288880"/>
            </a:xfrm>
          </p:grpSpPr>
          <p:pic>
            <p:nvPicPr>
              <p:cNvPr id="119" name="그림 118">
                <a:extLst>
                  <a:ext uri="{FF2B5EF4-FFF2-40B4-BE49-F238E27FC236}">
                    <a16:creationId xmlns:a16="http://schemas.microsoft.com/office/drawing/2014/main" id="{E0FF9FCD-2A03-B8C8-E116-CA92738FB0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474284" y="4145520"/>
                <a:ext cx="265850" cy="167905"/>
              </a:xfrm>
              <a:prstGeom prst="rect">
                <a:avLst/>
              </a:prstGeom>
            </p:spPr>
          </p:pic>
          <p:pic>
            <p:nvPicPr>
              <p:cNvPr id="120" name="그림 119">
                <a:extLst>
                  <a:ext uri="{FF2B5EF4-FFF2-40B4-BE49-F238E27FC236}">
                    <a16:creationId xmlns:a16="http://schemas.microsoft.com/office/drawing/2014/main" id="{03E23C00-8378-7A05-373C-60300B71ED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73405" y="4078581"/>
                <a:ext cx="288000" cy="288000"/>
              </a:xfrm>
              <a:prstGeom prst="rect">
                <a:avLst/>
              </a:prstGeom>
            </p:spPr>
          </p:pic>
          <p:pic>
            <p:nvPicPr>
              <p:cNvPr id="121" name="그림 120">
                <a:extLst>
                  <a:ext uri="{FF2B5EF4-FFF2-40B4-BE49-F238E27FC236}">
                    <a16:creationId xmlns:a16="http://schemas.microsoft.com/office/drawing/2014/main" id="{6A99338A-783A-8833-3C5B-1B9227A223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57614" y="4077701"/>
                <a:ext cx="288000" cy="288000"/>
              </a:xfrm>
              <a:prstGeom prst="rect">
                <a:avLst/>
              </a:prstGeom>
            </p:spPr>
          </p:pic>
        </p:grp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CA2A116C-C0C7-74AC-D8DE-7237F2A64D7F}"/>
                </a:ext>
              </a:extLst>
            </p:cNvPr>
            <p:cNvSpPr txBox="1"/>
            <p:nvPr/>
          </p:nvSpPr>
          <p:spPr>
            <a:xfrm>
              <a:off x="5318664" y="5894431"/>
              <a:ext cx="651461" cy="2676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13" dirty="0"/>
                <a:t>복제</a:t>
              </a:r>
              <a:r>
                <a:rPr lang="en-US" altLang="ko-KR" sz="813" dirty="0"/>
                <a:t>DB</a:t>
              </a:r>
              <a:endParaRPr lang="ko-KR" altLang="en-US" sz="813" dirty="0"/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6D9E40B5-042A-E171-3F0B-31A315205D75}"/>
              </a:ext>
            </a:extLst>
          </p:cNvPr>
          <p:cNvGrpSpPr/>
          <p:nvPr/>
        </p:nvGrpSpPr>
        <p:grpSpPr>
          <a:xfrm>
            <a:off x="3841620" y="3244217"/>
            <a:ext cx="705642" cy="555791"/>
            <a:chOff x="4849863" y="3619421"/>
            <a:chExt cx="868483" cy="684050"/>
          </a:xfrm>
        </p:grpSpPr>
        <p:pic>
          <p:nvPicPr>
            <p:cNvPr id="103" name="그림 102">
              <a:extLst>
                <a:ext uri="{FF2B5EF4-FFF2-40B4-BE49-F238E27FC236}">
                  <a16:creationId xmlns:a16="http://schemas.microsoft.com/office/drawing/2014/main" id="{1A93AEAF-9F93-CF74-B471-5598C105F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0104" y="3619421"/>
              <a:ext cx="288000" cy="288000"/>
            </a:xfrm>
            <a:prstGeom prst="rect">
              <a:avLst/>
            </a:prstGeom>
          </p:spPr>
        </p:pic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2F942CC2-F01F-B19F-4A9F-3166168CDEC2}"/>
                </a:ext>
              </a:extLst>
            </p:cNvPr>
            <p:cNvSpPr txBox="1"/>
            <p:nvPr/>
          </p:nvSpPr>
          <p:spPr>
            <a:xfrm>
              <a:off x="4849863" y="3881896"/>
              <a:ext cx="868483" cy="4215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13" dirty="0"/>
                <a:t>단추플러스</a:t>
              </a:r>
              <a:endParaRPr lang="en-US" altLang="ko-KR" sz="813" dirty="0"/>
            </a:p>
            <a:p>
              <a:pPr algn="ctr"/>
              <a:r>
                <a:rPr lang="en-US" altLang="ko-KR" sz="813" dirty="0"/>
                <a:t>WAS</a:t>
              </a:r>
            </a:p>
          </p:txBody>
        </p:sp>
      </p:grp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DAB3D760-72C2-E876-EC08-073ECF695D5A}"/>
              </a:ext>
            </a:extLst>
          </p:cNvPr>
          <p:cNvGrpSpPr/>
          <p:nvPr/>
        </p:nvGrpSpPr>
        <p:grpSpPr>
          <a:xfrm>
            <a:off x="4954393" y="3244217"/>
            <a:ext cx="441147" cy="555791"/>
            <a:chOff x="6219425" y="3619421"/>
            <a:chExt cx="542950" cy="684050"/>
          </a:xfrm>
        </p:grpSpPr>
        <p:pic>
          <p:nvPicPr>
            <p:cNvPr id="104" name="그림 103">
              <a:extLst>
                <a:ext uri="{FF2B5EF4-FFF2-40B4-BE49-F238E27FC236}">
                  <a16:creationId xmlns:a16="http://schemas.microsoft.com/office/drawing/2014/main" id="{F00FBD8D-8A6A-ECC0-E5E2-50AC44322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6900" y="3619421"/>
              <a:ext cx="288000" cy="288000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A3D56972-CA03-534F-E2FB-A0754FB7E6C1}"/>
                </a:ext>
              </a:extLst>
            </p:cNvPr>
            <p:cNvSpPr txBox="1"/>
            <p:nvPr/>
          </p:nvSpPr>
          <p:spPr>
            <a:xfrm>
              <a:off x="6219425" y="3881896"/>
              <a:ext cx="542950" cy="4215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13" dirty="0"/>
                <a:t>AI I/F</a:t>
              </a:r>
            </a:p>
            <a:p>
              <a:pPr algn="ctr"/>
              <a:r>
                <a:rPr lang="en-US" altLang="ko-KR" sz="813" dirty="0"/>
                <a:t>WAS</a:t>
              </a:r>
            </a:p>
          </p:txBody>
        </p: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AFE7375D-A7C1-623A-9BF2-8E5EC1A7BFE8}"/>
              </a:ext>
            </a:extLst>
          </p:cNvPr>
          <p:cNvSpPr txBox="1"/>
          <p:nvPr/>
        </p:nvSpPr>
        <p:spPr>
          <a:xfrm>
            <a:off x="3411566" y="4299707"/>
            <a:ext cx="747320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813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GPU Server</a:t>
            </a:r>
            <a:endParaRPr lang="ko-KR" altLang="en-US" sz="813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9" name="그림 148">
            <a:extLst>
              <a:ext uri="{FF2B5EF4-FFF2-40B4-BE49-F238E27FC236}">
                <a16:creationId xmlns:a16="http://schemas.microsoft.com/office/drawing/2014/main" id="{DA76A41A-ED6F-7C38-2B9D-BC76536E8C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169" y="4070296"/>
            <a:ext cx="234000" cy="234000"/>
          </a:xfrm>
          <a:prstGeom prst="rect">
            <a:avLst/>
          </a:prstGeom>
        </p:spPr>
      </p:pic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7AD8266A-DCFF-BBF5-FB34-35D47D66EE75}"/>
              </a:ext>
            </a:extLst>
          </p:cNvPr>
          <p:cNvCxnSpPr>
            <a:cxnSpLocks/>
            <a:stCxn id="144" idx="2"/>
            <a:endCxn id="133" idx="0"/>
          </p:cNvCxnSpPr>
          <p:nvPr/>
        </p:nvCxnSpPr>
        <p:spPr>
          <a:xfrm>
            <a:off x="5174964" y="3782569"/>
            <a:ext cx="0" cy="26405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6EAA745F-362F-C66B-845D-4B1E46A2088F}"/>
              </a:ext>
            </a:extLst>
          </p:cNvPr>
          <p:cNvCxnSpPr>
            <a:stCxn id="103" idx="3"/>
            <a:endCxn id="104" idx="1"/>
          </p:cNvCxnSpPr>
          <p:nvPr/>
        </p:nvCxnSpPr>
        <p:spPr>
          <a:xfrm>
            <a:off x="4311441" y="3361218"/>
            <a:ext cx="746522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E67CF1AE-01F3-68C6-CC63-1BD809FD2120}"/>
              </a:ext>
            </a:extLst>
          </p:cNvPr>
          <p:cNvCxnSpPr>
            <a:cxnSpLocks/>
          </p:cNvCxnSpPr>
          <p:nvPr/>
        </p:nvCxnSpPr>
        <p:spPr>
          <a:xfrm>
            <a:off x="4138157" y="3782569"/>
            <a:ext cx="14025" cy="117274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직선 화살표 연결선 158">
            <a:extLst>
              <a:ext uri="{FF2B5EF4-FFF2-40B4-BE49-F238E27FC236}">
                <a16:creationId xmlns:a16="http://schemas.microsoft.com/office/drawing/2014/main" id="{D6EA684B-3654-7CBB-BB66-A32BE295F7DD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4635929" y="4480678"/>
            <a:ext cx="389326" cy="49475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869C32DC-2C44-D724-2ED8-FBF2A25A9616}"/>
              </a:ext>
            </a:extLst>
          </p:cNvPr>
          <p:cNvCxnSpPr>
            <a:stCxn id="110" idx="3"/>
            <a:endCxn id="133" idx="1"/>
          </p:cNvCxnSpPr>
          <p:nvPr/>
        </p:nvCxnSpPr>
        <p:spPr>
          <a:xfrm>
            <a:off x="4902489" y="4163623"/>
            <a:ext cx="155475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직선 화살표 연결선 163">
            <a:extLst>
              <a:ext uri="{FF2B5EF4-FFF2-40B4-BE49-F238E27FC236}">
                <a16:creationId xmlns:a16="http://schemas.microsoft.com/office/drawing/2014/main" id="{72F2401A-1D08-FA08-D5D9-A380B2E34051}"/>
              </a:ext>
            </a:extLst>
          </p:cNvPr>
          <p:cNvCxnSpPr>
            <a:stCxn id="114" idx="2"/>
            <a:endCxn id="103" idx="0"/>
          </p:cNvCxnSpPr>
          <p:nvPr/>
        </p:nvCxnSpPr>
        <p:spPr>
          <a:xfrm>
            <a:off x="4191331" y="2846956"/>
            <a:ext cx="3110" cy="397262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꺾인 연결선[E] 177">
            <a:extLst>
              <a:ext uri="{FF2B5EF4-FFF2-40B4-BE49-F238E27FC236}">
                <a16:creationId xmlns:a16="http://schemas.microsoft.com/office/drawing/2014/main" id="{17F53534-76E2-50C9-C90B-4C8AF52E01DD}"/>
              </a:ext>
            </a:extLst>
          </p:cNvPr>
          <p:cNvCxnSpPr>
            <a:endCxn id="120" idx="0"/>
          </p:cNvCxnSpPr>
          <p:nvPr/>
        </p:nvCxnSpPr>
        <p:spPr>
          <a:xfrm rot="16200000" flipH="1">
            <a:off x="3857424" y="4099033"/>
            <a:ext cx="1252240" cy="447784"/>
          </a:xfrm>
          <a:prstGeom prst="bentConnector3">
            <a:avLst>
              <a:gd name="adj1" fmla="val 88654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위로 구부러진 화살표[C] 179">
            <a:extLst>
              <a:ext uri="{FF2B5EF4-FFF2-40B4-BE49-F238E27FC236}">
                <a16:creationId xmlns:a16="http://schemas.microsoft.com/office/drawing/2014/main" id="{08CE7CAB-E313-FA23-9C9F-B2BDD45BDCB6}"/>
              </a:ext>
            </a:extLst>
          </p:cNvPr>
          <p:cNvSpPr/>
          <p:nvPr/>
        </p:nvSpPr>
        <p:spPr>
          <a:xfrm>
            <a:off x="1898312" y="4333406"/>
            <a:ext cx="3064375" cy="499818"/>
          </a:xfrm>
          <a:prstGeom prst="curvedUpArrow">
            <a:avLst>
              <a:gd name="adj1" fmla="val 25000"/>
              <a:gd name="adj2" fmla="val 59399"/>
              <a:gd name="adj3" fmla="val 3057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>
              <a:solidFill>
                <a:schemeClr val="tx1"/>
              </a:solidFill>
            </a:endParaRPr>
          </a:p>
        </p:txBody>
      </p:sp>
      <p:graphicFrame>
        <p:nvGraphicFramePr>
          <p:cNvPr id="182" name="표 181">
            <a:extLst>
              <a:ext uri="{FF2B5EF4-FFF2-40B4-BE49-F238E27FC236}">
                <a16:creationId xmlns:a16="http://schemas.microsoft.com/office/drawing/2014/main" id="{F9AC13BF-56E9-793F-6736-64BB085D1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001946"/>
              </p:ext>
            </p:extLst>
          </p:nvPr>
        </p:nvGraphicFramePr>
        <p:xfrm>
          <a:off x="5934515" y="1448751"/>
          <a:ext cx="3602432" cy="4545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115">
                  <a:extLst>
                    <a:ext uri="{9D8B030D-6E8A-4147-A177-3AD203B41FA5}">
                      <a16:colId xmlns:a16="http://schemas.microsoft.com/office/drawing/2014/main" val="2888054591"/>
                    </a:ext>
                  </a:extLst>
                </a:gridCol>
                <a:gridCol w="1218888">
                  <a:extLst>
                    <a:ext uri="{9D8B030D-6E8A-4147-A177-3AD203B41FA5}">
                      <a16:colId xmlns:a16="http://schemas.microsoft.com/office/drawing/2014/main" val="2608517895"/>
                    </a:ext>
                  </a:extLst>
                </a:gridCol>
                <a:gridCol w="624078">
                  <a:extLst>
                    <a:ext uri="{9D8B030D-6E8A-4147-A177-3AD203B41FA5}">
                      <a16:colId xmlns:a16="http://schemas.microsoft.com/office/drawing/2014/main" val="323679834"/>
                    </a:ext>
                  </a:extLst>
                </a:gridCol>
                <a:gridCol w="1151351">
                  <a:extLst>
                    <a:ext uri="{9D8B030D-6E8A-4147-A177-3AD203B41FA5}">
                      <a16:colId xmlns:a16="http://schemas.microsoft.com/office/drawing/2014/main" val="1268865715"/>
                    </a:ext>
                  </a:extLst>
                </a:gridCol>
              </a:tblGrid>
              <a:tr h="6760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항목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spec</a:t>
                      </a:r>
                      <a:endParaRPr lang="ko-KR" altLang="en-US" sz="11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대표</a:t>
                      </a:r>
                      <a:r>
                        <a:rPr lang="en-US" altLang="ko-KR" sz="1100" dirty="0"/>
                        <a:t>S/W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수량</a:t>
                      </a:r>
                      <a:endParaRPr lang="en-US" altLang="ko-KR" sz="1100" dirty="0"/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3718346944"/>
                  </a:ext>
                </a:extLst>
              </a:tr>
              <a:tr h="4197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Web</a:t>
                      </a:r>
                    </a:p>
                    <a:p>
                      <a:pPr algn="ctr" latinLnBrk="1"/>
                      <a:r>
                        <a:rPr lang="en-US" altLang="ko-KR" sz="900" dirty="0"/>
                        <a:t>Layer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VM (4cpu, 8G)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/>
                        <a:t>nginx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r>
                        <a:rPr lang="ko-KR" altLang="en-US" sz="900" dirty="0"/>
                        <a:t>식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2683127053"/>
                  </a:ext>
                </a:extLst>
              </a:tr>
              <a:tr h="42487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Was</a:t>
                      </a:r>
                    </a:p>
                    <a:p>
                      <a:pPr algn="ctr" latinLnBrk="1"/>
                      <a:r>
                        <a:rPr lang="en-US" altLang="ko-KR" sz="900" dirty="0"/>
                        <a:t>Layer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/>
                        <a:t>쿠버네티스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java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r>
                        <a:rPr lang="ko-KR" altLang="en-US" sz="900" dirty="0"/>
                        <a:t>식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481090917"/>
                  </a:ext>
                </a:extLst>
              </a:tr>
              <a:tr h="2954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VM (8cpu, 16G)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Node.js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r>
                        <a:rPr lang="ko-KR" altLang="en-US" sz="900" dirty="0"/>
                        <a:t>식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2335524933"/>
                  </a:ext>
                </a:extLst>
              </a:tr>
              <a:tr h="362258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AI</a:t>
                      </a:r>
                    </a:p>
                    <a:p>
                      <a:pPr algn="ctr" latinLnBrk="1"/>
                      <a:r>
                        <a:rPr lang="en-US" altLang="ko-KR" sz="900" dirty="0"/>
                        <a:t>Layer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VM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(16cpu, 128G)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Elastic Search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r>
                        <a:rPr lang="ko-KR" altLang="en-US" sz="900" dirty="0"/>
                        <a:t>식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563885345"/>
                  </a:ext>
                </a:extLst>
              </a:tr>
              <a:tr h="2986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VM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(8cpu, 16G)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Node.js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</a:t>
                      </a:r>
                      <a:r>
                        <a:rPr lang="ko-KR" altLang="en-US" sz="900" dirty="0"/>
                        <a:t>식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3939181380"/>
                  </a:ext>
                </a:extLst>
              </a:tr>
              <a:tr h="2986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GPU</a:t>
                      </a:r>
                      <a:r>
                        <a:rPr lang="ko-KR" altLang="en-US" sz="900" dirty="0"/>
                        <a:t> 서버 </a:t>
                      </a:r>
                      <a:r>
                        <a:rPr lang="en-US" altLang="ko-KR" sz="900" dirty="0"/>
                        <a:t>(OCR, DKT)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r>
                        <a:rPr lang="ko-KR" altLang="en-US" sz="900" dirty="0"/>
                        <a:t>식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3189089417"/>
                  </a:ext>
                </a:extLst>
              </a:tr>
              <a:tr h="33432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DB</a:t>
                      </a:r>
                    </a:p>
                    <a:p>
                      <a:pPr algn="ctr" latinLnBrk="1"/>
                      <a:r>
                        <a:rPr lang="en-US" altLang="ko-KR" sz="900" dirty="0"/>
                        <a:t>Layer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기존사양에 준함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err="1"/>
                        <a:t>mariaDB</a:t>
                      </a:r>
                      <a:endParaRPr lang="ko-KR" altLang="en-US" sz="7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기존 </a:t>
                      </a:r>
                      <a:r>
                        <a:rPr lang="en-US" altLang="ko-KR" sz="900" dirty="0"/>
                        <a:t>master </a:t>
                      </a:r>
                      <a:r>
                        <a:rPr lang="ko-KR" altLang="en-US" sz="900" dirty="0"/>
                        <a:t>수량에 준함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3405972929"/>
                  </a:ext>
                </a:extLst>
              </a:tr>
              <a:tr h="2271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/>
                        <a:t>설치형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Maria DB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err="1"/>
                        <a:t>mariaDB</a:t>
                      </a:r>
                      <a:endParaRPr lang="ko-KR" altLang="en-US" sz="7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r>
                        <a:rPr lang="ko-KR" altLang="en-US" sz="900" dirty="0"/>
                        <a:t>식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3688766714"/>
                  </a:ext>
                </a:extLst>
              </a:tr>
              <a:tr h="919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특이사항</a:t>
                      </a:r>
                    </a:p>
                  </a:txBody>
                  <a:tcPr marL="74295" marR="74295" marT="37148" marB="37148" anchor="ctr"/>
                </a:tc>
                <a:tc gridSpan="3">
                  <a:txBody>
                    <a:bodyPr/>
                    <a:lstStyle/>
                    <a:p>
                      <a:pPr marL="171450" indent="-17145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/>
                        <a:t>AI layer</a:t>
                      </a:r>
                      <a:r>
                        <a:rPr lang="ko-KR" altLang="en-US" sz="900" dirty="0"/>
                        <a:t>의 </a:t>
                      </a:r>
                      <a:r>
                        <a:rPr lang="en-US" altLang="ko-KR" sz="900" dirty="0"/>
                        <a:t>BKT </a:t>
                      </a:r>
                      <a:r>
                        <a:rPr lang="ko-KR" altLang="en-US" sz="900" dirty="0"/>
                        <a:t>모델 분석데이터 최초 </a:t>
                      </a:r>
                      <a:r>
                        <a:rPr lang="en-US" altLang="ko-KR" sz="900" dirty="0"/>
                        <a:t>1</a:t>
                      </a:r>
                      <a:r>
                        <a:rPr lang="ko-KR" altLang="en-US" sz="900" dirty="0"/>
                        <a:t>회 이관</a:t>
                      </a:r>
                      <a:endParaRPr lang="en-US" altLang="ko-KR" sz="900" dirty="0"/>
                    </a:p>
                    <a:p>
                      <a:pPr marL="171450" indent="-17145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/>
                        <a:t>DB Layer</a:t>
                      </a:r>
                      <a:r>
                        <a:rPr lang="ko-KR" altLang="en-US" sz="900" dirty="0"/>
                        <a:t>의 필요</a:t>
                      </a:r>
                      <a:r>
                        <a:rPr lang="en-US" altLang="ko-KR" sz="900" dirty="0"/>
                        <a:t> DB 1</a:t>
                      </a:r>
                      <a:r>
                        <a:rPr lang="ko-KR" altLang="en-US" sz="900" dirty="0"/>
                        <a:t>회 이관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 운영</a:t>
                      </a:r>
                      <a:r>
                        <a:rPr lang="en-US" altLang="ko-KR" sz="900" dirty="0"/>
                        <a:t>DB </a:t>
                      </a:r>
                      <a:r>
                        <a:rPr lang="ko-KR" altLang="en-US" sz="900" dirty="0"/>
                        <a:t>접근금지</a:t>
                      </a:r>
                      <a:endParaRPr lang="en-US" altLang="ko-KR" sz="900" dirty="0"/>
                    </a:p>
                    <a:p>
                      <a:pPr marL="171450" indent="-171450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/>
                        <a:t>VPC Peering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-</a:t>
                      </a:r>
                      <a:r>
                        <a:rPr lang="ko-KR" altLang="en-US" sz="900" dirty="0"/>
                        <a:t> 비용절감 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 복제 편의성 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 속도 고려선정</a:t>
                      </a:r>
                      <a:r>
                        <a:rPr lang="en-US" altLang="ko-KR" sz="900" dirty="0"/>
                        <a:t/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                - </a:t>
                      </a:r>
                      <a:r>
                        <a:rPr lang="ko-KR" altLang="en-US" sz="900" dirty="0"/>
                        <a:t>데이터 이관 후 </a:t>
                      </a:r>
                      <a:r>
                        <a:rPr lang="en-US" altLang="ko-KR" sz="900" dirty="0"/>
                        <a:t>DB</a:t>
                      </a:r>
                      <a:r>
                        <a:rPr lang="ko-KR" altLang="en-US" sz="900" dirty="0"/>
                        <a:t>용은 삭제</a:t>
                      </a:r>
                      <a:endParaRPr lang="en-US" altLang="ko-KR" sz="9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/>
                        <a:t>기타 클라우드 요소 상세사항 </a:t>
                      </a:r>
                      <a:r>
                        <a:rPr lang="ko-KR" altLang="en-US" sz="900" dirty="0" err="1"/>
                        <a:t>별도참조</a:t>
                      </a:r>
                      <a:endParaRPr lang="en-US" altLang="ko-KR" sz="900" dirty="0"/>
                    </a:p>
                  </a:txBody>
                  <a:tcPr marL="74295" marR="74295" marT="37148" marB="37148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4635538"/>
                  </a:ext>
                </a:extLst>
              </a:tr>
            </a:tbl>
          </a:graphicData>
        </a:graphic>
      </p:graphicFrame>
      <p:pic>
        <p:nvPicPr>
          <p:cNvPr id="185" name="그림 184">
            <a:extLst>
              <a:ext uri="{FF2B5EF4-FFF2-40B4-BE49-F238E27FC236}">
                <a16:creationId xmlns:a16="http://schemas.microsoft.com/office/drawing/2014/main" id="{7C62CE48-2C55-DE17-BBC7-5A700857DFC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370" y="4070296"/>
            <a:ext cx="234000" cy="234000"/>
          </a:xfrm>
          <a:prstGeom prst="rect">
            <a:avLst/>
          </a:prstGeom>
        </p:spPr>
      </p:pic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001A8B71-9087-F85F-61ED-1238ED1B9C9F}"/>
              </a:ext>
            </a:extLst>
          </p:cNvPr>
          <p:cNvGrpSpPr/>
          <p:nvPr/>
        </p:nvGrpSpPr>
        <p:grpSpPr>
          <a:xfrm>
            <a:off x="3940749" y="4958608"/>
            <a:ext cx="422872" cy="409825"/>
            <a:chOff x="5731620" y="5710910"/>
            <a:chExt cx="520457" cy="504400"/>
          </a:xfrm>
        </p:grpSpPr>
        <p:sp>
          <p:nvSpPr>
            <p:cNvPr id="189" name="TextBox 57">
              <a:extLst>
                <a:ext uri="{FF2B5EF4-FFF2-40B4-BE49-F238E27FC236}">
                  <a16:creationId xmlns:a16="http://schemas.microsoft.com/office/drawing/2014/main" id="{3919E009-14E3-8DB2-1E8F-3EA91452D8B9}"/>
                </a:ext>
              </a:extLst>
            </p:cNvPr>
            <p:cNvSpPr txBox="1"/>
            <p:nvPr/>
          </p:nvSpPr>
          <p:spPr>
            <a:xfrm>
              <a:off x="5731620" y="5947702"/>
              <a:ext cx="520457" cy="26760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7147" rIns="37147">
              <a:spAutoFit/>
            </a:bodyPr>
            <a:lstStyle>
              <a:lvl1pPr algn="ctr">
                <a:defRPr sz="1000">
                  <a:solidFill>
                    <a:srgbClr val="AFABA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813" dirty="0">
                  <a:solidFill>
                    <a:schemeClr val="tx1"/>
                  </a:solidFill>
                </a:rPr>
                <a:t>MySQL</a:t>
              </a:r>
            </a:p>
          </p:txBody>
        </p:sp>
        <p:pic>
          <p:nvPicPr>
            <p:cNvPr id="190" name="그림 189">
              <a:extLst>
                <a:ext uri="{FF2B5EF4-FFF2-40B4-BE49-F238E27FC236}">
                  <a16:creationId xmlns:a16="http://schemas.microsoft.com/office/drawing/2014/main" id="{B0CD8779-3A41-00EA-14FC-EB06230DA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3016" y="5710910"/>
              <a:ext cx="288000" cy="288000"/>
            </a:xfrm>
            <a:prstGeom prst="rect">
              <a:avLst/>
            </a:prstGeom>
          </p:spPr>
        </p:pic>
      </p:grpSp>
      <p:sp>
        <p:nvSpPr>
          <p:cNvPr id="88" name="텍스트 개체 틀 1"/>
          <p:cNvSpPr txBox="1">
            <a:spLocks/>
          </p:cNvSpPr>
          <p:nvPr/>
        </p:nvSpPr>
        <p:spPr>
          <a:xfrm>
            <a:off x="947555" y="183878"/>
            <a:ext cx="7515408" cy="351569"/>
          </a:xfrm>
          <a:prstGeom prst="rect">
            <a:avLst/>
          </a:prstGeom>
        </p:spPr>
        <p:txBody>
          <a:bodyPr lIns="0" tIns="0" rIns="0" bIns="0" anchor="b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 marL="0" indent="0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b="1" kern="1200" spc="-1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ko-KR" spc="0" dirty="0">
                <a:solidFill>
                  <a:prstClr val="black"/>
                </a:solidFill>
                <a:sym typeface="Malgun Gothic"/>
              </a:rPr>
              <a:t>4. Cloud Infra Architecture </a:t>
            </a:r>
            <a:r>
              <a:rPr lang="ko-KR" altLang="en-US" spc="0" dirty="0">
                <a:solidFill>
                  <a:prstClr val="black"/>
                </a:solidFill>
                <a:sym typeface="Malgun Gothic"/>
              </a:rPr>
              <a:t>구성 </a:t>
            </a:r>
            <a:r>
              <a:rPr lang="en-US" altLang="ko-KR" spc="0" dirty="0">
                <a:solidFill>
                  <a:prstClr val="black"/>
                </a:solidFill>
                <a:sym typeface="Malgun Gothic"/>
              </a:rPr>
              <a:t>(1/2) – </a:t>
            </a:r>
            <a:r>
              <a:rPr lang="ko-KR" altLang="en-US" spc="0" dirty="0" err="1">
                <a:solidFill>
                  <a:prstClr val="black"/>
                </a:solidFill>
                <a:sym typeface="Malgun Gothic"/>
              </a:rPr>
              <a:t>시험계</a:t>
            </a:r>
            <a:endParaRPr lang="ko-KR" altLang="en-US" spc="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800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C67D0-5D83-625E-200A-066BDC3BF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9B5ECCB3-5F4F-48E2-C780-79320D0C31AC}"/>
              </a:ext>
            </a:extLst>
          </p:cNvPr>
          <p:cNvSpPr/>
          <p:nvPr/>
        </p:nvSpPr>
        <p:spPr>
          <a:xfrm>
            <a:off x="365219" y="2291346"/>
            <a:ext cx="2251826" cy="547303"/>
          </a:xfrm>
          <a:prstGeom prst="rect">
            <a:avLst/>
          </a:prstGeom>
          <a:solidFill>
            <a:schemeClr val="accent3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261EF184-5630-81C4-1C9B-F09F8A6C34A0}"/>
              </a:ext>
            </a:extLst>
          </p:cNvPr>
          <p:cNvSpPr/>
          <p:nvPr/>
        </p:nvSpPr>
        <p:spPr>
          <a:xfrm>
            <a:off x="361623" y="1357022"/>
            <a:ext cx="2251826" cy="3908585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10A439D3-432A-4484-84EB-4EC233053EA8}"/>
              </a:ext>
            </a:extLst>
          </p:cNvPr>
          <p:cNvSpPr/>
          <p:nvPr/>
        </p:nvSpPr>
        <p:spPr>
          <a:xfrm>
            <a:off x="361623" y="2982862"/>
            <a:ext cx="2251826" cy="702241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/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FCC0F746-0398-61D7-073F-12EAA254ABAA}"/>
              </a:ext>
            </a:extLst>
          </p:cNvPr>
          <p:cNvGrpSpPr/>
          <p:nvPr/>
        </p:nvGrpSpPr>
        <p:grpSpPr>
          <a:xfrm>
            <a:off x="1017873" y="3157215"/>
            <a:ext cx="708670" cy="234715"/>
            <a:chOff x="6173405" y="4077701"/>
            <a:chExt cx="872209" cy="288880"/>
          </a:xfrm>
        </p:grpSpPr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84F60046-F390-64E9-97EA-FB17F363B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4284" y="4145520"/>
              <a:ext cx="265850" cy="167905"/>
            </a:xfrm>
            <a:prstGeom prst="rect">
              <a:avLst/>
            </a:prstGeom>
          </p:spPr>
        </p:pic>
        <p:pic>
          <p:nvPicPr>
            <p:cNvPr id="75" name="그림 74">
              <a:extLst>
                <a:ext uri="{FF2B5EF4-FFF2-40B4-BE49-F238E27FC236}">
                  <a16:creationId xmlns:a16="http://schemas.microsoft.com/office/drawing/2014/main" id="{730E0AF6-5315-8FB8-1E89-6F886408E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405" y="4078581"/>
              <a:ext cx="288000" cy="288000"/>
            </a:xfrm>
            <a:prstGeom prst="rect">
              <a:avLst/>
            </a:prstGeom>
          </p:spPr>
        </p:pic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B52968F6-93C8-EE60-CE20-DBC523DCD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7614" y="4077701"/>
              <a:ext cx="288000" cy="288000"/>
            </a:xfrm>
            <a:prstGeom prst="rect">
              <a:avLst/>
            </a:prstGeom>
          </p:spPr>
        </p:pic>
      </p:grp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43C06CDF-AE3F-5048-8A04-9A75C3DD181F}"/>
              </a:ext>
            </a:extLst>
          </p:cNvPr>
          <p:cNvSpPr/>
          <p:nvPr/>
        </p:nvSpPr>
        <p:spPr>
          <a:xfrm>
            <a:off x="361623" y="3787002"/>
            <a:ext cx="2251826" cy="702241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/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4E99D708-DE22-78FB-FC33-7AF6526F88C0}"/>
              </a:ext>
            </a:extLst>
          </p:cNvPr>
          <p:cNvGrpSpPr/>
          <p:nvPr/>
        </p:nvGrpSpPr>
        <p:grpSpPr>
          <a:xfrm>
            <a:off x="1034997" y="3976127"/>
            <a:ext cx="708670" cy="234715"/>
            <a:chOff x="6173405" y="4077701"/>
            <a:chExt cx="872209" cy="288880"/>
          </a:xfrm>
        </p:grpSpPr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A2C43544-9466-A464-4144-DD38238337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4284" y="4145520"/>
              <a:ext cx="265850" cy="167905"/>
            </a:xfrm>
            <a:prstGeom prst="rect">
              <a:avLst/>
            </a:prstGeom>
          </p:spPr>
        </p:pic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3EA0412C-5EFA-C702-8025-143893379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405" y="4078581"/>
              <a:ext cx="288000" cy="288000"/>
            </a:xfrm>
            <a:prstGeom prst="rect">
              <a:avLst/>
            </a:prstGeom>
          </p:spPr>
        </p:pic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177F7443-8ACD-80A6-6FE1-7F561AF01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7614" y="4077701"/>
              <a:ext cx="288000" cy="288000"/>
            </a:xfrm>
            <a:prstGeom prst="rect">
              <a:avLst/>
            </a:prstGeom>
          </p:spPr>
        </p:pic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497D50DE-BFC9-3A9B-A39E-4FEF9ECB2A74}"/>
              </a:ext>
            </a:extLst>
          </p:cNvPr>
          <p:cNvGrpSpPr/>
          <p:nvPr/>
        </p:nvGrpSpPr>
        <p:grpSpPr>
          <a:xfrm>
            <a:off x="1008809" y="2521137"/>
            <a:ext cx="708670" cy="234715"/>
            <a:chOff x="6173405" y="4077701"/>
            <a:chExt cx="872209" cy="288880"/>
          </a:xfrm>
        </p:grpSpPr>
        <p:pic>
          <p:nvPicPr>
            <p:cNvPr id="85" name="그림 84">
              <a:extLst>
                <a:ext uri="{FF2B5EF4-FFF2-40B4-BE49-F238E27FC236}">
                  <a16:creationId xmlns:a16="http://schemas.microsoft.com/office/drawing/2014/main" id="{A4A01EDF-5166-FD1A-B91C-B0BE0414A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4284" y="4145520"/>
              <a:ext cx="265850" cy="167905"/>
            </a:xfrm>
            <a:prstGeom prst="rect">
              <a:avLst/>
            </a:prstGeom>
          </p:spPr>
        </p:pic>
        <p:pic>
          <p:nvPicPr>
            <p:cNvPr id="86" name="그림 85">
              <a:extLst>
                <a:ext uri="{FF2B5EF4-FFF2-40B4-BE49-F238E27FC236}">
                  <a16:creationId xmlns:a16="http://schemas.microsoft.com/office/drawing/2014/main" id="{9AC12653-79AE-C96D-AD97-051BA3D0F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405" y="4078581"/>
              <a:ext cx="288000" cy="288000"/>
            </a:xfrm>
            <a:prstGeom prst="rect">
              <a:avLst/>
            </a:prstGeom>
          </p:spPr>
        </p:pic>
        <p:pic>
          <p:nvPicPr>
            <p:cNvPr id="87" name="그림 86">
              <a:extLst>
                <a:ext uri="{FF2B5EF4-FFF2-40B4-BE49-F238E27FC236}">
                  <a16:creationId xmlns:a16="http://schemas.microsoft.com/office/drawing/2014/main" id="{B2001A4C-6537-D1D8-5443-652F05756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7614" y="4077701"/>
              <a:ext cx="288000" cy="288000"/>
            </a:xfrm>
            <a:prstGeom prst="rect">
              <a:avLst/>
            </a:prstGeom>
          </p:spPr>
        </p:pic>
      </p:grp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406BEBEA-746F-60F2-459F-03518F8DC62E}"/>
              </a:ext>
            </a:extLst>
          </p:cNvPr>
          <p:cNvSpPr/>
          <p:nvPr/>
        </p:nvSpPr>
        <p:spPr>
          <a:xfrm>
            <a:off x="361623" y="4563367"/>
            <a:ext cx="2251826" cy="702241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/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4180C981-8519-61E7-2C9D-C32972EDD351}"/>
              </a:ext>
            </a:extLst>
          </p:cNvPr>
          <p:cNvGrpSpPr/>
          <p:nvPr/>
        </p:nvGrpSpPr>
        <p:grpSpPr>
          <a:xfrm>
            <a:off x="1559341" y="4864514"/>
            <a:ext cx="708670" cy="234715"/>
            <a:chOff x="6173405" y="4077701"/>
            <a:chExt cx="872209" cy="288880"/>
          </a:xfrm>
        </p:grpSpPr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9C2F3B57-CD60-BC34-007F-408C51AD6A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4284" y="4145520"/>
              <a:ext cx="265850" cy="167905"/>
            </a:xfrm>
            <a:prstGeom prst="rect">
              <a:avLst/>
            </a:prstGeom>
          </p:spPr>
        </p:pic>
        <p:pic>
          <p:nvPicPr>
            <p:cNvPr id="92" name="그림 91">
              <a:extLst>
                <a:ext uri="{FF2B5EF4-FFF2-40B4-BE49-F238E27FC236}">
                  <a16:creationId xmlns:a16="http://schemas.microsoft.com/office/drawing/2014/main" id="{2308727A-9831-C6D1-386D-97D8C7764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405" y="4078581"/>
              <a:ext cx="288000" cy="288000"/>
            </a:xfrm>
            <a:prstGeom prst="rect">
              <a:avLst/>
            </a:prstGeom>
          </p:spPr>
        </p:pic>
        <p:pic>
          <p:nvPicPr>
            <p:cNvPr id="93" name="그림 92">
              <a:extLst>
                <a:ext uri="{FF2B5EF4-FFF2-40B4-BE49-F238E27FC236}">
                  <a16:creationId xmlns:a16="http://schemas.microsoft.com/office/drawing/2014/main" id="{E20640E4-D3D1-5656-A6C9-FEB96F08A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7614" y="4077701"/>
              <a:ext cx="288000" cy="288000"/>
            </a:xfrm>
            <a:prstGeom prst="rect">
              <a:avLst/>
            </a:prstGeom>
          </p:spPr>
        </p:pic>
      </p:grp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B1D6D999-5974-E0AA-DE8A-67C97957F2C7}"/>
              </a:ext>
            </a:extLst>
          </p:cNvPr>
          <p:cNvSpPr/>
          <p:nvPr/>
        </p:nvSpPr>
        <p:spPr>
          <a:xfrm>
            <a:off x="361623" y="1357023"/>
            <a:ext cx="2251826" cy="3819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31" dirty="0"/>
              <a:t>운영 </a:t>
            </a:r>
            <a:r>
              <a:rPr lang="en-US" altLang="ko-KR" sz="731" dirty="0"/>
              <a:t>VPC</a:t>
            </a:r>
            <a:endParaRPr lang="ko-KR" altLang="en-US" sz="731" dirty="0"/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171379C7-D9DE-C8B5-6739-91B7023D824E}"/>
              </a:ext>
            </a:extLst>
          </p:cNvPr>
          <p:cNvCxnSpPr>
            <a:cxnSpLocks/>
          </p:cNvCxnSpPr>
          <p:nvPr/>
        </p:nvCxnSpPr>
        <p:spPr>
          <a:xfrm flipH="1">
            <a:off x="1301187" y="3371803"/>
            <a:ext cx="80871" cy="54445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0121DB15-C74C-33B6-24F4-D2D41B07FD26}"/>
              </a:ext>
            </a:extLst>
          </p:cNvPr>
          <p:cNvCxnSpPr>
            <a:cxnSpLocks/>
          </p:cNvCxnSpPr>
          <p:nvPr/>
        </p:nvCxnSpPr>
        <p:spPr>
          <a:xfrm>
            <a:off x="1443227" y="3391010"/>
            <a:ext cx="350113" cy="139501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415AF7C4-4DB5-013D-9B29-BC8B54D23447}"/>
              </a:ext>
            </a:extLst>
          </p:cNvPr>
          <p:cNvSpPr/>
          <p:nvPr/>
        </p:nvSpPr>
        <p:spPr>
          <a:xfrm>
            <a:off x="3369799" y="1357022"/>
            <a:ext cx="2251826" cy="3908585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6033129-15E1-A68F-DE56-CF0B3D3EC173}"/>
              </a:ext>
            </a:extLst>
          </p:cNvPr>
          <p:cNvSpPr/>
          <p:nvPr/>
        </p:nvSpPr>
        <p:spPr>
          <a:xfrm>
            <a:off x="3378450" y="2291346"/>
            <a:ext cx="2251826" cy="547303"/>
          </a:xfrm>
          <a:prstGeom prst="rect">
            <a:avLst/>
          </a:prstGeom>
          <a:solidFill>
            <a:schemeClr val="accent3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26D7D04E-3843-C935-B19C-00133481CFE1}"/>
              </a:ext>
            </a:extLst>
          </p:cNvPr>
          <p:cNvSpPr/>
          <p:nvPr/>
        </p:nvSpPr>
        <p:spPr>
          <a:xfrm>
            <a:off x="3378450" y="2982862"/>
            <a:ext cx="2251826" cy="702241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48581A3-01D4-4B36-1B61-C8AD42B65806}"/>
              </a:ext>
            </a:extLst>
          </p:cNvPr>
          <p:cNvSpPr txBox="1"/>
          <p:nvPr/>
        </p:nvSpPr>
        <p:spPr>
          <a:xfrm>
            <a:off x="3369799" y="3018451"/>
            <a:ext cx="674831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13" b="1" dirty="0">
                <a:solidFill>
                  <a:srgbClr val="12ADE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Was Layer</a:t>
            </a:r>
            <a:endParaRPr lang="ko-KR" altLang="en-US" sz="813" b="1" dirty="0">
              <a:solidFill>
                <a:srgbClr val="12ADE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5B7D25E5-4F76-85CF-BF93-210B0B9BA071}"/>
              </a:ext>
            </a:extLst>
          </p:cNvPr>
          <p:cNvSpPr/>
          <p:nvPr/>
        </p:nvSpPr>
        <p:spPr>
          <a:xfrm>
            <a:off x="3378450" y="3787002"/>
            <a:ext cx="2251826" cy="702241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6B6FF83-EBC1-47D9-FDB6-46E6CFD62E21}"/>
              </a:ext>
            </a:extLst>
          </p:cNvPr>
          <p:cNvSpPr txBox="1"/>
          <p:nvPr/>
        </p:nvSpPr>
        <p:spPr>
          <a:xfrm>
            <a:off x="3369799" y="3792839"/>
            <a:ext cx="698940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13" b="1" dirty="0">
                <a:solidFill>
                  <a:srgbClr val="12ADE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 Layer</a:t>
            </a:r>
            <a:endParaRPr lang="ko-KR" altLang="en-US" sz="813" b="1" dirty="0">
              <a:solidFill>
                <a:srgbClr val="12ADE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BE37406-9424-1A4E-610C-5252579B9097}"/>
              </a:ext>
            </a:extLst>
          </p:cNvPr>
          <p:cNvSpPr txBox="1"/>
          <p:nvPr/>
        </p:nvSpPr>
        <p:spPr>
          <a:xfrm>
            <a:off x="3369800" y="2304012"/>
            <a:ext cx="698939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13" b="1" dirty="0">
                <a:solidFill>
                  <a:srgbClr val="12ADE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</a:t>
            </a:r>
            <a:r>
              <a:rPr lang="ko-KR" altLang="en-US" sz="813" b="1" dirty="0">
                <a:solidFill>
                  <a:srgbClr val="12ADE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813" b="1" dirty="0">
                <a:solidFill>
                  <a:srgbClr val="12ADE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  <a:endParaRPr lang="ko-KR" altLang="en-US" sz="813" b="1" dirty="0">
              <a:solidFill>
                <a:srgbClr val="12ADE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D31E3C01-1B9F-CF2B-F8E8-34045B57D4BF}"/>
              </a:ext>
            </a:extLst>
          </p:cNvPr>
          <p:cNvSpPr/>
          <p:nvPr/>
        </p:nvSpPr>
        <p:spPr>
          <a:xfrm>
            <a:off x="3378450" y="4563367"/>
            <a:ext cx="2251826" cy="702241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FF0A5CA-D32C-5982-9763-7E71BF77FEAA}"/>
              </a:ext>
            </a:extLst>
          </p:cNvPr>
          <p:cNvSpPr txBox="1"/>
          <p:nvPr/>
        </p:nvSpPr>
        <p:spPr>
          <a:xfrm>
            <a:off x="3369799" y="4559947"/>
            <a:ext cx="698940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13" b="1" dirty="0">
                <a:solidFill>
                  <a:srgbClr val="12ADE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DB  Layer</a:t>
            </a:r>
            <a:endParaRPr lang="ko-KR" altLang="en-US" sz="813" b="1" dirty="0">
              <a:solidFill>
                <a:srgbClr val="12ADE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15DBE627-83E4-7BED-FF12-DF55C4061CCE}"/>
              </a:ext>
            </a:extLst>
          </p:cNvPr>
          <p:cNvSpPr/>
          <p:nvPr/>
        </p:nvSpPr>
        <p:spPr>
          <a:xfrm>
            <a:off x="3378450" y="1357023"/>
            <a:ext cx="2251826" cy="3819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31" dirty="0" err="1"/>
              <a:t>코넥</a:t>
            </a:r>
            <a:r>
              <a:rPr lang="ko-KR" altLang="en-US" sz="731" dirty="0"/>
              <a:t> </a:t>
            </a:r>
            <a:r>
              <a:rPr lang="ko-KR" altLang="en-US" sz="731" dirty="0" err="1"/>
              <a:t>컨소시움</a:t>
            </a:r>
            <a:r>
              <a:rPr lang="ko-KR" altLang="en-US" sz="731" dirty="0"/>
              <a:t> </a:t>
            </a:r>
            <a:r>
              <a:rPr lang="en-US" altLang="ko-KR" sz="731" dirty="0"/>
              <a:t>VPC</a:t>
            </a:r>
            <a:endParaRPr lang="ko-KR" altLang="en-US" sz="731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1C94856-6B38-0B36-D68C-239B8635ADB3}"/>
              </a:ext>
            </a:extLst>
          </p:cNvPr>
          <p:cNvSpPr txBox="1"/>
          <p:nvPr/>
        </p:nvSpPr>
        <p:spPr>
          <a:xfrm>
            <a:off x="4207686" y="886156"/>
            <a:ext cx="1276311" cy="267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 err="1"/>
              <a:t>운영계</a:t>
            </a:r>
            <a:r>
              <a:rPr lang="ko-KR" altLang="en-US" sz="1100" dirty="0"/>
              <a:t> </a:t>
            </a:r>
            <a:r>
              <a:rPr lang="en-US" altLang="ko-KR" sz="1100" dirty="0"/>
              <a:t>(2025.03)</a:t>
            </a:r>
            <a:endParaRPr lang="ko-KR" altLang="en-US" sz="1100" dirty="0"/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B14164AE-BD74-A425-6E2E-08EA277415B0}"/>
              </a:ext>
            </a:extLst>
          </p:cNvPr>
          <p:cNvGrpSpPr/>
          <p:nvPr/>
        </p:nvGrpSpPr>
        <p:grpSpPr>
          <a:xfrm>
            <a:off x="1799503" y="3974742"/>
            <a:ext cx="830677" cy="451432"/>
            <a:chOff x="5061297" y="4606996"/>
            <a:chExt cx="1022372" cy="555608"/>
          </a:xfrm>
        </p:grpSpPr>
        <p:pic>
          <p:nvPicPr>
            <p:cNvPr id="109" name="그림 108">
              <a:extLst>
                <a:ext uri="{FF2B5EF4-FFF2-40B4-BE49-F238E27FC236}">
                  <a16:creationId xmlns:a16="http://schemas.microsoft.com/office/drawing/2014/main" id="{0596CC9F-29A8-A4EE-3783-BBC586E97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2449" y="4607876"/>
              <a:ext cx="288000" cy="288000"/>
            </a:xfrm>
            <a:prstGeom prst="rect">
              <a:avLst/>
            </a:prstGeom>
          </p:spPr>
        </p:pic>
        <p:pic>
          <p:nvPicPr>
            <p:cNvPr id="110" name="그림 109">
              <a:extLst>
                <a:ext uri="{FF2B5EF4-FFF2-40B4-BE49-F238E27FC236}">
                  <a16:creationId xmlns:a16="http://schemas.microsoft.com/office/drawing/2014/main" id="{EBA4316F-1CA1-F4BF-8C37-9D56E6320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90449" y="4606996"/>
              <a:ext cx="288000" cy="288000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8D5213B-E9FB-CB6E-F6E0-8C0D70B8F4CF}"/>
                </a:ext>
              </a:extLst>
            </p:cNvPr>
            <p:cNvSpPr txBox="1"/>
            <p:nvPr/>
          </p:nvSpPr>
          <p:spPr>
            <a:xfrm>
              <a:off x="5061297" y="4894996"/>
              <a:ext cx="1022372" cy="2676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13" dirty="0"/>
                <a:t>DKT </a:t>
              </a:r>
              <a:r>
                <a:rPr lang="ko-KR" altLang="en-US" sz="813" dirty="0"/>
                <a:t>분석모델</a:t>
              </a:r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5EC8D661-EDE4-7164-930B-4058E8D32C76}"/>
              </a:ext>
            </a:extLst>
          </p:cNvPr>
          <p:cNvSpPr txBox="1"/>
          <p:nvPr/>
        </p:nvSpPr>
        <p:spPr>
          <a:xfrm>
            <a:off x="354224" y="3018451"/>
            <a:ext cx="674831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13" b="1" dirty="0">
                <a:solidFill>
                  <a:srgbClr val="12ADE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Was Layer</a:t>
            </a:r>
            <a:endParaRPr lang="ko-KR" altLang="en-US" sz="813" b="1" dirty="0">
              <a:solidFill>
                <a:srgbClr val="12ADE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4B822F7-E996-353A-13A2-7B98B8A5536D}"/>
              </a:ext>
            </a:extLst>
          </p:cNvPr>
          <p:cNvSpPr txBox="1"/>
          <p:nvPr/>
        </p:nvSpPr>
        <p:spPr>
          <a:xfrm>
            <a:off x="354224" y="3792839"/>
            <a:ext cx="698940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13" b="1" dirty="0">
                <a:solidFill>
                  <a:srgbClr val="12ADE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 Layer</a:t>
            </a:r>
            <a:endParaRPr lang="ko-KR" altLang="en-US" sz="813" b="1" dirty="0">
              <a:solidFill>
                <a:srgbClr val="12ADE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892DFD19-128A-41F9-456C-6C848482D3C9}"/>
              </a:ext>
            </a:extLst>
          </p:cNvPr>
          <p:cNvSpPr txBox="1"/>
          <p:nvPr/>
        </p:nvSpPr>
        <p:spPr>
          <a:xfrm>
            <a:off x="354225" y="2112640"/>
            <a:ext cx="698939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13" b="1" dirty="0">
                <a:solidFill>
                  <a:srgbClr val="12ADE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</a:t>
            </a:r>
            <a:r>
              <a:rPr lang="ko-KR" altLang="en-US" sz="813" b="1" dirty="0">
                <a:solidFill>
                  <a:srgbClr val="12ADE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813" b="1" dirty="0">
                <a:solidFill>
                  <a:srgbClr val="12ADE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  <a:endParaRPr lang="ko-KR" altLang="en-US" sz="813" b="1" dirty="0">
              <a:solidFill>
                <a:srgbClr val="12ADE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8DBD841-FEF8-019A-DEF9-549ADFF70E24}"/>
              </a:ext>
            </a:extLst>
          </p:cNvPr>
          <p:cNvSpPr txBox="1"/>
          <p:nvPr/>
        </p:nvSpPr>
        <p:spPr>
          <a:xfrm>
            <a:off x="354224" y="4559947"/>
            <a:ext cx="698940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13" b="1" dirty="0">
                <a:solidFill>
                  <a:srgbClr val="12ADE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DB  Layer</a:t>
            </a:r>
            <a:endParaRPr lang="ko-KR" altLang="en-US" sz="813" b="1" dirty="0">
              <a:solidFill>
                <a:srgbClr val="12ADE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1ED77A28-A7A3-7DFE-E6F1-959ADDCB988D}"/>
              </a:ext>
            </a:extLst>
          </p:cNvPr>
          <p:cNvGrpSpPr/>
          <p:nvPr/>
        </p:nvGrpSpPr>
        <p:grpSpPr>
          <a:xfrm>
            <a:off x="2010914" y="3150048"/>
            <a:ext cx="441147" cy="555791"/>
            <a:chOff x="6219425" y="3619421"/>
            <a:chExt cx="542950" cy="684050"/>
          </a:xfrm>
        </p:grpSpPr>
        <p:pic>
          <p:nvPicPr>
            <p:cNvPr id="104" name="그림 103">
              <a:extLst>
                <a:ext uri="{FF2B5EF4-FFF2-40B4-BE49-F238E27FC236}">
                  <a16:creationId xmlns:a16="http://schemas.microsoft.com/office/drawing/2014/main" id="{7817E556-B118-CCC3-541E-798FE0F505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6900" y="3619421"/>
              <a:ext cx="288000" cy="288000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4A9D95A1-AE81-3F32-9869-8A6AC675DC08}"/>
                </a:ext>
              </a:extLst>
            </p:cNvPr>
            <p:cNvSpPr txBox="1"/>
            <p:nvPr/>
          </p:nvSpPr>
          <p:spPr>
            <a:xfrm>
              <a:off x="6219425" y="3881896"/>
              <a:ext cx="542950" cy="4215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13" dirty="0"/>
                <a:t>AI I/F</a:t>
              </a:r>
            </a:p>
            <a:p>
              <a:pPr algn="ctr"/>
              <a:r>
                <a:rPr lang="en-US" altLang="ko-KR" sz="813" dirty="0"/>
                <a:t>WAS</a:t>
              </a:r>
            </a:p>
          </p:txBody>
        </p: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505F00AF-C6B8-D85A-D15E-A5FE3359F9FC}"/>
              </a:ext>
            </a:extLst>
          </p:cNvPr>
          <p:cNvSpPr txBox="1"/>
          <p:nvPr/>
        </p:nvSpPr>
        <p:spPr>
          <a:xfrm>
            <a:off x="317485" y="4205538"/>
            <a:ext cx="747320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813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GPU Server</a:t>
            </a:r>
            <a:endParaRPr lang="ko-KR" altLang="en-US" sz="813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9" name="그림 148">
            <a:extLst>
              <a:ext uri="{FF2B5EF4-FFF2-40B4-BE49-F238E27FC236}">
                <a16:creationId xmlns:a16="http://schemas.microsoft.com/office/drawing/2014/main" id="{0948CCA0-DBDB-9AFE-CC7A-7862FA8671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69" y="3976127"/>
            <a:ext cx="234000" cy="234000"/>
          </a:xfrm>
          <a:prstGeom prst="rect">
            <a:avLst/>
          </a:prstGeom>
        </p:spPr>
      </p:pic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4DB77C11-6939-333A-3F0A-D9343D9D48E9}"/>
              </a:ext>
            </a:extLst>
          </p:cNvPr>
          <p:cNvCxnSpPr>
            <a:cxnSpLocks/>
            <a:stCxn id="144" idx="2"/>
          </p:cNvCxnSpPr>
          <p:nvPr/>
        </p:nvCxnSpPr>
        <p:spPr>
          <a:xfrm>
            <a:off x="2231485" y="3688400"/>
            <a:ext cx="0" cy="26405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173509BA-11AA-CB70-A48E-8D5428A8836F}"/>
              </a:ext>
            </a:extLst>
          </p:cNvPr>
          <p:cNvCxnSpPr>
            <a:cxnSpLocks/>
            <a:endCxn id="104" idx="3"/>
          </p:cNvCxnSpPr>
          <p:nvPr/>
        </p:nvCxnSpPr>
        <p:spPr>
          <a:xfrm flipH="1">
            <a:off x="2348484" y="3267049"/>
            <a:ext cx="1985126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CDE19159-D40F-9C4C-EFD6-84E80088F7BB}"/>
              </a:ext>
            </a:extLst>
          </p:cNvPr>
          <p:cNvCxnSpPr>
            <a:cxnSpLocks/>
            <a:stCxn id="143" idx="2"/>
          </p:cNvCxnSpPr>
          <p:nvPr/>
        </p:nvCxnSpPr>
        <p:spPr>
          <a:xfrm>
            <a:off x="4450612" y="3688400"/>
            <a:ext cx="303656" cy="1180173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직선 화살표 연결선 158">
            <a:extLst>
              <a:ext uri="{FF2B5EF4-FFF2-40B4-BE49-F238E27FC236}">
                <a16:creationId xmlns:a16="http://schemas.microsoft.com/office/drawing/2014/main" id="{4AF4917B-013D-00F7-C4F3-D76B105E13EE}"/>
              </a:ext>
            </a:extLst>
          </p:cNvPr>
          <p:cNvCxnSpPr>
            <a:cxnSpLocks/>
            <a:stCxn id="134" idx="2"/>
          </p:cNvCxnSpPr>
          <p:nvPr/>
        </p:nvCxnSpPr>
        <p:spPr>
          <a:xfrm flipH="1">
            <a:off x="1955954" y="4408797"/>
            <a:ext cx="240924" cy="38660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직선 화살표 연결선 163">
            <a:extLst>
              <a:ext uri="{FF2B5EF4-FFF2-40B4-BE49-F238E27FC236}">
                <a16:creationId xmlns:a16="http://schemas.microsoft.com/office/drawing/2014/main" id="{4CEEA376-1B67-2814-8837-1E16536F29BA}"/>
              </a:ext>
            </a:extLst>
          </p:cNvPr>
          <p:cNvCxnSpPr>
            <a:cxnSpLocks/>
            <a:stCxn id="44" idx="2"/>
            <a:endCxn id="47" idx="0"/>
          </p:cNvCxnSpPr>
          <p:nvPr/>
        </p:nvCxnSpPr>
        <p:spPr>
          <a:xfrm>
            <a:off x="4462044" y="2783676"/>
            <a:ext cx="0" cy="359713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꺾인 연결선[E] 177">
            <a:extLst>
              <a:ext uri="{FF2B5EF4-FFF2-40B4-BE49-F238E27FC236}">
                <a16:creationId xmlns:a16="http://schemas.microsoft.com/office/drawing/2014/main" id="{D28D3AE7-88CB-8496-A4AF-8728E7CC36E2}"/>
              </a:ext>
            </a:extLst>
          </p:cNvPr>
          <p:cNvCxnSpPr>
            <a:cxnSpLocks/>
            <a:stCxn id="47" idx="1"/>
          </p:cNvCxnSpPr>
          <p:nvPr/>
        </p:nvCxnSpPr>
        <p:spPr>
          <a:xfrm rot="10800000" flipV="1">
            <a:off x="2229443" y="3260389"/>
            <a:ext cx="2115603" cy="1733838"/>
          </a:xfrm>
          <a:prstGeom prst="bentConnector3">
            <a:avLst>
              <a:gd name="adj1" fmla="val 64407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2" name="표 181">
            <a:extLst>
              <a:ext uri="{FF2B5EF4-FFF2-40B4-BE49-F238E27FC236}">
                <a16:creationId xmlns:a16="http://schemas.microsoft.com/office/drawing/2014/main" id="{93754B91-3C2D-C8D4-1E85-747D00EFD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969190"/>
              </p:ext>
            </p:extLst>
          </p:nvPr>
        </p:nvGraphicFramePr>
        <p:xfrm>
          <a:off x="5881018" y="1354582"/>
          <a:ext cx="3647664" cy="4729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89">
                  <a:extLst>
                    <a:ext uri="{9D8B030D-6E8A-4147-A177-3AD203B41FA5}">
                      <a16:colId xmlns:a16="http://schemas.microsoft.com/office/drawing/2014/main" val="2888054591"/>
                    </a:ext>
                  </a:extLst>
                </a:gridCol>
                <a:gridCol w="460527">
                  <a:extLst>
                    <a:ext uri="{9D8B030D-6E8A-4147-A177-3AD203B41FA5}">
                      <a16:colId xmlns:a16="http://schemas.microsoft.com/office/drawing/2014/main" val="3489092560"/>
                    </a:ext>
                  </a:extLst>
                </a:gridCol>
                <a:gridCol w="867901">
                  <a:extLst>
                    <a:ext uri="{9D8B030D-6E8A-4147-A177-3AD203B41FA5}">
                      <a16:colId xmlns:a16="http://schemas.microsoft.com/office/drawing/2014/main" val="2608517895"/>
                    </a:ext>
                  </a:extLst>
                </a:gridCol>
                <a:gridCol w="1034052">
                  <a:extLst>
                    <a:ext uri="{9D8B030D-6E8A-4147-A177-3AD203B41FA5}">
                      <a16:colId xmlns:a16="http://schemas.microsoft.com/office/drawing/2014/main" val="323679834"/>
                    </a:ext>
                  </a:extLst>
                </a:gridCol>
                <a:gridCol w="935895">
                  <a:extLst>
                    <a:ext uri="{9D8B030D-6E8A-4147-A177-3AD203B41FA5}">
                      <a16:colId xmlns:a16="http://schemas.microsoft.com/office/drawing/2014/main" val="1268865715"/>
                    </a:ext>
                  </a:extLst>
                </a:gridCol>
              </a:tblGrid>
              <a:tr h="53489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항목</a:t>
                      </a:r>
                    </a:p>
                  </a:txBody>
                  <a:tcPr marL="74295" marR="74295" marT="37148" marB="37148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spec</a:t>
                      </a:r>
                      <a:endParaRPr lang="ko-KR" altLang="en-US" sz="11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대표</a:t>
                      </a:r>
                      <a:r>
                        <a:rPr lang="en-US" altLang="ko-KR" sz="1100" dirty="0"/>
                        <a:t>S/W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수량</a:t>
                      </a:r>
                      <a:endParaRPr lang="en-US" altLang="ko-KR" sz="1100" dirty="0"/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3718346944"/>
                  </a:ext>
                </a:extLst>
              </a:tr>
              <a:tr h="334328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코넥컨소시움</a:t>
                      </a:r>
                      <a:endParaRPr lang="en-US" altLang="ko-KR" sz="900" dirty="0"/>
                    </a:p>
                    <a:p>
                      <a:pPr algn="ctr" latinLnBrk="1"/>
                      <a:endParaRPr lang="en-US" altLang="ko-KR" sz="900" dirty="0"/>
                    </a:p>
                    <a:p>
                      <a:pPr algn="ctr" latinLnBrk="1"/>
                      <a:r>
                        <a:rPr lang="en-US" altLang="ko-KR" sz="900" dirty="0"/>
                        <a:t>VPC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Web</a:t>
                      </a:r>
                    </a:p>
                    <a:p>
                      <a:pPr algn="ctr" latinLnBrk="1"/>
                      <a:r>
                        <a:rPr lang="en-US" altLang="ko-KR" sz="900" dirty="0"/>
                        <a:t>Layer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/>
                        <a:t>쿠버네티스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nginx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기본 </a:t>
                      </a:r>
                      <a:r>
                        <a:rPr lang="en-US" altLang="ko-KR" sz="900" dirty="0"/>
                        <a:t>2 pod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2683127053"/>
                  </a:ext>
                </a:extLst>
              </a:tr>
              <a:tr h="33432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Was</a:t>
                      </a:r>
                    </a:p>
                    <a:p>
                      <a:pPr algn="ctr" latinLnBrk="1"/>
                      <a:r>
                        <a:rPr lang="en-US" altLang="ko-KR" sz="900" dirty="0"/>
                        <a:t>Layer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/>
                        <a:t>쿠버네티스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Java-spring-boot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기본 </a:t>
                      </a:r>
                      <a:r>
                        <a:rPr lang="en-US" altLang="ko-KR" sz="900" dirty="0"/>
                        <a:t>2 pod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481090917"/>
                  </a:ext>
                </a:extLst>
              </a:tr>
              <a:tr h="4457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Was</a:t>
                      </a:r>
                    </a:p>
                    <a:p>
                      <a:pPr algn="ctr" latinLnBrk="1"/>
                      <a:r>
                        <a:rPr lang="en-US" altLang="ko-KR" sz="900" dirty="0"/>
                        <a:t>Layer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중앙집중</a:t>
                      </a:r>
                      <a:endParaRPr lang="en-US" altLang="ko-KR" sz="900" dirty="0"/>
                    </a:p>
                    <a:p>
                      <a:pPr latinLnBrk="1"/>
                      <a:r>
                        <a:rPr lang="ko-KR" altLang="en-US" sz="900" dirty="0"/>
                        <a:t>로그 서버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Elastic Search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Log</a:t>
                      </a:r>
                      <a:r>
                        <a:rPr lang="en-US" altLang="ko-KR" sz="800" baseline="0" dirty="0"/>
                        <a:t> stash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 dirty="0" err="1"/>
                        <a:t>kibana</a:t>
                      </a:r>
                      <a:endParaRPr lang="ko-KR" altLang="en-US" sz="8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r>
                        <a:rPr lang="ko-KR" altLang="en-US" sz="900" dirty="0"/>
                        <a:t>식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4146129852"/>
                  </a:ext>
                </a:extLst>
              </a:tr>
              <a:tr h="4457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DB</a:t>
                      </a:r>
                    </a:p>
                    <a:p>
                      <a:pPr algn="ctr" latinLnBrk="1"/>
                      <a:r>
                        <a:rPr lang="en-US" altLang="ko-KR" sz="900" dirty="0"/>
                        <a:t>Layer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Kesh</a:t>
                      </a:r>
                      <a:r>
                        <a:rPr lang="ko-KR" altLang="en-US" sz="900" dirty="0"/>
                        <a:t> 서버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/>
                        <a:t>Redis</a:t>
                      </a:r>
                      <a:endParaRPr lang="ko-KR" altLang="en-US" sz="8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</a:t>
                      </a:r>
                      <a:r>
                        <a:rPr lang="ko-KR" altLang="en-US" sz="900" dirty="0"/>
                        <a:t>식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3965348669"/>
                  </a:ext>
                </a:extLst>
              </a:tr>
              <a:tr h="44577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DB</a:t>
                      </a:r>
                    </a:p>
                    <a:p>
                      <a:pPr algn="ctr" latinLnBrk="1"/>
                      <a:r>
                        <a:rPr lang="en-US" altLang="ko-KR" sz="900" dirty="0"/>
                        <a:t>Layer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/>
                        <a:t>설치형</a:t>
                      </a:r>
                      <a:r>
                        <a:rPr lang="ko-KR" altLang="en-US" sz="900" dirty="0"/>
                        <a:t> </a:t>
                      </a:r>
                      <a:endParaRPr lang="en-US" altLang="ko-KR" sz="900" dirty="0"/>
                    </a:p>
                    <a:p>
                      <a:pPr latinLnBrk="1"/>
                      <a:r>
                        <a:rPr lang="en-US" altLang="ko-KR" sz="900" dirty="0"/>
                        <a:t>Maria DB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r>
                        <a:rPr lang="ko-KR" altLang="en-US" sz="900" dirty="0"/>
                        <a:t>식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3405972929"/>
                  </a:ext>
                </a:extLst>
              </a:tr>
              <a:tr h="334328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운영</a:t>
                      </a:r>
                      <a:endParaRPr lang="en-US" altLang="ko-KR" sz="900" dirty="0"/>
                    </a:p>
                    <a:p>
                      <a:pPr algn="ctr" latinLnBrk="1"/>
                      <a:endParaRPr lang="en-US" altLang="ko-KR" sz="900" dirty="0"/>
                    </a:p>
                    <a:p>
                      <a:pPr algn="ctr" latinLnBrk="1"/>
                      <a:r>
                        <a:rPr lang="en-US" altLang="ko-KR" sz="900" dirty="0"/>
                        <a:t>VPC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WAS</a:t>
                      </a:r>
                    </a:p>
                    <a:p>
                      <a:pPr algn="ctr" latinLnBrk="1"/>
                      <a:r>
                        <a:rPr lang="en-US" altLang="ko-KR" sz="900" dirty="0"/>
                        <a:t>Layer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AI I/F WAS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Node.js</a:t>
                      </a:r>
                      <a:endParaRPr lang="ko-KR" altLang="en-US" sz="8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224417648"/>
                  </a:ext>
                </a:extLst>
              </a:tr>
              <a:tr h="3343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AI</a:t>
                      </a:r>
                    </a:p>
                    <a:p>
                      <a:pPr algn="ctr" latinLnBrk="1"/>
                      <a:r>
                        <a:rPr lang="en-US" altLang="ko-KR" sz="900" dirty="0"/>
                        <a:t>Layer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GPU</a:t>
                      </a:r>
                      <a:r>
                        <a:rPr lang="ko-KR" altLang="en-US" sz="900" dirty="0"/>
                        <a:t> 서버 </a:t>
                      </a:r>
                      <a:r>
                        <a:rPr lang="en-US" altLang="ko-KR" sz="900" dirty="0"/>
                        <a:t>(OCR, DKT)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OCR, AI </a:t>
                      </a:r>
                      <a:r>
                        <a:rPr lang="ko-KR" altLang="en-US" sz="900" dirty="0"/>
                        <a:t>모델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2</a:t>
                      </a:r>
                      <a:r>
                        <a:rPr lang="ko-KR" altLang="en-US" sz="900" dirty="0"/>
                        <a:t>식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4112081881"/>
                  </a:ext>
                </a:extLst>
              </a:tr>
              <a:tr h="3343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VM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(16cpu, 128G)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Elastic Search</a:t>
                      </a:r>
                      <a:endParaRPr lang="ko-KR" altLang="en-US" sz="9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8</a:t>
                      </a:r>
                      <a:r>
                        <a:rPr lang="ko-KR" altLang="en-US" sz="900" dirty="0"/>
                        <a:t>식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3918800335"/>
                  </a:ext>
                </a:extLst>
              </a:tr>
              <a:tr h="11144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특이사항</a:t>
                      </a:r>
                    </a:p>
                  </a:txBody>
                  <a:tcPr marL="74295" marR="74295" marT="37148" marB="37148" anchor="ctr"/>
                </a:tc>
                <a:tc gridSpan="4"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/>
                        <a:t>WAS layer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-</a:t>
                      </a:r>
                      <a:r>
                        <a:rPr lang="ko-KR" altLang="en-US" sz="900" dirty="0"/>
                        <a:t> 운영의 </a:t>
                      </a:r>
                      <a:r>
                        <a:rPr lang="en-US" altLang="ko-KR" sz="900" dirty="0"/>
                        <a:t>BKT </a:t>
                      </a:r>
                      <a:r>
                        <a:rPr lang="ko-KR" altLang="en-US" sz="900" dirty="0"/>
                        <a:t>모델과 병합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 인스턴스 삭제</a:t>
                      </a:r>
                      <a:endParaRPr lang="en-US" altLang="ko-KR" sz="9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/>
                        <a:t>DB Layer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–</a:t>
                      </a:r>
                      <a:r>
                        <a:rPr lang="ko-KR" altLang="en-US" sz="900" dirty="0"/>
                        <a:t> 복제</a:t>
                      </a:r>
                      <a:r>
                        <a:rPr lang="en-US" altLang="ko-KR" sz="900" dirty="0"/>
                        <a:t>DB </a:t>
                      </a:r>
                      <a:r>
                        <a:rPr lang="ko-KR" altLang="en-US" sz="900" dirty="0"/>
                        <a:t>삭제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 단추플러스 고유 </a:t>
                      </a:r>
                      <a:r>
                        <a:rPr lang="en-US" altLang="ko-KR" sz="900" dirty="0"/>
                        <a:t>DB</a:t>
                      </a:r>
                      <a:r>
                        <a:rPr lang="ko-KR" altLang="en-US" sz="900" dirty="0"/>
                        <a:t>만 잔존</a:t>
                      </a:r>
                      <a:endParaRPr lang="en-US" altLang="ko-KR" sz="9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/>
                        <a:t>VPC Peering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–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DB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layer</a:t>
                      </a:r>
                      <a:r>
                        <a:rPr lang="ko-KR" altLang="en-US" sz="900" dirty="0"/>
                        <a:t> 보존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AI Layer </a:t>
                      </a:r>
                      <a:r>
                        <a:rPr lang="ko-KR" altLang="en-US" sz="900" dirty="0"/>
                        <a:t>삭제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Was Layer </a:t>
                      </a:r>
                      <a:r>
                        <a:rPr lang="ko-KR" altLang="en-US" sz="900" dirty="0"/>
                        <a:t>신규생성</a:t>
                      </a:r>
                      <a:endParaRPr lang="en-US" altLang="ko-KR" sz="9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/>
                        <a:t>운영 </a:t>
                      </a:r>
                      <a:r>
                        <a:rPr lang="en-US" altLang="ko-KR" sz="900" dirty="0"/>
                        <a:t>Was Layer – </a:t>
                      </a:r>
                      <a:r>
                        <a:rPr lang="ko-KR" altLang="en-US" sz="900" dirty="0"/>
                        <a:t>중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고등학교 삭제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 초등학교만 잔존</a:t>
                      </a:r>
                      <a:endParaRPr lang="en-US" altLang="ko-KR" sz="9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/>
                        <a:t>public IP </a:t>
                      </a:r>
                      <a:r>
                        <a:rPr lang="ko-KR" altLang="en-US" sz="900" dirty="0"/>
                        <a:t>등 클라우드 요소 상세사항 </a:t>
                      </a:r>
                      <a:r>
                        <a:rPr lang="ko-KR" altLang="en-US" sz="900" dirty="0" err="1"/>
                        <a:t>별도참조</a:t>
                      </a:r>
                      <a:endParaRPr lang="en-US" altLang="ko-KR" sz="900" dirty="0"/>
                    </a:p>
                  </a:txBody>
                  <a:tcPr marL="74295" marR="74295" marT="37148" marB="37148" anchor="ctr"/>
                </a:tc>
                <a:tc hMerge="1"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dirty="0"/>
                    </a:p>
                  </a:txBody>
                  <a:tcPr marL="74295" marR="74295" marT="37148" marB="37148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463553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45C83CE-59D6-48A1-656E-02C07AC7705A}"/>
              </a:ext>
            </a:extLst>
          </p:cNvPr>
          <p:cNvSpPr txBox="1"/>
          <p:nvPr/>
        </p:nvSpPr>
        <p:spPr>
          <a:xfrm>
            <a:off x="972840" y="4210842"/>
            <a:ext cx="832984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13" dirty="0"/>
              <a:t>BKT </a:t>
            </a:r>
            <a:r>
              <a:rPr lang="ko-KR" altLang="en-US" sz="813" dirty="0"/>
              <a:t>분석모델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360AB07-C28E-4D46-69DC-05C3E39887EF}"/>
              </a:ext>
            </a:extLst>
          </p:cNvPr>
          <p:cNvGrpSpPr/>
          <p:nvPr/>
        </p:nvGrpSpPr>
        <p:grpSpPr>
          <a:xfrm>
            <a:off x="2613162" y="3098658"/>
            <a:ext cx="769763" cy="551235"/>
            <a:chOff x="7256587" y="1158089"/>
            <a:chExt cx="947401" cy="67844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089EF4D-9297-FBD8-5CFF-974C1E98B486}"/>
                </a:ext>
              </a:extLst>
            </p:cNvPr>
            <p:cNvSpPr txBox="1"/>
            <p:nvPr/>
          </p:nvSpPr>
          <p:spPr>
            <a:xfrm>
              <a:off x="7256587" y="1568924"/>
              <a:ext cx="947401" cy="2676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" altLang="ko-KR" sz="813" dirty="0">
                  <a:latin typeface="+mn-ea"/>
                  <a:cs typeface="Arial" panose="020B0604020202020204" pitchFamily="34" charset="0"/>
                </a:rPr>
                <a:t>VPC Peering</a:t>
              </a:r>
              <a:endParaRPr lang="ko-KR" altLang="en-US" sz="813" dirty="0"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F4F17B07-4309-7BD1-90D0-BF4D4D27C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2124" y="1158089"/>
              <a:ext cx="432000" cy="432000"/>
            </a:xfrm>
            <a:prstGeom prst="rect">
              <a:avLst/>
            </a:prstGeom>
          </p:spPr>
        </p:pic>
      </p:grp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4C312E0-1751-2A7E-A525-3200C2C40C5A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5093616" y="2783676"/>
            <a:ext cx="0" cy="366373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4D16A95-6DBA-1C79-7114-676560BFAEB5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4754268" y="3688400"/>
            <a:ext cx="342460" cy="1180173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BA45E707-C2F1-0C3B-EFC1-D4DCF0BEFEDE}"/>
              </a:ext>
            </a:extLst>
          </p:cNvPr>
          <p:cNvCxnSpPr>
            <a:cxnSpLocks/>
            <a:stCxn id="46" idx="1"/>
          </p:cNvCxnSpPr>
          <p:nvPr/>
        </p:nvCxnSpPr>
        <p:spPr>
          <a:xfrm flipH="1">
            <a:off x="2346440" y="3267049"/>
            <a:ext cx="2630177" cy="710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그림 42">
            <a:extLst>
              <a:ext uri="{FF2B5EF4-FFF2-40B4-BE49-F238E27FC236}">
                <a16:creationId xmlns:a16="http://schemas.microsoft.com/office/drawing/2014/main" id="{02B52EDC-573D-1833-7D4F-9688D03B95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97" y="3976127"/>
            <a:ext cx="234000" cy="234000"/>
          </a:xfrm>
          <a:prstGeom prst="rect">
            <a:avLst/>
          </a:prstGeom>
        </p:spPr>
      </p:pic>
      <p:grpSp>
        <p:nvGrpSpPr>
          <p:cNvPr id="52" name="그룹 51">
            <a:extLst>
              <a:ext uri="{FF2B5EF4-FFF2-40B4-BE49-F238E27FC236}">
                <a16:creationId xmlns:a16="http://schemas.microsoft.com/office/drawing/2014/main" id="{73E2D773-61DF-B135-98C4-FC99826E8EEF}"/>
              </a:ext>
            </a:extLst>
          </p:cNvPr>
          <p:cNvGrpSpPr/>
          <p:nvPr/>
        </p:nvGrpSpPr>
        <p:grpSpPr>
          <a:xfrm>
            <a:off x="4153532" y="2288049"/>
            <a:ext cx="617026" cy="495627"/>
            <a:chOff x="5243927" y="2558497"/>
            <a:chExt cx="759417" cy="61000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0ED6464-6199-2DF2-8758-D46F89C7E4A4}"/>
                </a:ext>
              </a:extLst>
            </p:cNvPr>
            <p:cNvSpPr txBox="1"/>
            <p:nvPr/>
          </p:nvSpPr>
          <p:spPr>
            <a:xfrm>
              <a:off x="5243927" y="2558497"/>
              <a:ext cx="759417" cy="360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ko-KR" altLang="en-US" sz="813" dirty="0"/>
                <a:t>중학</a:t>
              </a:r>
              <a:endParaRPr lang="en-US" altLang="ko-KR" sz="813" dirty="0"/>
            </a:p>
            <a:p>
              <a:pPr algn="ctr">
                <a:lnSpc>
                  <a:spcPct val="80000"/>
                </a:lnSpc>
              </a:pPr>
              <a:r>
                <a:rPr lang="en-US" altLang="ko-KR" sz="813" dirty="0"/>
                <a:t>web</a:t>
              </a:r>
              <a:endParaRPr lang="ko-KR" altLang="en-US" sz="813" dirty="0"/>
            </a:p>
          </p:txBody>
        </p:sp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082A4815-76EF-2512-399E-5E4173EBC1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9635" y="2880500"/>
              <a:ext cx="288000" cy="288000"/>
            </a:xfrm>
            <a:prstGeom prst="rect">
              <a:avLst/>
            </a:prstGeom>
          </p:spPr>
        </p:pic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BA27E887-E7ED-ACFB-8FEF-A338F4789AF8}"/>
              </a:ext>
            </a:extLst>
          </p:cNvPr>
          <p:cNvGrpSpPr/>
          <p:nvPr/>
        </p:nvGrpSpPr>
        <p:grpSpPr>
          <a:xfrm>
            <a:off x="4797628" y="2288049"/>
            <a:ext cx="617026" cy="495627"/>
            <a:chOff x="6036660" y="2558497"/>
            <a:chExt cx="759417" cy="610003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C0708F2-A47B-E62C-3D32-8FC8D4875881}"/>
                </a:ext>
              </a:extLst>
            </p:cNvPr>
            <p:cNvSpPr txBox="1"/>
            <p:nvPr/>
          </p:nvSpPr>
          <p:spPr>
            <a:xfrm>
              <a:off x="6036660" y="2558497"/>
              <a:ext cx="759417" cy="360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ko-KR" altLang="en-US" sz="813" dirty="0"/>
                <a:t>고교</a:t>
              </a:r>
              <a:endParaRPr lang="en-US" altLang="ko-KR" sz="813" dirty="0"/>
            </a:p>
            <a:p>
              <a:pPr algn="ctr">
                <a:lnSpc>
                  <a:spcPct val="80000"/>
                </a:lnSpc>
              </a:pPr>
              <a:r>
                <a:rPr lang="en-US" altLang="ko-KR" sz="813" dirty="0"/>
                <a:t>web</a:t>
              </a:r>
              <a:endParaRPr lang="ko-KR" altLang="en-US" sz="813" dirty="0"/>
            </a:p>
          </p:txBody>
        </p:sp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F7AAD97B-9332-5FE4-CBDC-BDEAD42F1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6954" y="2880500"/>
              <a:ext cx="288000" cy="288000"/>
            </a:xfrm>
            <a:prstGeom prst="rect">
              <a:avLst/>
            </a:prstGeom>
          </p:spPr>
        </p:pic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3B7FECB9-22E5-F515-F2BE-5238D51892CA}"/>
              </a:ext>
            </a:extLst>
          </p:cNvPr>
          <p:cNvGrpSpPr/>
          <p:nvPr/>
        </p:nvGrpSpPr>
        <p:grpSpPr>
          <a:xfrm>
            <a:off x="4743903" y="3150048"/>
            <a:ext cx="705642" cy="555791"/>
            <a:chOff x="5970541" y="3619421"/>
            <a:chExt cx="868483" cy="68405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85FDA91-8A9C-CBB2-FE6B-C2599DFEF8EF}"/>
                </a:ext>
              </a:extLst>
            </p:cNvPr>
            <p:cNvSpPr txBox="1"/>
            <p:nvPr/>
          </p:nvSpPr>
          <p:spPr>
            <a:xfrm>
              <a:off x="5970541" y="3881896"/>
              <a:ext cx="868483" cy="4215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13" dirty="0"/>
                <a:t>단추플러스</a:t>
              </a:r>
              <a:endParaRPr lang="en-US" altLang="ko-KR" sz="813" dirty="0"/>
            </a:p>
            <a:p>
              <a:pPr algn="ctr"/>
              <a:r>
                <a:rPr lang="ko-KR" altLang="en-US" sz="813" dirty="0"/>
                <a:t>고교 </a:t>
              </a:r>
              <a:r>
                <a:rPr lang="en-US" altLang="ko-KR" sz="813" dirty="0"/>
                <a:t>WAS</a:t>
              </a:r>
            </a:p>
          </p:txBody>
        </p:sp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68B51D8D-BC79-BDBF-83AB-A9FE483E1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6954" y="3619421"/>
              <a:ext cx="288000" cy="288000"/>
            </a:xfrm>
            <a:prstGeom prst="rect">
              <a:avLst/>
            </a:prstGeom>
          </p:spPr>
        </p:pic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C683548D-CF9A-288A-3DDA-2C6E711AAF52}"/>
              </a:ext>
            </a:extLst>
          </p:cNvPr>
          <p:cNvGrpSpPr/>
          <p:nvPr/>
        </p:nvGrpSpPr>
        <p:grpSpPr>
          <a:xfrm>
            <a:off x="4097788" y="3143388"/>
            <a:ext cx="705642" cy="562451"/>
            <a:chOff x="5175321" y="3611224"/>
            <a:chExt cx="868483" cy="692247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814AA3A2-75B9-30CD-C1FD-4D1DE2DB0E8C}"/>
                </a:ext>
              </a:extLst>
            </p:cNvPr>
            <p:cNvSpPr txBox="1"/>
            <p:nvPr/>
          </p:nvSpPr>
          <p:spPr>
            <a:xfrm>
              <a:off x="5175321" y="3881896"/>
              <a:ext cx="868483" cy="4215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13" dirty="0"/>
                <a:t>단추플러스</a:t>
              </a:r>
              <a:endParaRPr lang="en-US" altLang="ko-KR" sz="813" dirty="0"/>
            </a:p>
            <a:p>
              <a:pPr algn="ctr"/>
              <a:r>
                <a:rPr lang="ko-KR" altLang="en-US" sz="813" dirty="0"/>
                <a:t>중학 </a:t>
              </a:r>
              <a:r>
                <a:rPr lang="en-US" altLang="ko-KR" sz="813" dirty="0"/>
                <a:t>WAS</a:t>
              </a:r>
            </a:p>
          </p:txBody>
        </p:sp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AB002C46-C8F7-FC7E-303E-E5061004C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9635" y="3611224"/>
              <a:ext cx="288000" cy="288000"/>
            </a:xfrm>
            <a:prstGeom prst="rect">
              <a:avLst/>
            </a:prstGeom>
          </p:spPr>
        </p:pic>
      </p:grpSp>
      <p:sp>
        <p:nvSpPr>
          <p:cNvPr id="67" name="자유형 66">
            <a:extLst>
              <a:ext uri="{FF2B5EF4-FFF2-40B4-BE49-F238E27FC236}">
                <a16:creationId xmlns:a16="http://schemas.microsoft.com/office/drawing/2014/main" id="{C295702B-5E2E-1FEC-6B06-AABB3374EB9A}"/>
              </a:ext>
            </a:extLst>
          </p:cNvPr>
          <p:cNvSpPr/>
          <p:nvPr/>
        </p:nvSpPr>
        <p:spPr>
          <a:xfrm>
            <a:off x="2470878" y="4073287"/>
            <a:ext cx="2169414" cy="931066"/>
          </a:xfrm>
          <a:custGeom>
            <a:avLst/>
            <a:gdLst>
              <a:gd name="connsiteX0" fmla="*/ 0 w 2670048"/>
              <a:gd name="connsiteY0" fmla="*/ 26599 h 1145927"/>
              <a:gd name="connsiteX1" fmla="*/ 420624 w 2670048"/>
              <a:gd name="connsiteY1" fmla="*/ 127183 h 1145927"/>
              <a:gd name="connsiteX2" fmla="*/ 694944 w 2670048"/>
              <a:gd name="connsiteY2" fmla="*/ 1023295 h 1145927"/>
              <a:gd name="connsiteX3" fmla="*/ 2670048 w 2670048"/>
              <a:gd name="connsiteY3" fmla="*/ 1114735 h 114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70048" h="1145927">
                <a:moveTo>
                  <a:pt x="0" y="26599"/>
                </a:moveTo>
                <a:cubicBezTo>
                  <a:pt x="152400" y="-6167"/>
                  <a:pt x="304800" y="-38933"/>
                  <a:pt x="420624" y="127183"/>
                </a:cubicBezTo>
                <a:cubicBezTo>
                  <a:pt x="536448" y="293299"/>
                  <a:pt x="320040" y="858703"/>
                  <a:pt x="694944" y="1023295"/>
                </a:cubicBezTo>
                <a:cubicBezTo>
                  <a:pt x="1069848" y="1187887"/>
                  <a:pt x="1869948" y="1151311"/>
                  <a:pt x="2670048" y="1114735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1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65D908-B0A9-14EF-248A-B0D1EFE30739}"/>
              </a:ext>
            </a:extLst>
          </p:cNvPr>
          <p:cNvSpPr txBox="1"/>
          <p:nvPr/>
        </p:nvSpPr>
        <p:spPr>
          <a:xfrm>
            <a:off x="1066198" y="2929918"/>
            <a:ext cx="654346" cy="34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13" dirty="0"/>
              <a:t>단추</a:t>
            </a:r>
            <a:endParaRPr lang="en-US" altLang="ko-KR" sz="813" dirty="0"/>
          </a:p>
          <a:p>
            <a:pPr algn="ctr"/>
            <a:r>
              <a:rPr lang="ko-KR" altLang="en-US" sz="813" dirty="0"/>
              <a:t>초등 </a:t>
            </a:r>
            <a:r>
              <a:rPr lang="en-US" altLang="ko-KR" sz="813" dirty="0"/>
              <a:t>WAS</a:t>
            </a: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D89048D9-6E8B-D58F-2676-ED14B9D50A62}"/>
              </a:ext>
            </a:extLst>
          </p:cNvPr>
          <p:cNvCxnSpPr>
            <a:stCxn id="76" idx="3"/>
            <a:endCxn id="104" idx="1"/>
          </p:cNvCxnSpPr>
          <p:nvPr/>
        </p:nvCxnSpPr>
        <p:spPr>
          <a:xfrm flipV="1">
            <a:off x="1726543" y="3267049"/>
            <a:ext cx="387942" cy="716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B14A7C62-BE95-F8E3-E5CC-A6ECF1204A72}"/>
              </a:ext>
            </a:extLst>
          </p:cNvPr>
          <p:cNvGrpSpPr/>
          <p:nvPr/>
        </p:nvGrpSpPr>
        <p:grpSpPr>
          <a:xfrm>
            <a:off x="4549786" y="4849382"/>
            <a:ext cx="422872" cy="409825"/>
            <a:chOff x="5731620" y="5710910"/>
            <a:chExt cx="520457" cy="504400"/>
          </a:xfrm>
        </p:grpSpPr>
        <p:sp>
          <p:nvSpPr>
            <p:cNvPr id="102" name="TextBox 57">
              <a:extLst>
                <a:ext uri="{FF2B5EF4-FFF2-40B4-BE49-F238E27FC236}">
                  <a16:creationId xmlns:a16="http://schemas.microsoft.com/office/drawing/2014/main" id="{543EE8D2-F8A0-A618-1A3C-9882B0223782}"/>
                </a:ext>
              </a:extLst>
            </p:cNvPr>
            <p:cNvSpPr txBox="1"/>
            <p:nvPr/>
          </p:nvSpPr>
          <p:spPr>
            <a:xfrm>
              <a:off x="5731620" y="5947702"/>
              <a:ext cx="520457" cy="26760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7147" rIns="37147">
              <a:spAutoFit/>
            </a:bodyPr>
            <a:lstStyle>
              <a:lvl1pPr algn="ctr">
                <a:defRPr sz="1000">
                  <a:solidFill>
                    <a:srgbClr val="AFABA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813" dirty="0">
                  <a:solidFill>
                    <a:schemeClr val="tx1"/>
                  </a:solidFill>
                </a:rPr>
                <a:t>MySQL</a:t>
              </a:r>
            </a:p>
          </p:txBody>
        </p:sp>
        <p:pic>
          <p:nvPicPr>
            <p:cNvPr id="107" name="그림 106">
              <a:extLst>
                <a:ext uri="{FF2B5EF4-FFF2-40B4-BE49-F238E27FC236}">
                  <a16:creationId xmlns:a16="http://schemas.microsoft.com/office/drawing/2014/main" id="{A3C1CD53-A1FB-535A-B24E-127D28C7B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3016" y="5710910"/>
              <a:ext cx="288000" cy="288000"/>
            </a:xfrm>
            <a:prstGeom prst="rect">
              <a:avLst/>
            </a:prstGeom>
          </p:spPr>
        </p:pic>
      </p:grpSp>
      <p:sp>
        <p:nvSpPr>
          <p:cNvPr id="88" name="텍스트 개체 틀 1"/>
          <p:cNvSpPr txBox="1">
            <a:spLocks/>
          </p:cNvSpPr>
          <p:nvPr/>
        </p:nvSpPr>
        <p:spPr>
          <a:xfrm>
            <a:off x="947555" y="183878"/>
            <a:ext cx="6930770" cy="351569"/>
          </a:xfrm>
          <a:prstGeom prst="rect">
            <a:avLst/>
          </a:prstGeom>
        </p:spPr>
        <p:txBody>
          <a:bodyPr lIns="0" tIns="0" rIns="0" bIns="0" anchor="b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 marL="0" indent="0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b="1" kern="1200" spc="-1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ko-KR" spc="0" dirty="0">
                <a:solidFill>
                  <a:prstClr val="black"/>
                </a:solidFill>
                <a:sym typeface="Malgun Gothic"/>
              </a:rPr>
              <a:t>5. Cloud Infra Architecture </a:t>
            </a:r>
            <a:r>
              <a:rPr lang="ko-KR" altLang="en-US" spc="0" dirty="0">
                <a:solidFill>
                  <a:prstClr val="black"/>
                </a:solidFill>
                <a:sym typeface="Malgun Gothic"/>
              </a:rPr>
              <a:t>구성 </a:t>
            </a:r>
            <a:r>
              <a:rPr lang="en-US" altLang="ko-KR" spc="0" dirty="0">
                <a:solidFill>
                  <a:prstClr val="black"/>
                </a:solidFill>
                <a:sym typeface="Malgun Gothic"/>
              </a:rPr>
              <a:t>(2/2) – </a:t>
            </a:r>
            <a:r>
              <a:rPr lang="ko-KR" altLang="en-US" spc="0" dirty="0" err="1">
                <a:solidFill>
                  <a:prstClr val="black"/>
                </a:solidFill>
                <a:sym typeface="Malgun Gothic"/>
              </a:rPr>
              <a:t>운영전환</a:t>
            </a:r>
            <a:endParaRPr lang="ko-KR" altLang="en-US" spc="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8376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그림 573">
            <a:extLst>
              <a:ext uri="{FF2B5EF4-FFF2-40B4-BE49-F238E27FC236}">
                <a16:creationId xmlns:a16="http://schemas.microsoft.com/office/drawing/2014/main" id="{D3EC4780-6FB2-D370-B9D2-3ABC31F12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9349" y="6719523"/>
            <a:ext cx="1207786" cy="96679"/>
          </a:xfrm>
          <a:prstGeom prst="rect">
            <a:avLst/>
          </a:prstGeom>
        </p:spPr>
      </p:pic>
      <p:sp>
        <p:nvSpPr>
          <p:cNvPr id="577" name="직사각형 576">
            <a:extLst>
              <a:ext uri="{FF2B5EF4-FFF2-40B4-BE49-F238E27FC236}">
                <a16:creationId xmlns:a16="http://schemas.microsoft.com/office/drawing/2014/main" id="{4D573F8E-A429-48C3-F76F-2F984078F36F}"/>
              </a:ext>
            </a:extLst>
          </p:cNvPr>
          <p:cNvSpPr/>
          <p:nvPr/>
        </p:nvSpPr>
        <p:spPr>
          <a:xfrm>
            <a:off x="7240000" y="6700033"/>
            <a:ext cx="2232184" cy="1801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571" dirty="0">
                <a:solidFill>
                  <a:schemeClr val="bg1"/>
                </a:solidFill>
                <a:latin typeface="Nanum Square"/>
              </a:rPr>
              <a:t>© </a:t>
            </a:r>
            <a:r>
              <a:rPr lang="en" altLang="ko-KR" sz="571" dirty="0" err="1">
                <a:solidFill>
                  <a:schemeClr val="bg1"/>
                </a:solidFill>
                <a:latin typeface="Nanum Square"/>
              </a:rPr>
              <a:t>Kornec</a:t>
            </a:r>
            <a:r>
              <a:rPr lang="en" altLang="ko-KR" sz="571" dirty="0">
                <a:solidFill>
                  <a:schemeClr val="bg1"/>
                </a:solidFill>
                <a:latin typeface="Nanum Square"/>
              </a:rPr>
              <a:t>. All Rights Reserved.</a:t>
            </a:r>
          </a:p>
        </p:txBody>
      </p:sp>
      <p:sp>
        <p:nvSpPr>
          <p:cNvPr id="194" name="텍스트 개체 틀 1"/>
          <p:cNvSpPr txBox="1">
            <a:spLocks/>
          </p:cNvSpPr>
          <p:nvPr/>
        </p:nvSpPr>
        <p:spPr>
          <a:xfrm>
            <a:off x="947555" y="183878"/>
            <a:ext cx="5535615" cy="351569"/>
          </a:xfrm>
          <a:prstGeom prst="rect">
            <a:avLst/>
          </a:prstGeom>
        </p:spPr>
        <p:txBody>
          <a:bodyPr lIns="0" tIns="0" rIns="0" bIns="0" anchor="b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 marL="0" indent="0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b="1" kern="1200" spc="-1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ko-KR" spc="0" dirty="0">
                <a:solidFill>
                  <a:prstClr val="black"/>
                </a:solidFill>
                <a:sym typeface="Malgun Gothic"/>
              </a:rPr>
              <a:t>6. 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TO-BE </a:t>
            </a:r>
            <a:r>
              <a:rPr lang="ko-KR" altLang="en-US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시험계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Architecture 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구성도</a:t>
            </a:r>
            <a:endParaRPr lang="ko-KR" altLang="en-US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79" y="701983"/>
            <a:ext cx="8084043" cy="568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356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/>
        </p:nvSpPr>
        <p:spPr>
          <a:xfrm>
            <a:off x="947555" y="183878"/>
            <a:ext cx="5535615" cy="351569"/>
          </a:xfrm>
          <a:prstGeom prst="rect">
            <a:avLst/>
          </a:prstGeom>
        </p:spPr>
        <p:txBody>
          <a:bodyPr lIns="0" tIns="0" rIns="0" bIns="0" anchor="b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 marL="0" indent="0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b="1" kern="1200" spc="-1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ko-KR" spc="0" dirty="0">
                <a:solidFill>
                  <a:prstClr val="black"/>
                </a:solidFill>
                <a:sym typeface="Malgun Gothic"/>
              </a:rPr>
              <a:t>7. </a:t>
            </a:r>
            <a:r>
              <a:rPr lang="en-US" altLang="ko-KR" dirty="0">
                <a:solidFill>
                  <a:schemeClr val="dk1"/>
                </a:solidFill>
                <a:ea typeface="Malgun Gothic"/>
                <a:cs typeface="Malgun Gothic"/>
                <a:sym typeface="Malgun Gothic"/>
              </a:rPr>
              <a:t>Transit VPC</a:t>
            </a:r>
            <a:r>
              <a:rPr lang="ko-KR" altLang="en-US" dirty="0">
                <a:solidFill>
                  <a:schemeClr val="dk1"/>
                </a:solidFill>
                <a:ea typeface="Malgun Gothic"/>
                <a:cs typeface="Malgun Gothic"/>
                <a:sym typeface="Malgun Gothic"/>
              </a:rPr>
              <a:t> 개념도 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80F1FE-1F93-44C7-5219-7484672EFAB2}"/>
              </a:ext>
            </a:extLst>
          </p:cNvPr>
          <p:cNvSpPr txBox="1"/>
          <p:nvPr/>
        </p:nvSpPr>
        <p:spPr>
          <a:xfrm>
            <a:off x="729554" y="998730"/>
            <a:ext cx="345479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100" dirty="0"/>
              <a:t>네트워크 </a:t>
            </a:r>
            <a:r>
              <a:rPr kumimoji="1" lang="en-US" altLang="ko-KR" sz="1100" dirty="0"/>
              <a:t>Hub</a:t>
            </a:r>
            <a:r>
              <a:rPr kumimoji="1" lang="ko-KR" altLang="en-US" sz="1100" dirty="0"/>
              <a:t>로서의 </a:t>
            </a:r>
            <a:r>
              <a:rPr kumimoji="1" lang="en-US" altLang="ko-KR" sz="1100" dirty="0"/>
              <a:t>VPC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100" dirty="0"/>
              <a:t>Public IP</a:t>
            </a:r>
            <a:r>
              <a:rPr kumimoji="1" lang="ko-KR" altLang="en-US" sz="1100" dirty="0"/>
              <a:t> 소유</a:t>
            </a:r>
            <a:r>
              <a:rPr kumimoji="1" lang="en-US" altLang="ko-KR" sz="1100" dirty="0"/>
              <a:t>, DNS</a:t>
            </a:r>
            <a:r>
              <a:rPr kumimoji="1" lang="ko-KR" altLang="en-US" sz="1100" dirty="0"/>
              <a:t>연결</a:t>
            </a:r>
            <a:r>
              <a:rPr kumimoji="1" lang="en-US" altLang="ko-KR" sz="1100" dirty="0"/>
              <a:t>,</a:t>
            </a:r>
            <a:r>
              <a:rPr kumimoji="1" lang="ko-KR" altLang="en-US" sz="1100" dirty="0"/>
              <a:t> 최초 </a:t>
            </a:r>
            <a:r>
              <a:rPr kumimoji="1" lang="ko-KR" altLang="en-US" sz="1100" dirty="0" err="1"/>
              <a:t>인입점으로</a:t>
            </a:r>
            <a:r>
              <a:rPr kumimoji="1" lang="ko-KR" altLang="en-US" sz="1100" dirty="0"/>
              <a:t> 활용</a:t>
            </a:r>
            <a:endParaRPr kumimoji="1" lang="en-US" altLang="ko-KR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100" dirty="0"/>
              <a:t>LB</a:t>
            </a:r>
            <a:r>
              <a:rPr kumimoji="1" lang="ko-KR" altLang="en-US" sz="1100" dirty="0"/>
              <a:t> 소유 </a:t>
            </a:r>
            <a:r>
              <a:rPr kumimoji="1" lang="en-US" altLang="ko-KR" sz="1100" dirty="0"/>
              <a:t>–</a:t>
            </a:r>
            <a:r>
              <a:rPr kumimoji="1" lang="ko-KR" altLang="en-US" sz="1100" dirty="0"/>
              <a:t> 조건에 따른 </a:t>
            </a:r>
            <a:r>
              <a:rPr kumimoji="1" lang="en-US" altLang="ko-KR" sz="1100" dirty="0"/>
              <a:t>VPC </a:t>
            </a:r>
            <a:r>
              <a:rPr kumimoji="1" lang="ko-KR" altLang="en-US" sz="1100" dirty="0"/>
              <a:t>라우팅 관리</a:t>
            </a:r>
            <a:endParaRPr kumimoji="1" lang="en-US" altLang="ko-KR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100" dirty="0"/>
              <a:t>WAF,</a:t>
            </a:r>
            <a:r>
              <a:rPr kumimoji="1" lang="ko-KR" altLang="en-US" sz="1100" dirty="0"/>
              <a:t> </a:t>
            </a:r>
            <a:r>
              <a:rPr kumimoji="1" lang="en-US" altLang="ko-KR" sz="1100" dirty="0"/>
              <a:t>Anti-</a:t>
            </a:r>
            <a:r>
              <a:rPr kumimoji="1" lang="en-US" altLang="ko-KR" sz="1100" dirty="0" err="1"/>
              <a:t>Ddos</a:t>
            </a:r>
            <a:r>
              <a:rPr kumimoji="1" lang="en-US" altLang="ko-KR" sz="1100" dirty="0"/>
              <a:t> </a:t>
            </a:r>
            <a:r>
              <a:rPr kumimoji="1" lang="ko-KR" altLang="en-US" sz="1100" dirty="0"/>
              <a:t>등의 신호 필터링 및 보안</a:t>
            </a:r>
            <a:endParaRPr kumimoji="1" lang="en-US" altLang="ko-KR" sz="1100" dirty="0"/>
          </a:p>
        </p:txBody>
      </p:sp>
      <p:grpSp>
        <p:nvGrpSpPr>
          <p:cNvPr id="31" name="그룹 30"/>
          <p:cNvGrpSpPr/>
          <p:nvPr/>
        </p:nvGrpSpPr>
        <p:grpSpPr>
          <a:xfrm>
            <a:off x="1242762" y="1788791"/>
            <a:ext cx="7420477" cy="5510639"/>
            <a:chOff x="2308763" y="3149356"/>
            <a:chExt cx="8696637" cy="6458348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D3A95262-BCFF-7DF0-EE47-AA55E528FFCA}"/>
                </a:ext>
              </a:extLst>
            </p:cNvPr>
            <p:cNvSpPr/>
            <p:nvPr/>
          </p:nvSpPr>
          <p:spPr>
            <a:xfrm rot="1375981">
              <a:off x="2308763" y="3645301"/>
              <a:ext cx="2898183" cy="4417017"/>
            </a:xfrm>
            <a:prstGeom prst="rect">
              <a:avLst/>
            </a:prstGeom>
            <a:noFill/>
            <a:ln>
              <a:prstDash val="sysDash"/>
            </a:ln>
            <a:scene3d>
              <a:camera prst="isometricOffAxis2Top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dirty="0">
                  <a:solidFill>
                    <a:schemeClr val="tx1"/>
                  </a:solidFill>
                </a:rPr>
                <a:t>VPC</a:t>
              </a:r>
              <a:endParaRPr kumimoji="1" lang="ko-KR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1E85A99-C09B-F260-C550-B309AFDC778B}"/>
                </a:ext>
              </a:extLst>
            </p:cNvPr>
            <p:cNvSpPr/>
            <p:nvPr/>
          </p:nvSpPr>
          <p:spPr>
            <a:xfrm rot="1375981">
              <a:off x="5643486" y="3149356"/>
              <a:ext cx="2898183" cy="4417017"/>
            </a:xfrm>
            <a:prstGeom prst="rect">
              <a:avLst/>
            </a:prstGeom>
            <a:noFill/>
            <a:ln>
              <a:prstDash val="sysDash"/>
            </a:ln>
            <a:scene3d>
              <a:camera prst="isometricOffAxis2Top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dirty="0">
                  <a:solidFill>
                    <a:schemeClr val="tx1"/>
                  </a:solidFill>
                </a:rPr>
                <a:t>VPC</a:t>
              </a:r>
              <a:endParaRPr kumimoji="1"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BD03D562-59BF-DBC1-29E7-64EE7ECE6B53}"/>
                </a:ext>
              </a:extLst>
            </p:cNvPr>
            <p:cNvSpPr/>
            <p:nvPr/>
          </p:nvSpPr>
          <p:spPr>
            <a:xfrm rot="1375981">
              <a:off x="8107217" y="4694741"/>
              <a:ext cx="2898183" cy="4417017"/>
            </a:xfrm>
            <a:prstGeom prst="rect">
              <a:avLst/>
            </a:prstGeom>
            <a:noFill/>
            <a:ln>
              <a:prstDash val="sysDash"/>
            </a:ln>
            <a:scene3d>
              <a:camera prst="isometricOffAxis2Top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dirty="0">
                  <a:solidFill>
                    <a:schemeClr val="tx1"/>
                  </a:solidFill>
                </a:rPr>
                <a:t>VPC</a:t>
              </a:r>
              <a:endParaRPr kumimoji="1" lang="ko-KR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EBD2D23-778D-8337-6DF9-2B4D98DA860E}"/>
                </a:ext>
              </a:extLst>
            </p:cNvPr>
            <p:cNvSpPr/>
            <p:nvPr/>
          </p:nvSpPr>
          <p:spPr>
            <a:xfrm rot="1375981">
              <a:off x="4821479" y="5190687"/>
              <a:ext cx="2898183" cy="4417017"/>
            </a:xfrm>
            <a:prstGeom prst="rect">
              <a:avLst/>
            </a:prstGeom>
            <a:noFill/>
            <a:ln>
              <a:prstDash val="sysDash"/>
            </a:ln>
            <a:scene3d>
              <a:camera prst="isometricOffAxis2Top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2800" dirty="0">
                  <a:solidFill>
                    <a:schemeClr val="tx1"/>
                  </a:solidFill>
                </a:rPr>
                <a:t>VPC</a:t>
              </a:r>
            </a:p>
          </p:txBody>
        </p:sp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1D075CDF-F3C5-1D00-F2B3-5B1E7977C95C}"/>
                </a:ext>
              </a:extLst>
            </p:cNvPr>
            <p:cNvSpPr/>
            <p:nvPr/>
          </p:nvSpPr>
          <p:spPr>
            <a:xfrm>
              <a:off x="4337912" y="3588116"/>
              <a:ext cx="2247254" cy="2005390"/>
            </a:xfrm>
            <a:prstGeom prst="roundRect">
              <a:avLst/>
            </a:prstGeom>
            <a:solidFill>
              <a:schemeClr val="bg2">
                <a:lumMod val="75000"/>
                <a:lumOff val="25000"/>
              </a:schemeClr>
            </a:solidFill>
            <a:effectLst>
              <a:outerShdw blurRad="235665" dist="50800" dir="5400000" algn="ctr" rotWithShape="0">
                <a:srgbClr val="000000">
                  <a:alpha val="20000"/>
                </a:srgbClr>
              </a:outerShdw>
              <a:softEdge rad="0"/>
            </a:effectLst>
            <a:scene3d>
              <a:camera prst="isometricOffAxis1Top"/>
              <a:lightRig rig="threePt" dir="t"/>
            </a:scene3d>
            <a:sp3d extrusionH="381000" prstMaterial="translucentPowder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3600" dirty="0">
                  <a:solidFill>
                    <a:schemeClr val="tx1"/>
                  </a:solidFill>
                </a:rPr>
                <a:t>Transit</a:t>
              </a:r>
            </a:p>
            <a:p>
              <a:pPr algn="ctr"/>
              <a:r>
                <a:rPr kumimoji="1" lang="en-US" altLang="ko-KR" sz="3600" dirty="0">
                  <a:solidFill>
                    <a:schemeClr val="tx1"/>
                  </a:solidFill>
                </a:rPr>
                <a:t>VPC</a:t>
              </a:r>
              <a:endParaRPr kumimoji="1" lang="ko-KR" altLang="en-US" sz="360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177413B7-5CC5-D1CC-5783-4C4B1513B92B}"/>
                </a:ext>
              </a:extLst>
            </p:cNvPr>
            <p:cNvCxnSpPr>
              <a:cxnSpLocks/>
            </p:cNvCxnSpPr>
            <p:nvPr/>
          </p:nvCxnSpPr>
          <p:spPr>
            <a:xfrm>
              <a:off x="5147816" y="3379850"/>
              <a:ext cx="0" cy="1063988"/>
            </a:xfrm>
            <a:prstGeom prst="straightConnector1">
              <a:avLst/>
            </a:prstGeom>
            <a:ln w="508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구부러진 연결선[U] 19">
              <a:extLst>
                <a:ext uri="{FF2B5EF4-FFF2-40B4-BE49-F238E27FC236}">
                  <a16:creationId xmlns:a16="http://schemas.microsoft.com/office/drawing/2014/main" id="{A28F9E86-E826-BC1A-2678-72207C5C3A3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937625" y="5697938"/>
              <a:ext cx="1950356" cy="835120"/>
            </a:xfrm>
            <a:prstGeom prst="curvedConnector3">
              <a:avLst>
                <a:gd name="adj1" fmla="val 37286"/>
              </a:avLst>
            </a:prstGeom>
            <a:ln w="50800">
              <a:solidFill>
                <a:schemeClr val="tx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구부러진 연결선[U] 11">
              <a:extLst>
                <a:ext uri="{FF2B5EF4-FFF2-40B4-BE49-F238E27FC236}">
                  <a16:creationId xmlns:a16="http://schemas.microsoft.com/office/drawing/2014/main" id="{E6859EE4-7236-2E13-6E29-2C46739956F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894131" y="5169558"/>
              <a:ext cx="853249" cy="490597"/>
            </a:xfrm>
            <a:prstGeom prst="curvedConnector3">
              <a:avLst>
                <a:gd name="adj1" fmla="val 91777"/>
              </a:avLst>
            </a:prstGeom>
            <a:ln w="508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구부러진 연결선[U] 29">
              <a:extLst>
                <a:ext uri="{FF2B5EF4-FFF2-40B4-BE49-F238E27FC236}">
                  <a16:creationId xmlns:a16="http://schemas.microsoft.com/office/drawing/2014/main" id="{FDEEF8DF-A17A-F9F0-BB4A-3CE1AA41C8C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542536" y="4899131"/>
              <a:ext cx="682718" cy="626691"/>
            </a:xfrm>
            <a:prstGeom prst="curvedConnector3">
              <a:avLst>
                <a:gd name="adj1" fmla="val -2212"/>
              </a:avLst>
            </a:prstGeom>
            <a:ln w="508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구부러진 연결선[U] 17">
              <a:extLst>
                <a:ext uri="{FF2B5EF4-FFF2-40B4-BE49-F238E27FC236}">
                  <a16:creationId xmlns:a16="http://schemas.microsoft.com/office/drawing/2014/main" id="{97F8FE98-2D05-38BF-BCD3-7D4698885726}"/>
                </a:ext>
              </a:extLst>
            </p:cNvPr>
            <p:cNvCxnSpPr>
              <a:cxnSpLocks/>
            </p:cNvCxnSpPr>
            <p:nvPr/>
          </p:nvCxnSpPr>
          <p:spPr>
            <a:xfrm>
              <a:off x="6270570" y="5069800"/>
              <a:ext cx="2447096" cy="1694353"/>
            </a:xfrm>
            <a:prstGeom prst="curvedConnector3">
              <a:avLst>
                <a:gd name="adj1" fmla="val 93700"/>
              </a:avLst>
            </a:prstGeom>
            <a:ln w="508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구부러진 연결선[U] 15">
              <a:extLst>
                <a:ext uri="{FF2B5EF4-FFF2-40B4-BE49-F238E27FC236}">
                  <a16:creationId xmlns:a16="http://schemas.microsoft.com/office/drawing/2014/main" id="{7046C9D9-88E3-A7EF-A27E-7F562BFD640C}"/>
                </a:ext>
              </a:extLst>
            </p:cNvPr>
            <p:cNvCxnSpPr>
              <a:cxnSpLocks/>
            </p:cNvCxnSpPr>
            <p:nvPr/>
          </p:nvCxnSpPr>
          <p:spPr>
            <a:xfrm>
              <a:off x="6322584" y="4351148"/>
              <a:ext cx="1206823" cy="519969"/>
            </a:xfrm>
            <a:prstGeom prst="curvedConnector3">
              <a:avLst>
                <a:gd name="adj1" fmla="val 88527"/>
              </a:avLst>
            </a:prstGeom>
            <a:ln w="50800">
              <a:solidFill>
                <a:schemeClr val="tx2">
                  <a:lumMod val="60000"/>
                  <a:lumOff val="40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구부러진 연결선[U] 23">
              <a:extLst>
                <a:ext uri="{FF2B5EF4-FFF2-40B4-BE49-F238E27FC236}">
                  <a16:creationId xmlns:a16="http://schemas.microsoft.com/office/drawing/2014/main" id="{0AB70313-C90F-F1A5-67A8-804BDBE02067}"/>
                </a:ext>
              </a:extLst>
            </p:cNvPr>
            <p:cNvCxnSpPr>
              <a:cxnSpLocks/>
              <a:endCxn id="19" idx="3"/>
            </p:cNvCxnSpPr>
            <p:nvPr/>
          </p:nvCxnSpPr>
          <p:spPr>
            <a:xfrm rot="10800000">
              <a:off x="6585167" y="4590813"/>
              <a:ext cx="1153427" cy="346283"/>
            </a:xfrm>
            <a:prstGeom prst="curvedConnector3">
              <a:avLst>
                <a:gd name="adj1" fmla="val 2971"/>
              </a:avLst>
            </a:prstGeom>
            <a:ln w="508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9799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 txBox="1">
            <a:spLocks/>
          </p:cNvSpPr>
          <p:nvPr/>
        </p:nvSpPr>
        <p:spPr>
          <a:xfrm>
            <a:off x="947555" y="183878"/>
            <a:ext cx="5535615" cy="351569"/>
          </a:xfrm>
          <a:prstGeom prst="rect">
            <a:avLst/>
          </a:prstGeom>
        </p:spPr>
        <p:txBody>
          <a:bodyPr lIns="0" tIns="0" rIns="0" bIns="0" anchor="b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 marL="0" indent="0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b="1" kern="1200" spc="-1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ko-KR" spc="0" dirty="0">
                <a:solidFill>
                  <a:prstClr val="black"/>
                </a:solidFill>
                <a:sym typeface="Malgun Gothic"/>
              </a:rPr>
              <a:t>8. </a:t>
            </a:r>
            <a:r>
              <a:rPr lang="en-US" altLang="ko-KR" dirty="0">
                <a:solidFill>
                  <a:schemeClr val="dk1"/>
                </a:solidFill>
                <a:ea typeface="Malgun Gothic"/>
                <a:cs typeface="Malgun Gothic"/>
                <a:sym typeface="Malgun Gothic"/>
              </a:rPr>
              <a:t>TO-BE </a:t>
            </a:r>
            <a:r>
              <a:rPr lang="ko-KR" altLang="en-US" dirty="0">
                <a:solidFill>
                  <a:schemeClr val="dk1"/>
                </a:solidFill>
                <a:ea typeface="Malgun Gothic"/>
                <a:cs typeface="Malgun Gothic"/>
                <a:sym typeface="Malgun Gothic"/>
              </a:rPr>
              <a:t>운영계 </a:t>
            </a:r>
            <a:r>
              <a:rPr lang="en-US" altLang="ko-KR" dirty="0">
                <a:solidFill>
                  <a:schemeClr val="dk1"/>
                </a:solidFill>
                <a:ea typeface="Malgun Gothic"/>
                <a:cs typeface="Malgun Gothic"/>
                <a:sym typeface="Malgun Gothic"/>
              </a:rPr>
              <a:t>Transit VPC</a:t>
            </a:r>
            <a:r>
              <a:rPr lang="ko-KR" altLang="en-US" dirty="0">
                <a:solidFill>
                  <a:schemeClr val="dk1"/>
                </a:solidFill>
                <a:ea typeface="Malgun Gothic"/>
                <a:cs typeface="Malgun Gothic"/>
                <a:sym typeface="Malgun Gothic"/>
              </a:rPr>
              <a:t> 활용</a:t>
            </a:r>
            <a:r>
              <a:rPr lang="en-US" altLang="ko-KR" dirty="0">
                <a:solidFill>
                  <a:schemeClr val="dk1"/>
                </a:solidFill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dirty="0" err="1">
                <a:solidFill>
                  <a:schemeClr val="dk1"/>
                </a:solidFill>
                <a:ea typeface="Malgun Gothic"/>
                <a:cs typeface="Malgun Gothic"/>
                <a:sym typeface="Malgun Gothic"/>
              </a:rPr>
              <a:t>구성</a:t>
            </a:r>
            <a:r>
              <a:rPr lang="ko-KR" altLang="en-US" dirty="0">
                <a:solidFill>
                  <a:schemeClr val="dk1"/>
                </a:solidFill>
                <a:ea typeface="Malgun Gothic"/>
                <a:cs typeface="Malgun Gothic"/>
                <a:sym typeface="Malgun Gothic"/>
              </a:rPr>
              <a:t>안</a:t>
            </a:r>
            <a:r>
              <a:rPr lang="en-US" altLang="ko-KR" dirty="0">
                <a:solidFill>
                  <a:schemeClr val="dk1"/>
                </a:solidFill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dirty="0">
                <a:solidFill>
                  <a:schemeClr val="dk1"/>
                </a:solidFill>
                <a:ea typeface="Malgun Gothic"/>
                <a:cs typeface="Malgun Gothic"/>
                <a:sym typeface="Malgun Gothic"/>
              </a:rPr>
              <a:t>초안</a:t>
            </a:r>
            <a:r>
              <a:rPr lang="en-US" altLang="ko-KR" dirty="0">
                <a:solidFill>
                  <a:schemeClr val="dk1"/>
                </a:solidFill>
                <a:ea typeface="Malgun Gothic"/>
                <a:cs typeface="Malgun Gothic"/>
                <a:sym typeface="Malgun Gothic"/>
              </a:rPr>
              <a:t>)</a:t>
            </a:r>
            <a:endParaRPr lang="ko-KR" altLang="en-US" sz="1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94" y="683695"/>
            <a:ext cx="8176012" cy="569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45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3BEB3-1CE8-9219-15C6-1B68F31FE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8010837-76B8-E9A7-5C5B-616D1C66E877}"/>
              </a:ext>
            </a:extLst>
          </p:cNvPr>
          <p:cNvSpPr txBox="1">
            <a:spLocks/>
          </p:cNvSpPr>
          <p:nvPr/>
        </p:nvSpPr>
        <p:spPr>
          <a:xfrm>
            <a:off x="947555" y="183878"/>
            <a:ext cx="5535615" cy="351569"/>
          </a:xfrm>
          <a:prstGeom prst="rect">
            <a:avLst/>
          </a:prstGeom>
        </p:spPr>
        <p:txBody>
          <a:bodyPr lIns="0" tIns="0" rIns="0" bIns="0" anchor="b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 marL="0" indent="0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b="1" kern="1200" spc="-1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ko-KR" spc="0" dirty="0">
                <a:solidFill>
                  <a:prstClr val="black"/>
                </a:solidFill>
                <a:sym typeface="Malgun Gothic"/>
              </a:rPr>
              <a:t>8. </a:t>
            </a:r>
            <a:r>
              <a:rPr lang="en-US" altLang="ko-KR" dirty="0">
                <a:solidFill>
                  <a:schemeClr val="dk1"/>
                </a:solidFill>
                <a:ea typeface="Malgun Gothic"/>
                <a:cs typeface="Malgun Gothic"/>
                <a:sym typeface="Malgun Gothic"/>
              </a:rPr>
              <a:t>TO-BE </a:t>
            </a:r>
            <a:r>
              <a:rPr lang="ko-KR" altLang="en-US" dirty="0">
                <a:solidFill>
                  <a:schemeClr val="dk1"/>
                </a:solidFill>
                <a:ea typeface="Malgun Gothic"/>
                <a:cs typeface="Malgun Gothic"/>
                <a:sym typeface="Malgun Gothic"/>
              </a:rPr>
              <a:t>운영계 </a:t>
            </a:r>
            <a:r>
              <a:rPr lang="en-US" altLang="ko-KR" dirty="0">
                <a:solidFill>
                  <a:schemeClr val="dk1"/>
                </a:solidFill>
                <a:ea typeface="Malgun Gothic"/>
                <a:cs typeface="Malgun Gothic"/>
                <a:sym typeface="Malgun Gothic"/>
              </a:rPr>
              <a:t>Transit VPC</a:t>
            </a:r>
            <a:r>
              <a:rPr lang="ko-KR" altLang="en-US" dirty="0">
                <a:solidFill>
                  <a:schemeClr val="dk1"/>
                </a:solidFill>
                <a:ea typeface="Malgun Gothic"/>
                <a:cs typeface="Malgun Gothic"/>
                <a:sym typeface="Malgun Gothic"/>
              </a:rPr>
              <a:t> 활용</a:t>
            </a:r>
            <a:r>
              <a:rPr lang="en-US" altLang="ko-KR" dirty="0">
                <a:solidFill>
                  <a:schemeClr val="dk1"/>
                </a:solidFill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dirty="0" err="1">
                <a:solidFill>
                  <a:schemeClr val="dk1"/>
                </a:solidFill>
                <a:ea typeface="Malgun Gothic"/>
                <a:cs typeface="Malgun Gothic"/>
                <a:sym typeface="Malgun Gothic"/>
              </a:rPr>
              <a:t>구성</a:t>
            </a:r>
            <a:r>
              <a:rPr lang="ko-KR" altLang="en-US" dirty="0">
                <a:solidFill>
                  <a:schemeClr val="dk1"/>
                </a:solidFill>
                <a:ea typeface="Malgun Gothic"/>
                <a:cs typeface="Malgun Gothic"/>
                <a:sym typeface="Malgun Gothic"/>
              </a:rPr>
              <a:t>안</a:t>
            </a:r>
            <a:r>
              <a:rPr lang="en-US" altLang="ko-KR" dirty="0">
                <a:solidFill>
                  <a:schemeClr val="dk1"/>
                </a:solidFill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dirty="0">
                <a:solidFill>
                  <a:schemeClr val="dk1"/>
                </a:solidFill>
                <a:ea typeface="Malgun Gothic"/>
                <a:cs typeface="Malgun Gothic"/>
                <a:sym typeface="Malgun Gothic"/>
              </a:rPr>
              <a:t>최종</a:t>
            </a:r>
            <a:r>
              <a:rPr lang="en-US" altLang="ko-KR" dirty="0">
                <a:solidFill>
                  <a:schemeClr val="dk1"/>
                </a:solidFill>
                <a:ea typeface="Malgun Gothic"/>
                <a:cs typeface="Malgun Gothic"/>
                <a:sym typeface="Malgun Gothic"/>
              </a:rPr>
              <a:t>)</a:t>
            </a:r>
            <a:endParaRPr lang="ko-KR" altLang="en-US" sz="1200" dirty="0"/>
          </a:p>
        </p:txBody>
      </p:sp>
      <p:pic>
        <p:nvPicPr>
          <p:cNvPr id="5" name="그림 4" descr="텍스트, 스크린샷, 소프트웨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E786A5F-E0B9-39F7-B868-2E5D309FA1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07" y="767064"/>
            <a:ext cx="7772400" cy="545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8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FB729-B641-C347-6B8B-D1831D2C4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0BD0AD4-7FC0-5F74-4257-8A194C8F18F9}"/>
              </a:ext>
            </a:extLst>
          </p:cNvPr>
          <p:cNvSpPr txBox="1">
            <a:spLocks/>
          </p:cNvSpPr>
          <p:nvPr/>
        </p:nvSpPr>
        <p:spPr>
          <a:xfrm>
            <a:off x="947555" y="183878"/>
            <a:ext cx="5535615" cy="351569"/>
          </a:xfrm>
          <a:prstGeom prst="rect">
            <a:avLst/>
          </a:prstGeom>
        </p:spPr>
        <p:txBody>
          <a:bodyPr lIns="0" tIns="0" rIns="0" bIns="0" anchor="b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 marL="0" indent="0" algn="l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b="1" kern="1200" spc="-1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ko-KR" spc="0" dirty="0">
                <a:solidFill>
                  <a:prstClr val="black"/>
                </a:solidFill>
                <a:sym typeface="Malgun Gothic"/>
              </a:rPr>
              <a:t>9. </a:t>
            </a:r>
            <a:r>
              <a:rPr lang="ko-KR" altLang="en-US" dirty="0">
                <a:solidFill>
                  <a:schemeClr val="dk1"/>
                </a:solidFill>
                <a:ea typeface="Malgun Gothic"/>
                <a:cs typeface="Malgun Gothic"/>
                <a:sym typeface="Malgun Gothic"/>
              </a:rPr>
              <a:t>아키텍처 장점</a:t>
            </a:r>
            <a:endParaRPr lang="ko-KR" altLang="en-US" sz="12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20F7D8C-41C2-12A8-5824-44C4C0554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528714"/>
              </p:ext>
            </p:extLst>
          </p:nvPr>
        </p:nvGraphicFramePr>
        <p:xfrm>
          <a:off x="793678" y="818710"/>
          <a:ext cx="8318643" cy="5564658"/>
        </p:xfrm>
        <a:graphic>
          <a:graphicData uri="http://schemas.openxmlformats.org/drawingml/2006/table">
            <a:tbl>
              <a:tblPr firstRow="1" bandRow="1"/>
              <a:tblGrid>
                <a:gridCol w="1408261">
                  <a:extLst>
                    <a:ext uri="{9D8B030D-6E8A-4147-A177-3AD203B41FA5}">
                      <a16:colId xmlns:a16="http://schemas.microsoft.com/office/drawing/2014/main" val="404807668"/>
                    </a:ext>
                  </a:extLst>
                </a:gridCol>
                <a:gridCol w="1549794">
                  <a:extLst>
                    <a:ext uri="{9D8B030D-6E8A-4147-A177-3AD203B41FA5}">
                      <a16:colId xmlns:a16="http://schemas.microsoft.com/office/drawing/2014/main" val="3728664899"/>
                    </a:ext>
                  </a:extLst>
                </a:gridCol>
                <a:gridCol w="5360588">
                  <a:extLst>
                    <a:ext uri="{9D8B030D-6E8A-4147-A177-3AD203B41FA5}">
                      <a16:colId xmlns:a16="http://schemas.microsoft.com/office/drawing/2014/main" val="3202702537"/>
                    </a:ext>
                  </a:extLst>
                </a:gridCol>
              </a:tblGrid>
              <a:tr h="3150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구 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항 목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내 용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504417"/>
                  </a:ext>
                </a:extLst>
              </a:tr>
              <a:tr h="207083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응용프로그램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소스관리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NCP </a:t>
                      </a:r>
                      <a:r>
                        <a:rPr lang="en-US" altLang="ko-KR" sz="1000" dirty="0" err="1"/>
                        <a:t>sourceCommit</a:t>
                      </a:r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7034303"/>
                  </a:ext>
                </a:extLst>
              </a:tr>
              <a:tr h="2042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빌드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NCP </a:t>
                      </a:r>
                      <a:r>
                        <a:rPr lang="en-US" altLang="ko-KR" sz="1000" dirty="0" err="1"/>
                        <a:t>sourceBuild</a:t>
                      </a:r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3711195"/>
                  </a:ext>
                </a:extLst>
              </a:tr>
              <a:tr h="2042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배포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NCP </a:t>
                      </a:r>
                      <a:r>
                        <a:rPr lang="en-US" altLang="ko-KR" sz="1000" dirty="0" err="1"/>
                        <a:t>sourceDeploy</a:t>
                      </a:r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7411899"/>
                  </a:ext>
                </a:extLst>
              </a:tr>
              <a:tr h="2042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배포 자동화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NCP </a:t>
                      </a:r>
                      <a:r>
                        <a:rPr lang="en-US" altLang="ko-KR" sz="1000" dirty="0" err="1"/>
                        <a:t>sourcePipeline</a:t>
                      </a:r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6451437"/>
                  </a:ext>
                </a:extLst>
              </a:tr>
              <a:tr h="2042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배포환경 이미지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NCP Container Registry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943212"/>
                  </a:ext>
                </a:extLst>
              </a:tr>
              <a:tr h="204246"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인프라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IDC </a:t>
                      </a:r>
                      <a:r>
                        <a:rPr lang="ko-KR" altLang="en-US" sz="1000" dirty="0"/>
                        <a:t>장애대비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KR-1, KR-2 Zone 2</a:t>
                      </a:r>
                      <a:r>
                        <a:rPr lang="ko-KR" altLang="en-US" sz="1000" dirty="0"/>
                        <a:t>식씩 </a:t>
                      </a:r>
                      <a:r>
                        <a:rPr lang="ko-KR" altLang="en-US" sz="1000" dirty="0" err="1"/>
                        <a:t>멀티존</a:t>
                      </a:r>
                      <a:r>
                        <a:rPr lang="ko-KR" altLang="en-US" sz="1000" dirty="0"/>
                        <a:t> 구성</a:t>
                      </a:r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5669265"/>
                  </a:ext>
                </a:extLst>
              </a:tr>
              <a:tr h="35743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부하대비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KR-2 Zone </a:t>
                      </a:r>
                      <a:r>
                        <a:rPr lang="en-US" altLang="ko-KR" sz="1000" dirty="0" err="1"/>
                        <a:t>AutoScale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 err="1"/>
                        <a:t>오토스케일</a:t>
                      </a:r>
                      <a:r>
                        <a:rPr lang="ko-KR" altLang="en-US" sz="1000" dirty="0"/>
                        <a:t> 그룹내 서버 평균 </a:t>
                      </a:r>
                      <a:r>
                        <a:rPr lang="en-US" altLang="ko-KR" sz="1000" dirty="0"/>
                        <a:t>CPU 55%</a:t>
                      </a:r>
                      <a:r>
                        <a:rPr lang="ko-KR" altLang="en-US" sz="1000" dirty="0"/>
                        <a:t>이상 혹은 메모리 </a:t>
                      </a:r>
                      <a:r>
                        <a:rPr lang="en-US" altLang="ko-KR" sz="1000" dirty="0"/>
                        <a:t>60%</a:t>
                      </a:r>
                      <a:r>
                        <a:rPr lang="ko-KR" altLang="en-US" sz="1000" dirty="0"/>
                        <a:t> 이상</a:t>
                      </a:r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6434700"/>
                  </a:ext>
                </a:extLst>
              </a:tr>
              <a:tr h="2042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응답속도향상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업계표준 </a:t>
                      </a:r>
                      <a:r>
                        <a:rPr lang="en-US" altLang="ko-KR" sz="1000" dirty="0"/>
                        <a:t>HTTP/2 </a:t>
                      </a:r>
                      <a:r>
                        <a:rPr lang="ko-KR" altLang="en-US" sz="1000" dirty="0"/>
                        <a:t>사용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HTTP 1.1 </a:t>
                      </a:r>
                      <a:r>
                        <a:rPr lang="ko-KR" altLang="en-US" sz="1000" dirty="0"/>
                        <a:t>대비 </a:t>
                      </a:r>
                      <a:r>
                        <a:rPr lang="en-US" altLang="ko-KR" sz="1000" dirty="0"/>
                        <a:t>2</a:t>
                      </a:r>
                      <a:r>
                        <a:rPr lang="ko-KR" altLang="en-US" sz="1000" dirty="0"/>
                        <a:t>배 속도</a:t>
                      </a:r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0369219"/>
                  </a:ext>
                </a:extLst>
              </a:tr>
              <a:tr h="2042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외부공격대비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NCP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WAF</a:t>
                      </a:r>
                      <a:r>
                        <a:rPr lang="ko-KR" altLang="en-US" sz="1000" dirty="0"/>
                        <a:t> 와 </a:t>
                      </a:r>
                      <a:r>
                        <a:rPr lang="en-US" altLang="ko-KR" sz="1000" dirty="0"/>
                        <a:t>Anti-</a:t>
                      </a:r>
                      <a:r>
                        <a:rPr lang="en-US" altLang="ko-KR" sz="1000" dirty="0" err="1"/>
                        <a:t>DDos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사용</a:t>
                      </a:r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1731417"/>
                  </a:ext>
                </a:extLst>
              </a:tr>
              <a:tr h="35743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내부통신제어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Transit VPC. EBS </a:t>
                      </a:r>
                      <a:r>
                        <a:rPr lang="ko-KR" altLang="en-US" sz="1000" dirty="0"/>
                        <a:t>전사 사용위한 연결통제용 </a:t>
                      </a:r>
                      <a:r>
                        <a:rPr lang="en-US" altLang="ko-KR" sz="1000" dirty="0"/>
                        <a:t>VPC</a:t>
                      </a:r>
                    </a:p>
                    <a:p>
                      <a:pPr latinLnBrk="1"/>
                      <a:r>
                        <a:rPr lang="ko-KR" altLang="en-US" sz="1000" dirty="0"/>
                        <a:t>안철수 방화벽 </a:t>
                      </a:r>
                      <a:r>
                        <a:rPr lang="en-US" altLang="ko-KR" sz="1000" dirty="0"/>
                        <a:t>SFC </a:t>
                      </a:r>
                      <a:r>
                        <a:rPr lang="ko-KR" altLang="en-US" sz="1000" dirty="0"/>
                        <a:t>설치로 보안성 향상</a:t>
                      </a:r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404419"/>
                  </a:ext>
                </a:extLst>
              </a:tr>
              <a:tr h="2042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긴급대응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SSL VPN, </a:t>
                      </a:r>
                      <a:r>
                        <a:rPr lang="ko-KR" altLang="en-US" sz="1000" dirty="0" err="1"/>
                        <a:t>폐쇄망</a:t>
                      </a:r>
                      <a:r>
                        <a:rPr lang="ko-KR" altLang="en-US" sz="1000" dirty="0"/>
                        <a:t> 외부에서 긴급하게 서버접속을 위해 </a:t>
                      </a:r>
                      <a:r>
                        <a:rPr lang="ko-KR" altLang="en-US" sz="1000" dirty="0" smtClean="0"/>
                        <a:t>대비</a:t>
                      </a:r>
                      <a:r>
                        <a:rPr lang="en-US" altLang="ko-KR" sz="1000" dirty="0" smtClean="0"/>
                        <a:t>, HTTPS </a:t>
                      </a:r>
                      <a:r>
                        <a:rPr lang="ko-KR" altLang="en-US" sz="1000" dirty="0" smtClean="0"/>
                        <a:t>프로토콜 적용</a:t>
                      </a:r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4024278"/>
                  </a:ext>
                </a:extLst>
              </a:tr>
              <a:tr h="2042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부하분산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Object Storage </a:t>
                      </a:r>
                      <a:r>
                        <a:rPr lang="ko-KR" altLang="en-US" sz="1000" dirty="0"/>
                        <a:t>사용으로 이미지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 err="1"/>
                        <a:t>css</a:t>
                      </a:r>
                      <a:r>
                        <a:rPr lang="en-US" altLang="ko-KR" sz="1000" dirty="0"/>
                        <a:t>, font </a:t>
                      </a:r>
                      <a:r>
                        <a:rPr lang="ko-KR" altLang="en-US" sz="1000" dirty="0"/>
                        <a:t>등 정적파일 서버 부하 경감</a:t>
                      </a:r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0105848"/>
                  </a:ext>
                </a:extLst>
              </a:tr>
              <a:tr h="51061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로그 중앙화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NAS</a:t>
                      </a:r>
                      <a:r>
                        <a:rPr lang="ko-KR" altLang="en-US" sz="1000" dirty="0" err="1"/>
                        <a:t>를</a:t>
                      </a:r>
                      <a:r>
                        <a:rPr lang="ko-KR" altLang="en-US" sz="1000" dirty="0"/>
                        <a:t> 로그 디렉토리로 마운트</a:t>
                      </a:r>
                      <a:r>
                        <a:rPr lang="en-US" altLang="ko-KR" sz="1000" dirty="0"/>
                        <a:t>.</a:t>
                      </a:r>
                      <a:r>
                        <a:rPr lang="ko-KR" altLang="en-US" sz="1000" dirty="0"/>
                        <a:t> 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 err="1"/>
                        <a:t>오토스케일</a:t>
                      </a:r>
                      <a:r>
                        <a:rPr lang="ko-KR" altLang="en-US" sz="1000" dirty="0"/>
                        <a:t> 되더라도 </a:t>
                      </a:r>
                      <a:r>
                        <a:rPr lang="en-US" altLang="ko-KR" sz="1000" dirty="0"/>
                        <a:t>hostname</a:t>
                      </a:r>
                      <a:r>
                        <a:rPr lang="ko-KR" altLang="en-US" sz="1000" dirty="0" err="1"/>
                        <a:t>으로</a:t>
                      </a:r>
                      <a:r>
                        <a:rPr lang="ko-KR" altLang="en-US" sz="1000" dirty="0"/>
                        <a:t> 디렉토리 생성</a:t>
                      </a:r>
                      <a:r>
                        <a:rPr lang="en-US" altLang="ko-KR" sz="1000" dirty="0"/>
                        <a:t>.</a:t>
                      </a:r>
                      <a:r>
                        <a:rPr lang="ko-KR" altLang="en-US" sz="1000" dirty="0"/>
                        <a:t> </a:t>
                      </a:r>
                      <a:r>
                        <a:rPr lang="ko-KR" altLang="en-US" sz="1000" dirty="0" err="1"/>
                        <a:t>해당디렉토리</a:t>
                      </a:r>
                      <a:r>
                        <a:rPr lang="ko-KR" altLang="en-US" sz="1000" dirty="0"/>
                        <a:t> 내 로그 기록</a:t>
                      </a:r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0806807"/>
                  </a:ext>
                </a:extLst>
              </a:tr>
              <a:tr h="510616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장점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확장성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클라우드 서버 도입으로 이미지 생성 </a:t>
                      </a:r>
                      <a:r>
                        <a:rPr lang="en-US" altLang="ko-KR" sz="1000" dirty="0">
                          <a:sym typeface="Wingdings" pitchFamily="2" charset="2"/>
                        </a:rPr>
                        <a:t></a:t>
                      </a:r>
                      <a:r>
                        <a:rPr lang="ko-KR" altLang="en-US" sz="1000" dirty="0">
                          <a:sym typeface="Wingdings" pitchFamily="2" charset="2"/>
                        </a:rPr>
                        <a:t> 서버생성을 통해 수분 내 서버생성 가능</a:t>
                      </a:r>
                      <a:endParaRPr lang="en-US" altLang="ko-KR" sz="1000" dirty="0">
                        <a:sym typeface="Wingdings" pitchFamily="2" charset="2"/>
                      </a:endParaRPr>
                    </a:p>
                    <a:p>
                      <a:pPr latinLnBrk="1"/>
                      <a:r>
                        <a:rPr lang="ko-KR" altLang="en-US" sz="1000" dirty="0">
                          <a:sym typeface="Wingdings" pitchFamily="2" charset="2"/>
                        </a:rPr>
                        <a:t>이미지 복제 기능으로 타 </a:t>
                      </a:r>
                      <a:r>
                        <a:rPr lang="en-US" altLang="ko-KR" sz="1000" dirty="0">
                          <a:sym typeface="Wingdings" pitchFamily="2" charset="2"/>
                        </a:rPr>
                        <a:t>VPC</a:t>
                      </a:r>
                      <a:r>
                        <a:rPr lang="ko-KR" altLang="en-US" sz="1000" dirty="0">
                          <a:sym typeface="Wingdings" pitchFamily="2" charset="2"/>
                        </a:rPr>
                        <a:t>에서도 생성 가능</a:t>
                      </a:r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9420518"/>
                  </a:ext>
                </a:extLst>
              </a:tr>
              <a:tr h="35743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유연성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오토스케일</a:t>
                      </a:r>
                      <a:r>
                        <a:rPr lang="ko-KR" altLang="en-US" sz="1000" dirty="0"/>
                        <a:t> 적용으로 시스템은 최대 </a:t>
                      </a:r>
                      <a:r>
                        <a:rPr lang="en-US" altLang="ko-KR" sz="1000" dirty="0"/>
                        <a:t>6</a:t>
                      </a:r>
                      <a:r>
                        <a:rPr lang="ko-KR" altLang="en-US" sz="1000" dirty="0"/>
                        <a:t>개까지 확장됨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성능시험시 </a:t>
                      </a:r>
                      <a:r>
                        <a:rPr lang="en-US" altLang="ko-KR" sz="1000" dirty="0"/>
                        <a:t>500tps</a:t>
                      </a:r>
                      <a:r>
                        <a:rPr lang="ko-KR" altLang="en-US" sz="1000" dirty="0"/>
                        <a:t> 소화하는 시스템으로 확장</a:t>
                      </a:r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7038830"/>
                  </a:ext>
                </a:extLst>
              </a:tr>
              <a:tr h="2042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호환성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업계표준 </a:t>
                      </a:r>
                      <a:r>
                        <a:rPr lang="en-US" altLang="ko-KR" sz="1000" dirty="0"/>
                        <a:t>Tomcat </a:t>
                      </a:r>
                      <a:r>
                        <a:rPr lang="ko-KR" altLang="en-US" sz="1000" dirty="0"/>
                        <a:t>서버를 적용하여 </a:t>
                      </a:r>
                      <a:r>
                        <a:rPr lang="en-US" altLang="ko-KR" sz="1000" dirty="0"/>
                        <a:t>JAVA </a:t>
                      </a:r>
                      <a:r>
                        <a:rPr lang="ko-KR" altLang="en-US" sz="1000" dirty="0"/>
                        <a:t>응용서버들에 공히 배포가능</a:t>
                      </a:r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6559704"/>
                  </a:ext>
                </a:extLst>
              </a:tr>
              <a:tr h="3574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운영편의성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개발자들의 소스 취합 후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클릭한번으로 빌드 </a:t>
                      </a:r>
                      <a:r>
                        <a:rPr lang="en-US" altLang="ko-KR" sz="1000" dirty="0"/>
                        <a:t>-&gt;</a:t>
                      </a:r>
                      <a:r>
                        <a:rPr lang="ko-KR" altLang="en-US" sz="1000" dirty="0"/>
                        <a:t> 순차 배포까지 모두 완료</a:t>
                      </a:r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9514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1586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B6B58-A09D-134E-9AAA-722EE8201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CE1C63A-4217-07A9-74EE-D3E88C98F597}"/>
              </a:ext>
            </a:extLst>
          </p:cNvPr>
          <p:cNvSpPr txBox="1"/>
          <p:nvPr/>
        </p:nvSpPr>
        <p:spPr>
          <a:xfrm>
            <a:off x="174222" y="91235"/>
            <a:ext cx="28889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 </a:t>
            </a:r>
            <a:r>
              <a:rPr lang="en-US" altLang="ko-KR" sz="1200" b="1" dirty="0"/>
              <a:t>[</a:t>
            </a:r>
            <a:r>
              <a:rPr lang="ko-KR" altLang="en-US" sz="1200" b="1" dirty="0"/>
              <a:t>별첨</a:t>
            </a:r>
            <a:r>
              <a:rPr lang="en-US" altLang="ko-KR" sz="1200" b="1" dirty="0"/>
              <a:t>] EBS </a:t>
            </a:r>
            <a:r>
              <a:rPr lang="ko-KR" altLang="en-US" sz="1200" b="1" dirty="0"/>
              <a:t>단추 고도화 최종 아키텍처</a:t>
            </a:r>
          </a:p>
        </p:txBody>
      </p:sp>
      <p:pic>
        <p:nvPicPr>
          <p:cNvPr id="510" name="그림 50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36" y="6540511"/>
            <a:ext cx="1318084" cy="173987"/>
          </a:xfrm>
          <a:prstGeom prst="rect">
            <a:avLst/>
          </a:prstGeom>
        </p:spPr>
      </p:pic>
      <p:pic>
        <p:nvPicPr>
          <p:cNvPr id="511" name="그림 5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820" y="6571454"/>
            <a:ext cx="971686" cy="133369"/>
          </a:xfrm>
          <a:prstGeom prst="rect">
            <a:avLst/>
          </a:prstGeom>
        </p:spPr>
      </p:pic>
      <p:pic>
        <p:nvPicPr>
          <p:cNvPr id="3" name="그림 2" descr="스크린샷, 텍스트, 소프트웨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C973374-AFD6-245B-EFD4-5EC765D76A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95" y="381463"/>
            <a:ext cx="7241275" cy="642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18388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1600" b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A96BACDF1FCBB428F21F4519DFB98C1" ma:contentTypeVersion="2" ma:contentTypeDescription="새 문서를 만듭니다." ma:contentTypeScope="" ma:versionID="a39bdc79dd8a8f43375fbb71ca3843b9">
  <xsd:schema xmlns:xsd="http://www.w3.org/2001/XMLSchema" xmlns:xs="http://www.w3.org/2001/XMLSchema" xmlns:p="http://schemas.microsoft.com/office/2006/metadata/properties" xmlns:ns2="3f5dc650-72d3-49b8-9aa0-e37fa36215f8" targetNamespace="http://schemas.microsoft.com/office/2006/metadata/properties" ma:root="true" ma:fieldsID="84fbbbcc4b721d03f436e6f891a02bb7" ns2:_="">
    <xsd:import namespace="3f5dc650-72d3-49b8-9aa0-e37fa36215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5dc650-72d3-49b8-9aa0-e37fa36215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3DBF880-865A-4D9D-BF84-B5F1CAEE46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44C819-36A0-4ECD-802D-41107051F8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f5dc650-72d3-49b8-9aa0-e37fa36215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528C14-053F-4EFF-A0A5-4FEC4B7AC9EE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3f5dc650-72d3-49b8-9aa0-e37fa36215f8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144924</TotalTime>
  <Words>1032</Words>
  <Application>Microsoft Office PowerPoint</Application>
  <PresentationFormat>A4 용지(210x297mm)</PresentationFormat>
  <Paragraphs>370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8" baseType="lpstr">
      <vt:lpstr>a아시아헤드3</vt:lpstr>
      <vt:lpstr>HY견명조</vt:lpstr>
      <vt:lpstr>HY태명조</vt:lpstr>
      <vt:lpstr>KoPub돋움체 Medium</vt:lpstr>
      <vt:lpstr>Nanum Square</vt:lpstr>
      <vt:lpstr>굴림체</vt:lpstr>
      <vt:lpstr>Malgun Gothic</vt:lpstr>
      <vt:lpstr>Malgun Gothic</vt:lpstr>
      <vt:lpstr>Arial</vt:lpstr>
      <vt:lpstr>Calibri</vt:lpstr>
      <vt:lpstr>Segoe UI</vt:lpstr>
      <vt:lpstr>Verdana</vt:lpstr>
      <vt:lpstr>Wingdings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대전렌탈V1.4</dc:creator>
  <cp:lastModifiedBy>user</cp:lastModifiedBy>
  <cp:revision>9070</cp:revision>
  <cp:lastPrinted>2022-04-05T00:15:00Z</cp:lastPrinted>
  <dcterms:created xsi:type="dcterms:W3CDTF">2001-10-12T02:42:45Z</dcterms:created>
  <dcterms:modified xsi:type="dcterms:W3CDTF">2025-03-27T02:01:50Z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cKinsey Margins">
    <vt:bool>true</vt:bool>
  </property>
  <property fmtid="{D5CDD505-2E9C-101B-9397-08002B2CF9AE}" pid="3" name="ApplyPaperSize">
    <vt:bool>true</vt:bool>
  </property>
  <property fmtid="{D5CDD505-2E9C-101B-9397-08002B2CF9AE}" pid="4" name="Use 12-pt Templates">
    <vt:bool>true</vt:bool>
  </property>
  <property fmtid="{D5CDD505-2E9C-101B-9397-08002B2CF9AE}" pid="5" name="Traditional Objects">
    <vt:bool>true</vt:bool>
  </property>
  <property fmtid="{D5CDD505-2E9C-101B-9397-08002B2CF9AE}" pid="6" name="ContentTypeId">
    <vt:lpwstr>0x0101003A96BACDF1FCBB428F21F4519DFB98C1</vt:lpwstr>
  </property>
</Properties>
</file>