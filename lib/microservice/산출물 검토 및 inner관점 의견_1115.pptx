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45" autoAdjust="0"/>
    <p:restoredTop sz="94706"/>
  </p:normalViewPr>
  <p:slideViewPr>
    <p:cSldViewPr snapToGrid="0">
      <p:cViewPr varScale="1">
        <p:scale>
          <a:sx n="101" d="100"/>
          <a:sy n="101" d="100"/>
        </p:scale>
        <p:origin x="208" y="2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A4AFE-F805-4B29-BE94-4F38303FD6BF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4ABC9-EFD7-46F4-8937-98EDEF364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282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A4ABC9-EFD7-46F4-8937-98EDEF364E5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140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85A19-EE07-8713-13AB-FE7123A39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D0167D-4345-C90F-2C88-7DA94888C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EB12ED-13DB-C9AB-A671-796AB908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43B0-FCED-4941-B2A1-6F1F3C50BCC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895E32-5E73-E6CD-4EF2-4A8C56611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98C251-846D-449C-D560-9CCF90B01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5D3-9887-4D88-AE0C-5D5A6CF77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09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F4A67A-7FA1-F216-0537-7A3EF539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FF0411-FF82-1028-005C-70C713477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B93970-F533-CA6C-8A16-C98464CF4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43B0-FCED-4941-B2A1-6F1F3C50BCC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014280-8A51-508A-C012-B774CA69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105AF0-D089-6206-649D-9FC5003B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5D3-9887-4D88-AE0C-5D5A6CF77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54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45C0E-1502-51DD-2C18-821C1E61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DF81A6-3B22-5D27-E2EB-468EA7301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60EE37-39C8-4515-27EB-85136221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43B0-FCED-4941-B2A1-6F1F3C50BCC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84297F-18B0-BB33-B0E6-D4F9D833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7A97A-E7A2-D943-152C-591049EE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5D3-9887-4D88-AE0C-5D5A6CF77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54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6220F5-BF00-10A0-94CE-2E9853E70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30D9E-8CA8-9486-E432-77E476F07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8D72AF-748F-695B-A6B6-10A508AA6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FE8833-33AB-3023-D94B-A9D0A836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43B0-FCED-4941-B2A1-6F1F3C50BCC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C9E792-19CE-3A09-2117-8F3A790CC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6127C4-2BEA-3B16-B5DA-78EB7A19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5D3-9887-4D88-AE0C-5D5A6CF77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09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DAEC7B-B925-C088-E23F-762BBD468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6D747F-A4EB-6E20-5FB7-37D7BE03D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1234CE-82A9-5E67-0A90-6212868E2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8C3F6D-C39A-783C-4846-BD622227A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175536-A681-6A33-210D-DB9F6A0243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9E3D56-CA72-AAC1-07EA-28F890A54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43B0-FCED-4941-B2A1-6F1F3C50BCC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7E0EBC-5C11-2FBB-E34B-9A4C1D96F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0D6713-8071-FB7C-CB57-4BA8E938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5D3-9887-4D88-AE0C-5D5A6CF77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616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D9588-7448-BAED-363D-1582F2DF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B9881A-51E1-8631-EEB8-E5F655B4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43B0-FCED-4941-B2A1-6F1F3C50BCC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6D3370-1A06-3835-D021-87DC7B0D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7608B3-A580-715B-62EA-60BE725A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5D3-9887-4D88-AE0C-5D5A6CF77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589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5F412F-A092-AD01-3A48-6B9914BBA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43B0-FCED-4941-B2A1-6F1F3C50BCC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B7596A-EE3E-9289-CD56-5A3C8924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B52162-0B04-BCC2-20D5-5DE5DB8C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5D3-9887-4D88-AE0C-5D5A6CF77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05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96E675-5738-4449-CFC9-2EE23517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B70EB5-A8C3-DD4F-D47C-D6E800755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72E375-F1BF-4F82-145D-C2C1B7DF2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416AF7-8DDB-59EC-AB2B-F4B1E292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43B0-FCED-4941-B2A1-6F1F3C50BCC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5CA51A-7278-276D-9ECB-5BE8CA6DB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25E129-A1C7-999D-783B-29C22D92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5D3-9887-4D88-AE0C-5D5A6CF77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810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5C9ED5-7E07-D1AF-B7E5-C2DD88329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9F343B-CF75-48AA-21F2-7BF289D71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06B33F-0E5C-4DC5-FA97-61809DB9B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1706AF-4690-B88A-5D38-EDB286368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43B0-FCED-4941-B2A1-6F1F3C50BCC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63342F-18AE-8CD0-A132-EB089CB94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AC40FD-36EC-F7AF-34A7-86607BCC5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5D3-9887-4D88-AE0C-5D5A6CF77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703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A2351-3CE2-F46C-D54B-04858682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6DBB5E-B5AA-160A-95CF-8093B991F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3E1AF-44D6-1088-1A8C-8F031D8A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43B0-FCED-4941-B2A1-6F1F3C50BCC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419F6D-8382-4DFA-C0F6-37E829B8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E92966-5153-9602-78C3-9722B720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5D3-9887-4D88-AE0C-5D5A6CF77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249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8FF218-5530-4808-A938-0068D201B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173E91-089D-79B0-9FC7-49A3071C4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6D2845-2E4B-660D-1550-12913D2E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43B0-FCED-4941-B2A1-6F1F3C50BCC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A3BF6-3E57-5813-1FA5-70A958F3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15AD68-886E-0F67-9F13-4B99213F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C95D3-9887-4D88-AE0C-5D5A6CF77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80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6B64C9-224E-7326-BD7B-2C2A7581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0CFF7F-BD32-F1CB-CCED-5C99A201F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F9EB34-F26E-CE7C-5C9E-D77AF571D1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943B0-FCED-4941-B2A1-6F1F3C50BCC6}" type="datetimeFigureOut">
              <a:rPr lang="ko-KR" altLang="en-US" smtClean="0"/>
              <a:t>2025. 11. 15.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9BAA97-0344-D08A-7139-F3D3712EF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8E09E8-AA3C-DFDE-4324-98C970EFE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C95D3-9887-4D88-AE0C-5D5A6CF77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66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A3B8E1-A4A5-33F5-1983-E8312E3D9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18" y="981275"/>
            <a:ext cx="7255948" cy="3343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A30EAC-F164-7F7F-132A-EB45E4F70B52}"/>
              </a:ext>
            </a:extLst>
          </p:cNvPr>
          <p:cNvSpPr txBox="1"/>
          <p:nvPr/>
        </p:nvSpPr>
        <p:spPr>
          <a:xfrm>
            <a:off x="563418" y="3279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CND_AN_COM_07_마이크로서비스정의서_v0.9_20251114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1B458-C0AC-FC90-56E5-BA452494C4C2}"/>
              </a:ext>
            </a:extLst>
          </p:cNvPr>
          <p:cNvSpPr txBox="1"/>
          <p:nvPr/>
        </p:nvSpPr>
        <p:spPr>
          <a:xfrm>
            <a:off x="7921805" y="1742699"/>
            <a:ext cx="408156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최종 도메인이 </a:t>
            </a:r>
            <a:r>
              <a:rPr lang="en-US" altLang="ko-KR" dirty="0">
                <a:highlight>
                  <a:srgbClr val="FFFF00"/>
                </a:highlight>
              </a:rPr>
              <a:t>27</a:t>
            </a:r>
            <a:r>
              <a:rPr lang="ko-KR" altLang="en-US" dirty="0">
                <a:highlight>
                  <a:srgbClr val="FFFF00"/>
                </a:highlight>
              </a:rPr>
              <a:t>개</a:t>
            </a:r>
            <a:r>
              <a:rPr lang="en-US" altLang="ko-KR" dirty="0">
                <a:highlight>
                  <a:srgbClr val="FFFF00"/>
                </a:highlight>
              </a:rPr>
              <a:t>?</a:t>
            </a:r>
          </a:p>
          <a:p>
            <a:r>
              <a:rPr lang="en-US" altLang="ko-KR" dirty="0">
                <a:highlight>
                  <a:srgbClr val="FFFF00"/>
                </a:highlight>
              </a:rPr>
              <a:t>-&gt; </a:t>
            </a:r>
            <a:r>
              <a:rPr lang="ko-KR" altLang="en-US" dirty="0">
                <a:highlight>
                  <a:srgbClr val="FFFF00"/>
                </a:highlight>
              </a:rPr>
              <a:t>서비스 도메인이 </a:t>
            </a:r>
            <a:r>
              <a:rPr lang="en-US" altLang="ko-KR" dirty="0">
                <a:highlight>
                  <a:srgbClr val="FFFF00"/>
                </a:highlight>
              </a:rPr>
              <a:t>27</a:t>
            </a:r>
            <a:r>
              <a:rPr lang="ko-KR" altLang="en-US" dirty="0">
                <a:highlight>
                  <a:srgbClr val="FFFF00"/>
                </a:highlight>
              </a:rPr>
              <a:t>개인가요</a:t>
            </a:r>
            <a:r>
              <a:rPr lang="en-US" altLang="ko-KR" dirty="0">
                <a:highlight>
                  <a:srgbClr val="FFFF00"/>
                </a:highlight>
              </a:rPr>
              <a:t>?</a:t>
            </a:r>
          </a:p>
          <a:p>
            <a:pPr marL="742950" lvl="1" indent="-285750">
              <a:buFontTx/>
              <a:buChar char="-"/>
            </a:pPr>
            <a:r>
              <a:rPr lang="ko-KR" altLang="en-US" dirty="0">
                <a:highlight>
                  <a:srgbClr val="FFFF00"/>
                </a:highlight>
              </a:rPr>
              <a:t>통합예약</a:t>
            </a:r>
            <a:r>
              <a:rPr lang="en-US" altLang="ko-KR" dirty="0">
                <a:highlight>
                  <a:srgbClr val="FFFF00"/>
                </a:highlight>
              </a:rPr>
              <a:t>: 14</a:t>
            </a:r>
            <a:r>
              <a:rPr lang="ko-KR" altLang="en-US" dirty="0">
                <a:highlight>
                  <a:srgbClr val="FFFF00"/>
                </a:highlight>
              </a:rPr>
              <a:t>개</a:t>
            </a:r>
            <a:endParaRPr lang="en-US" altLang="ko-KR" dirty="0">
              <a:highlight>
                <a:srgbClr val="FFFF00"/>
              </a:highlight>
            </a:endParaRPr>
          </a:p>
          <a:p>
            <a:pPr marL="742950" lvl="1" indent="-285750">
              <a:buFontTx/>
              <a:buChar char="-"/>
            </a:pPr>
            <a:r>
              <a:rPr lang="ko-KR" altLang="en-US" dirty="0">
                <a:highlight>
                  <a:srgbClr val="FFFF00"/>
                </a:highlight>
              </a:rPr>
              <a:t>평생학습</a:t>
            </a:r>
            <a:r>
              <a:rPr lang="en-US" altLang="ko-KR" dirty="0">
                <a:highlight>
                  <a:srgbClr val="FFFF00"/>
                </a:highlight>
              </a:rPr>
              <a:t>: 11</a:t>
            </a:r>
            <a:r>
              <a:rPr lang="ko-KR" altLang="en-US" dirty="0">
                <a:highlight>
                  <a:srgbClr val="FFFF00"/>
                </a:highlight>
              </a:rPr>
              <a:t>개</a:t>
            </a:r>
            <a:endParaRPr lang="en-US" altLang="ko-KR" dirty="0">
              <a:highlight>
                <a:srgbClr val="FFFF00"/>
              </a:highlight>
            </a:endParaRPr>
          </a:p>
          <a:p>
            <a:pPr marL="742950" lvl="1" indent="-285750">
              <a:buFontTx/>
              <a:buChar char="-"/>
            </a:pPr>
            <a:r>
              <a:rPr lang="ko-KR" altLang="en-US" dirty="0">
                <a:highlight>
                  <a:srgbClr val="FFFF00"/>
                </a:highlight>
              </a:rPr>
              <a:t>도서관문화강화</a:t>
            </a:r>
            <a:r>
              <a:rPr lang="en-US" altLang="ko-KR" dirty="0">
                <a:highlight>
                  <a:srgbClr val="FFFF00"/>
                </a:highlight>
              </a:rPr>
              <a:t>:2</a:t>
            </a:r>
            <a:r>
              <a:rPr lang="ko-KR" altLang="en-US" dirty="0">
                <a:highlight>
                  <a:srgbClr val="FFFF00"/>
                </a:highlight>
              </a:rPr>
              <a:t>개</a:t>
            </a:r>
            <a:endParaRPr lang="en-US" altLang="ko-KR" dirty="0">
              <a:highlight>
                <a:srgbClr val="FFFF00"/>
              </a:highlight>
            </a:endParaRPr>
          </a:p>
          <a:p>
            <a:pPr lvl="1"/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-&gt; </a:t>
            </a:r>
            <a:r>
              <a:rPr lang="ko-KR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정리된 도메인 수로 기재 필요</a:t>
            </a:r>
            <a:endParaRPr lang="en-US" altLang="ko-KR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742950" lvl="1" indent="-285750">
              <a:buFontTx/>
              <a:buChar char="-"/>
            </a:pPr>
            <a:endParaRPr lang="en-US" altLang="ko-KR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highlight>
                  <a:srgbClr val="FFFF00"/>
                </a:highlight>
              </a:rPr>
              <a:t>뒤에 도메인 분류 순서와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일치하도록 변경 권고</a:t>
            </a:r>
            <a:r>
              <a:rPr lang="en-US" altLang="ko-KR" dirty="0">
                <a:highlight>
                  <a:srgbClr val="FFFF00"/>
                </a:highlight>
              </a:rPr>
              <a:t>. </a:t>
            </a:r>
          </a:p>
          <a:p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평생학습</a:t>
            </a:r>
            <a:r>
              <a:rPr lang="en-US" altLang="ko-KR" dirty="0">
                <a:highlight>
                  <a:srgbClr val="FFFF00"/>
                </a:highlight>
              </a:rPr>
              <a:t>, </a:t>
            </a:r>
            <a:r>
              <a:rPr lang="ko-KR" altLang="en-US" dirty="0">
                <a:highlight>
                  <a:srgbClr val="FFFF00"/>
                </a:highlight>
              </a:rPr>
              <a:t>통합예약 순서였음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E97508E-9EF5-5B7A-43A5-979A0F3B9C0B}"/>
              </a:ext>
            </a:extLst>
          </p:cNvPr>
          <p:cNvSpPr/>
          <p:nvPr/>
        </p:nvSpPr>
        <p:spPr>
          <a:xfrm>
            <a:off x="563418" y="3556000"/>
            <a:ext cx="7255948" cy="4710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CD0A6C-5255-A842-A6F7-60CA61B16F0A}"/>
              </a:ext>
            </a:extLst>
          </p:cNvPr>
          <p:cNvSpPr txBox="1"/>
          <p:nvPr/>
        </p:nvSpPr>
        <p:spPr>
          <a:xfrm>
            <a:off x="3352800" y="5461000"/>
            <a:ext cx="6758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네 알겠습니다 </a:t>
            </a:r>
            <a:r>
              <a:rPr kumimoji="1" lang="ko-KR" altLang="en-US" dirty="0" err="1"/>
              <a:t>순서지키고</a:t>
            </a:r>
            <a:r>
              <a:rPr kumimoji="1" lang="ko-KR" altLang="en-US" dirty="0"/>
              <a:t> 뒤에 나올 </a:t>
            </a:r>
            <a:r>
              <a:rPr kumimoji="1" lang="ko-KR" altLang="en-US" dirty="0" err="1"/>
              <a:t>갯수</a:t>
            </a:r>
            <a:r>
              <a:rPr kumimoji="1" lang="ko-KR" altLang="en-US" dirty="0"/>
              <a:t> 맞춰 진행하겠습니다</a:t>
            </a:r>
          </a:p>
        </p:txBody>
      </p:sp>
    </p:spTree>
    <p:extLst>
      <p:ext uri="{BB962C8B-B14F-4D97-AF65-F5344CB8AC3E}">
        <p14:creationId xmlns:p14="http://schemas.microsoft.com/office/powerpoint/2010/main" val="3503697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1C4C650-DDB1-4F54-49D9-B9425C913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27" y="909751"/>
            <a:ext cx="7084292" cy="50384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B72093-2F48-AEEC-0AC1-76AEF1BFAF4C}"/>
              </a:ext>
            </a:extLst>
          </p:cNvPr>
          <p:cNvSpPr txBox="1"/>
          <p:nvPr/>
        </p:nvSpPr>
        <p:spPr>
          <a:xfrm>
            <a:off x="7841410" y="669728"/>
            <a:ext cx="382130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1. Auth, user, admin</a:t>
            </a:r>
            <a:r>
              <a:rPr lang="ko-KR" altLang="en-US" sz="1400" dirty="0"/>
              <a:t>이 서비스 도메인인가요</a:t>
            </a:r>
            <a:r>
              <a:rPr lang="en-US" altLang="ko-KR" sz="1400" dirty="0"/>
              <a:t>?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Auth,</a:t>
            </a:r>
            <a:r>
              <a:rPr lang="ko-KR" altLang="en-US" sz="1400" dirty="0"/>
              <a:t> 토큰의 부하면 서비스보다는</a:t>
            </a:r>
            <a:endParaRPr lang="en-US" altLang="ko-KR" sz="1400" dirty="0"/>
          </a:p>
          <a:p>
            <a:r>
              <a:rPr lang="en-US" altLang="ko-KR" sz="1400" dirty="0"/>
              <a:t>    </a:t>
            </a:r>
            <a:r>
              <a:rPr lang="ko-KR" altLang="en-US" sz="1400" dirty="0"/>
              <a:t>토큰의 처리는 </a:t>
            </a:r>
            <a:r>
              <a:rPr lang="en-US" altLang="ko-KR" sz="1400" dirty="0" err="1"/>
              <a:t>redis</a:t>
            </a:r>
            <a:r>
              <a:rPr lang="ko-KR" altLang="en-US" sz="1400" dirty="0"/>
              <a:t>등으로 처리 가능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즉</a:t>
            </a:r>
            <a:r>
              <a:rPr lang="en-US" altLang="ko-KR" sz="1400" dirty="0"/>
              <a:t>, Biz </a:t>
            </a:r>
            <a:r>
              <a:rPr lang="ko-KR" altLang="en-US" sz="1400" dirty="0"/>
              <a:t>기능인지 재확인 필요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User, admin</a:t>
            </a:r>
            <a:r>
              <a:rPr lang="ko-KR" altLang="en-US" sz="1400" dirty="0"/>
              <a:t>도 별도의 서비스인가요</a:t>
            </a:r>
            <a:r>
              <a:rPr lang="en-US" altLang="ko-KR" sz="1400" dirty="0"/>
              <a:t>?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5680C78-B5F9-45BB-F426-FCC99E1DA57D}"/>
              </a:ext>
            </a:extLst>
          </p:cNvPr>
          <p:cNvSpPr/>
          <p:nvPr/>
        </p:nvSpPr>
        <p:spPr>
          <a:xfrm>
            <a:off x="341747" y="1699491"/>
            <a:ext cx="7084292" cy="988291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A6B094-2BF0-5582-3BF5-27A9976EB5D1}"/>
              </a:ext>
            </a:extLst>
          </p:cNvPr>
          <p:cNvSpPr/>
          <p:nvPr/>
        </p:nvSpPr>
        <p:spPr>
          <a:xfrm>
            <a:off x="346362" y="2687783"/>
            <a:ext cx="7084292" cy="31403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3CA3CF-C85D-55EB-E948-353C7F7B6452}"/>
              </a:ext>
            </a:extLst>
          </p:cNvPr>
          <p:cNvSpPr txBox="1"/>
          <p:nvPr/>
        </p:nvSpPr>
        <p:spPr>
          <a:xfrm>
            <a:off x="7841410" y="2690336"/>
            <a:ext cx="359585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카프카는 비동기를 구현하기 위한</a:t>
            </a:r>
            <a:endParaRPr lang="en-US" altLang="ko-KR" sz="1400" dirty="0"/>
          </a:p>
          <a:p>
            <a:r>
              <a:rPr lang="ko-KR" altLang="en-US" sz="1400" dirty="0"/>
              <a:t>기술 요소</a:t>
            </a:r>
            <a:r>
              <a:rPr lang="en-US" altLang="ko-KR" sz="1400" dirty="0"/>
              <a:t>(</a:t>
            </a:r>
            <a:r>
              <a:rPr lang="ko-KR" altLang="en-US" sz="1400" dirty="0"/>
              <a:t>인프라</a:t>
            </a:r>
            <a:r>
              <a:rPr lang="en-US" altLang="ko-KR" sz="1400" dirty="0"/>
              <a:t>)</a:t>
            </a:r>
            <a:r>
              <a:rPr lang="ko-KR" altLang="en-US" sz="1400" dirty="0"/>
              <a:t>로 서비스 도메인은 아님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왜 도메인으로 분리하셨나요</a:t>
            </a:r>
            <a:r>
              <a:rPr lang="en-US" altLang="ko-KR" sz="1400" dirty="0"/>
              <a:t>?</a:t>
            </a:r>
            <a:endParaRPr lang="ko-KR" altLang="en-US" sz="14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B619E39-D82A-53D9-473D-ADCE3BF71B3D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7426039" y="1254504"/>
            <a:ext cx="415371" cy="939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70FBCF7-5CC5-5D8A-DD5F-4D091FD4FF8D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430654" y="2844801"/>
            <a:ext cx="410756" cy="214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8223DF0-02B0-0E67-F8F2-3D155C5B1670}"/>
              </a:ext>
            </a:extLst>
          </p:cNvPr>
          <p:cNvSpPr txBox="1"/>
          <p:nvPr/>
        </p:nvSpPr>
        <p:spPr>
          <a:xfrm>
            <a:off x="273888" y="300396"/>
            <a:ext cx="7468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u="sng" dirty="0"/>
              <a:t>기능분해 목록은 기술셋과 서비스 도메인이 혼재되어 있음 </a:t>
            </a:r>
            <a:r>
              <a:rPr lang="en-US" altLang="ko-KR" b="1" u="sng" dirty="0"/>
              <a:t>(</a:t>
            </a:r>
            <a:r>
              <a:rPr lang="ko-KR" altLang="en-US" b="1" u="sng" dirty="0"/>
              <a:t>정리 필요</a:t>
            </a:r>
            <a:r>
              <a:rPr lang="en-US" altLang="ko-KR" b="1" u="sng" dirty="0"/>
              <a:t>)</a:t>
            </a:r>
            <a:endParaRPr lang="ko-KR" altLang="en-US" b="1" u="sng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C408ED-5654-53F0-131C-E9B0ED95F7BD}"/>
              </a:ext>
            </a:extLst>
          </p:cNvPr>
          <p:cNvSpPr txBox="1"/>
          <p:nvPr/>
        </p:nvSpPr>
        <p:spPr>
          <a:xfrm>
            <a:off x="7841410" y="3849170"/>
            <a:ext cx="38940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알림 </a:t>
            </a:r>
            <a:r>
              <a:rPr lang="en-US" altLang="ko-KR" sz="1400" dirty="0"/>
              <a:t>(Notification, Notify)</a:t>
            </a:r>
            <a:r>
              <a:rPr lang="ko-KR" altLang="en-US" sz="1400" dirty="0"/>
              <a:t> 는 도메인으로</a:t>
            </a:r>
            <a:endParaRPr lang="en-US" altLang="ko-KR" sz="1400" dirty="0"/>
          </a:p>
          <a:p>
            <a:r>
              <a:rPr lang="ko-KR" altLang="en-US" sz="1400" dirty="0"/>
              <a:t>분리가 </a:t>
            </a:r>
            <a:r>
              <a:rPr lang="ko-KR" altLang="en-US" sz="1400" dirty="0" err="1"/>
              <a:t>맞을것으로</a:t>
            </a:r>
            <a:r>
              <a:rPr lang="ko-KR" altLang="en-US" sz="1400" dirty="0"/>
              <a:t> 판단</a:t>
            </a:r>
            <a:r>
              <a:rPr lang="en-US" altLang="ko-KR" sz="1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sz="1400" dirty="0"/>
              <a:t>A</a:t>
            </a:r>
            <a:r>
              <a:rPr lang="ko-KR" altLang="en-US" sz="1400" dirty="0"/>
              <a:t>서비스에서 비동기로 알림 서비스로 전달</a:t>
            </a:r>
            <a:endParaRPr lang="en-US" altLang="ko-KR" sz="1400" dirty="0"/>
          </a:p>
          <a:p>
            <a:r>
              <a:rPr lang="en-US" altLang="ko-KR" sz="1400" dirty="0"/>
              <a:t>  (A</a:t>
            </a:r>
            <a:r>
              <a:rPr lang="ko-KR" altLang="en-US" sz="1400" dirty="0"/>
              <a:t>서비스 </a:t>
            </a:r>
            <a:r>
              <a:rPr lang="en-US" altLang="ko-KR" sz="1400" dirty="0"/>
              <a:t>-&gt; </a:t>
            </a:r>
            <a:r>
              <a:rPr lang="en-US" altLang="ko-KR" sz="1400" dirty="0" err="1"/>
              <a:t>kafka</a:t>
            </a:r>
            <a:r>
              <a:rPr lang="en-US" altLang="ko-KR" sz="1400" dirty="0"/>
              <a:t> -&gt; </a:t>
            </a:r>
            <a:r>
              <a:rPr lang="ko-KR" altLang="en-US" sz="1400" dirty="0" err="1"/>
              <a:t>알림서비스</a:t>
            </a:r>
            <a:r>
              <a:rPr lang="en-US" altLang="ko-KR" sz="1400" dirty="0"/>
              <a:t>)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CCB14C6-3169-6BA2-2C27-8E2A80E121FC}"/>
              </a:ext>
            </a:extLst>
          </p:cNvPr>
          <p:cNvCxnSpPr>
            <a:cxnSpLocks/>
          </p:cNvCxnSpPr>
          <p:nvPr/>
        </p:nvCxnSpPr>
        <p:spPr>
          <a:xfrm>
            <a:off x="7342909" y="3070385"/>
            <a:ext cx="628073" cy="1304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31F2B07-6DAF-07E9-718D-583A22424248}"/>
              </a:ext>
            </a:extLst>
          </p:cNvPr>
          <p:cNvSpPr txBox="1"/>
          <p:nvPr/>
        </p:nvSpPr>
        <p:spPr>
          <a:xfrm>
            <a:off x="7742599" y="5726607"/>
            <a:ext cx="4227439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정리하면 </a:t>
            </a:r>
            <a:r>
              <a:rPr lang="en-US" altLang="ko-KR" dirty="0"/>
              <a:t>11</a:t>
            </a:r>
            <a:r>
              <a:rPr lang="ko-KR" altLang="en-US" dirty="0"/>
              <a:t>개의 서비스</a:t>
            </a:r>
            <a:r>
              <a:rPr lang="en-US" altLang="ko-KR" dirty="0"/>
              <a:t> </a:t>
            </a:r>
            <a:r>
              <a:rPr lang="ko-KR" altLang="en-US" dirty="0"/>
              <a:t>도메인이 아님</a:t>
            </a:r>
            <a:endParaRPr lang="en-US" altLang="ko-KR" dirty="0"/>
          </a:p>
          <a:p>
            <a:r>
              <a:rPr lang="ko-KR" altLang="en-US" dirty="0"/>
              <a:t>오해의 소지가 있을 수 있음</a:t>
            </a:r>
            <a:r>
              <a:rPr lang="en-US" altLang="ko-KR" dirty="0"/>
              <a:t>. </a:t>
            </a:r>
          </a:p>
          <a:p>
            <a:r>
              <a:rPr lang="ko-KR" altLang="en-US" u="sng" dirty="0"/>
              <a:t>정리된 표로 뒷부분에 작성 권고</a:t>
            </a:r>
            <a:endParaRPr lang="en-US" altLang="ko-KR" u="sn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A3357A-87D6-9E40-BAB9-4FA6EE599DD5}"/>
              </a:ext>
            </a:extLst>
          </p:cNvPr>
          <p:cNvSpPr txBox="1"/>
          <p:nvPr/>
        </p:nvSpPr>
        <p:spPr>
          <a:xfrm>
            <a:off x="221962" y="5612158"/>
            <a:ext cx="7453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auth</a:t>
            </a:r>
            <a:r>
              <a:rPr kumimoji="1" lang="ko-KR" altLang="en-US" dirty="0"/>
              <a:t>는 </a:t>
            </a:r>
            <a:r>
              <a:rPr kumimoji="1" lang="ko-KR" altLang="en-US" dirty="0" err="1"/>
              <a:t>비즈기능아님</a:t>
            </a:r>
            <a:r>
              <a:rPr kumimoji="1" lang="en-US" altLang="ko-KR" dirty="0"/>
              <a:t>.</a:t>
            </a:r>
            <a:r>
              <a:rPr kumimoji="1" lang="ko-KR" altLang="en-US" dirty="0"/>
              <a:t> 지원도메인으로 변경</a:t>
            </a:r>
            <a:endParaRPr kumimoji="1" lang="en-US" altLang="ko-KR" dirty="0"/>
          </a:p>
          <a:p>
            <a:r>
              <a:rPr kumimoji="1" lang="ko-KR" altLang="en-US" dirty="0"/>
              <a:t>카프카는 </a:t>
            </a:r>
            <a:r>
              <a:rPr kumimoji="1" lang="en-US" altLang="ko-KR" dirty="0"/>
              <a:t>..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컨슈머를</a:t>
            </a:r>
            <a:r>
              <a:rPr kumimoji="1" lang="ko-KR" altLang="en-US" dirty="0"/>
              <a:t> 다 모아두려고 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예를들어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알람발송은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API</a:t>
            </a:r>
            <a:r>
              <a:rPr kumimoji="1" lang="ko-KR" altLang="en-US" dirty="0"/>
              <a:t>로 </a:t>
            </a:r>
            <a:r>
              <a:rPr kumimoji="1" lang="ko-KR" altLang="en-US" dirty="0" err="1"/>
              <a:t>해결되는걸로</a:t>
            </a:r>
            <a:r>
              <a:rPr kumimoji="1" lang="ko-KR" altLang="en-US" dirty="0"/>
              <a:t> 인프라 </a:t>
            </a:r>
            <a:r>
              <a:rPr kumimoji="1" lang="ko-KR" altLang="en-US" dirty="0" err="1"/>
              <a:t>설계중으로</a:t>
            </a:r>
            <a:r>
              <a:rPr kumimoji="1" lang="ko-KR" altLang="en-US" dirty="0"/>
              <a:t> 알고있다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그렇다면 알람서비스는 제가 그림을 </a:t>
            </a:r>
            <a:r>
              <a:rPr kumimoji="1" lang="ko-KR" altLang="en-US" dirty="0" err="1"/>
              <a:t>잘못그린</a:t>
            </a:r>
            <a:r>
              <a:rPr kumimoji="1" lang="ko-KR" altLang="en-US" dirty="0"/>
              <a:t> 것이다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441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47D080-4D8A-FDF7-1604-2E16E3C54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24" y="424872"/>
            <a:ext cx="7794077" cy="5404310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045B0ED-C2AA-384B-2B50-9A3385D5BF1B}"/>
              </a:ext>
            </a:extLst>
          </p:cNvPr>
          <p:cNvSpPr/>
          <p:nvPr/>
        </p:nvSpPr>
        <p:spPr>
          <a:xfrm>
            <a:off x="230910" y="323272"/>
            <a:ext cx="8146471" cy="1524001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5BD4A-0E19-1E7F-364D-4232C3CACBE2}"/>
              </a:ext>
            </a:extLst>
          </p:cNvPr>
          <p:cNvSpPr txBox="1"/>
          <p:nvPr/>
        </p:nvSpPr>
        <p:spPr>
          <a:xfrm>
            <a:off x="8774545" y="1136073"/>
            <a:ext cx="2656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평생학습과 동일한 의견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정리 필요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650E5DC-7E2C-BD32-749F-77C2F5684A71}"/>
              </a:ext>
            </a:extLst>
          </p:cNvPr>
          <p:cNvSpPr/>
          <p:nvPr/>
        </p:nvSpPr>
        <p:spPr>
          <a:xfrm>
            <a:off x="249382" y="3127027"/>
            <a:ext cx="8146471" cy="1329519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404DE-EBF8-D73B-5A69-C734689E5A0C}"/>
              </a:ext>
            </a:extLst>
          </p:cNvPr>
          <p:cNvSpPr txBox="1"/>
          <p:nvPr/>
        </p:nvSpPr>
        <p:spPr>
          <a:xfrm>
            <a:off x="8592904" y="3127027"/>
            <a:ext cx="35125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예약은 체육시설예약 등으로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통합될 것으로 판단되나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결제는 별도 제시되어 있지 않음</a:t>
            </a:r>
            <a:endParaRPr lang="en-US" altLang="ko-KR" dirty="0">
              <a:highlight>
                <a:srgbClr val="FFFF00"/>
              </a:highlight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highlight>
                  <a:srgbClr val="FFFF00"/>
                </a:highlight>
              </a:rPr>
              <a:t>어디에 있나요</a:t>
            </a:r>
            <a:r>
              <a:rPr lang="en-US" altLang="ko-KR" dirty="0">
                <a:highlight>
                  <a:srgbClr val="FFFF00"/>
                </a:highlight>
              </a:rPr>
              <a:t>?</a:t>
            </a:r>
          </a:p>
          <a:p>
            <a:endParaRPr lang="en-US" altLang="ko-KR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highlight>
                  <a:srgbClr val="FFFF00"/>
                </a:highlight>
              </a:rPr>
              <a:t>앞에서 최종 결론이 </a:t>
            </a:r>
            <a:r>
              <a:rPr lang="en-US" altLang="ko-KR" dirty="0">
                <a:highlight>
                  <a:srgbClr val="FFFF00"/>
                </a:highlight>
              </a:rPr>
              <a:t>14</a:t>
            </a:r>
            <a:r>
              <a:rPr lang="ko-KR" altLang="en-US" dirty="0">
                <a:highlight>
                  <a:srgbClr val="FFFF00"/>
                </a:highlight>
              </a:rPr>
              <a:t>개로</a:t>
            </a:r>
            <a:endParaRPr lang="en-US" altLang="ko-KR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highlight>
                  <a:srgbClr val="FFFF00"/>
                </a:highlight>
              </a:rPr>
              <a:t>기재되어 있으나 실제 </a:t>
            </a:r>
            <a:r>
              <a:rPr lang="en-US" altLang="ko-KR" dirty="0">
                <a:highlight>
                  <a:srgbClr val="FFFF00"/>
                </a:highlight>
              </a:rPr>
              <a:t>15</a:t>
            </a:r>
            <a:r>
              <a:rPr lang="ko-KR" altLang="en-US" dirty="0">
                <a:highlight>
                  <a:srgbClr val="FFFF00"/>
                </a:highlight>
              </a:rPr>
              <a:t>개임</a:t>
            </a:r>
            <a:endParaRPr lang="en-US" altLang="ko-KR" dirty="0">
              <a:highlight>
                <a:srgbClr val="FFFF00"/>
              </a:highlight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 err="1">
                <a:highlight>
                  <a:srgbClr val="FFFF00"/>
                </a:highlight>
              </a:rPr>
              <a:t>미반영건</a:t>
            </a:r>
            <a:r>
              <a:rPr lang="ko-KR" altLang="en-US" dirty="0">
                <a:highlight>
                  <a:srgbClr val="FFFF00"/>
                </a:highlight>
              </a:rPr>
              <a:t> 제외하면 </a:t>
            </a:r>
            <a:r>
              <a:rPr lang="en-US" altLang="ko-KR" dirty="0">
                <a:highlight>
                  <a:srgbClr val="FFFF00"/>
                </a:highlight>
              </a:rPr>
              <a:t>13</a:t>
            </a:r>
            <a:r>
              <a:rPr lang="ko-KR" altLang="en-US" dirty="0">
                <a:highlight>
                  <a:srgbClr val="FFFF00"/>
                </a:highlight>
              </a:rPr>
              <a:t>개임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6E5C65-E346-F485-3617-36B37AE14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91" y="5930782"/>
            <a:ext cx="5319908" cy="8859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315821-4DA6-7049-B034-A3E50A2075D2}"/>
              </a:ext>
            </a:extLst>
          </p:cNvPr>
          <p:cNvSpPr txBox="1"/>
          <p:nvPr/>
        </p:nvSpPr>
        <p:spPr>
          <a:xfrm>
            <a:off x="6181009" y="5579645"/>
            <a:ext cx="55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하나의 서비스가 조회</a:t>
            </a:r>
            <a:r>
              <a:rPr kumimoji="1" lang="en-US" altLang="ko-KR" dirty="0"/>
              <a:t>,</a:t>
            </a:r>
            <a:r>
              <a:rPr kumimoji="1" lang="ko-KR" altLang="en-US" dirty="0"/>
              <a:t>예약</a:t>
            </a:r>
            <a:r>
              <a:rPr kumimoji="1" lang="en-US" altLang="ko-KR" dirty="0"/>
              <a:t>,</a:t>
            </a:r>
            <a:r>
              <a:rPr kumimoji="1" lang="ko-KR" altLang="en-US" dirty="0"/>
              <a:t>결제로 마무리 되도록 설계하였다 문서의 표를 보니 </a:t>
            </a:r>
            <a:r>
              <a:rPr kumimoji="1" lang="ko-KR" altLang="en-US" dirty="0" err="1"/>
              <a:t>헷깔리게</a:t>
            </a:r>
            <a:r>
              <a:rPr kumimoji="1" lang="ko-KR" altLang="en-US" dirty="0"/>
              <a:t> 작성되어 지적감사하다 </a:t>
            </a:r>
            <a:endParaRPr kumimoji="1" lang="en-US" altLang="ko-KR" dirty="0"/>
          </a:p>
          <a:p>
            <a:r>
              <a:rPr kumimoji="1" lang="ko-KR" altLang="en-US" dirty="0" err="1"/>
              <a:t>통합예약은</a:t>
            </a:r>
            <a:r>
              <a:rPr kumimoji="1" lang="ko-KR" altLang="en-US" dirty="0"/>
              <a:t> 코어</a:t>
            </a:r>
            <a:r>
              <a:rPr kumimoji="1" lang="en-US" altLang="ko-KR" dirty="0"/>
              <a:t>2</a:t>
            </a:r>
            <a:r>
              <a:rPr kumimoji="1" lang="ko-KR" altLang="en-US" dirty="0"/>
              <a:t> </a:t>
            </a:r>
            <a:r>
              <a:rPr kumimoji="1" lang="en-US" altLang="ko-KR" dirty="0"/>
              <a:t>/</a:t>
            </a:r>
            <a:r>
              <a:rPr kumimoji="1" lang="ko-KR" altLang="en-US" dirty="0"/>
              <a:t> 일반</a:t>
            </a:r>
            <a:r>
              <a:rPr kumimoji="1" lang="en-US" altLang="ko-KR" dirty="0"/>
              <a:t>8</a:t>
            </a:r>
            <a:r>
              <a:rPr kumimoji="1" lang="ko-KR" altLang="en-US" dirty="0"/>
              <a:t> </a:t>
            </a:r>
            <a:r>
              <a:rPr kumimoji="1" lang="en-US" altLang="ko-KR" dirty="0"/>
              <a:t>/</a:t>
            </a:r>
            <a:r>
              <a:rPr kumimoji="1" lang="ko-KR" altLang="en-US" dirty="0"/>
              <a:t> 지원</a:t>
            </a:r>
            <a:r>
              <a:rPr kumimoji="1" lang="en-US" altLang="ko-KR" dirty="0"/>
              <a:t>3(auth)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0934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703E89-7877-2C2A-A39F-3E70F08F35EC}"/>
              </a:ext>
            </a:extLst>
          </p:cNvPr>
          <p:cNvSpPr txBox="1"/>
          <p:nvPr/>
        </p:nvSpPr>
        <p:spPr>
          <a:xfrm>
            <a:off x="522432" y="179065"/>
            <a:ext cx="10424649" cy="6271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[</a:t>
            </a:r>
            <a:r>
              <a:rPr lang="ko-KR" altLang="en-US" dirty="0"/>
              <a:t>자문 의견</a:t>
            </a:r>
            <a:r>
              <a:rPr lang="en-US" altLang="ko-KR" dirty="0"/>
              <a:t>]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기술셋과 서비스 도메인 다시한번 더 정리 필요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(1) Auth </a:t>
            </a:r>
            <a:r>
              <a:rPr lang="ko-KR" altLang="en-US" dirty="0"/>
              <a:t>도메인 분리 시 </a:t>
            </a:r>
            <a:r>
              <a:rPr lang="en-US" altLang="ko-KR" dirty="0"/>
              <a:t>Biz</a:t>
            </a:r>
            <a:r>
              <a:rPr lang="ko-KR" altLang="en-US" dirty="0"/>
              <a:t>를 처리하는지</a:t>
            </a:r>
            <a:r>
              <a:rPr lang="en-US" altLang="ko-KR" dirty="0"/>
              <a:t>, </a:t>
            </a:r>
            <a:r>
              <a:rPr lang="ko-KR" altLang="en-US" dirty="0"/>
              <a:t>단순히 토큰만을 임시로 보유할 것인지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 의견</a:t>
            </a:r>
            <a:r>
              <a:rPr lang="en-US" altLang="ko-KR" dirty="0"/>
              <a:t>1) API G/W</a:t>
            </a:r>
            <a:r>
              <a:rPr lang="ko-KR" altLang="en-US" dirty="0"/>
              <a:t>를 통과 후 토큰은 </a:t>
            </a:r>
            <a:r>
              <a:rPr lang="en-US" altLang="ko-KR" dirty="0" err="1"/>
              <a:t>redis</a:t>
            </a:r>
            <a:r>
              <a:rPr lang="ko-KR" altLang="en-US" dirty="0"/>
              <a:t>로 저장</a:t>
            </a:r>
            <a:r>
              <a:rPr lang="en-US" altLang="ko-KR" dirty="0"/>
              <a:t>. </a:t>
            </a:r>
            <a:r>
              <a:rPr lang="ko-KR" altLang="en-US" dirty="0"/>
              <a:t>세션 유지 시에만 임시 보유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           </a:t>
            </a:r>
            <a:r>
              <a:rPr lang="ko-KR" altLang="en-US" dirty="0"/>
              <a:t>인증</a:t>
            </a:r>
            <a:r>
              <a:rPr lang="en-US" altLang="ko-KR" dirty="0"/>
              <a:t>, </a:t>
            </a:r>
            <a:r>
              <a:rPr lang="ko-KR" altLang="en-US" dirty="0"/>
              <a:t>인가에 대한 </a:t>
            </a:r>
            <a:r>
              <a:rPr lang="en-US" altLang="ko-KR" dirty="0"/>
              <a:t>Biz </a:t>
            </a:r>
            <a:r>
              <a:rPr lang="ko-KR" altLang="en-US" dirty="0"/>
              <a:t>로직 처리를 가지고 있지 않다면 도메인 분리는 적합하지 않음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(2) Biz</a:t>
            </a:r>
            <a:r>
              <a:rPr lang="ko-KR" altLang="en-US" dirty="0"/>
              <a:t> 로직을 처리하는 것이 아니라면 도메인은 아님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- </a:t>
            </a:r>
            <a:r>
              <a:rPr lang="en-US" altLang="ko-KR" dirty="0" err="1"/>
              <a:t>kafka</a:t>
            </a:r>
            <a:r>
              <a:rPr lang="ko-KR" altLang="en-US" dirty="0"/>
              <a:t>는 기술이지</a:t>
            </a:r>
            <a:r>
              <a:rPr lang="en-US" altLang="ko-KR" dirty="0"/>
              <a:t>, Biz </a:t>
            </a:r>
            <a:r>
              <a:rPr lang="ko-KR" altLang="en-US" dirty="0"/>
              <a:t>로직은 아님</a:t>
            </a:r>
            <a:r>
              <a:rPr lang="en-US" altLang="ko-KR" dirty="0"/>
              <a:t>, </a:t>
            </a:r>
            <a:r>
              <a:rPr lang="ko-KR" altLang="en-US" dirty="0"/>
              <a:t>실제 </a:t>
            </a:r>
            <a:r>
              <a:rPr lang="en-US" altLang="ko-KR" dirty="0"/>
              <a:t>Biz</a:t>
            </a:r>
            <a:r>
              <a:rPr lang="ko-KR" altLang="en-US" dirty="0"/>
              <a:t>는 서비스가 가지고 있음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(3) user, admin</a:t>
            </a:r>
            <a:r>
              <a:rPr lang="ko-KR" altLang="en-US" dirty="0"/>
              <a:t>는 </a:t>
            </a:r>
            <a:r>
              <a:rPr lang="en-US" altLang="ko-KR" dirty="0"/>
              <a:t>Biz </a:t>
            </a:r>
            <a:r>
              <a:rPr lang="ko-KR" altLang="en-US" dirty="0"/>
              <a:t>로직이 있는지</a:t>
            </a:r>
            <a:r>
              <a:rPr lang="en-US" altLang="ko-KR" dirty="0"/>
              <a:t>, </a:t>
            </a:r>
            <a:r>
              <a:rPr lang="ko-KR" altLang="en-US" dirty="0"/>
              <a:t>있다면 두개로 분리 하는 것이 맞을지 고민 필요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  (</a:t>
            </a:r>
            <a:r>
              <a:rPr lang="ko-KR" altLang="en-US" dirty="0"/>
              <a:t>사용자 유형</a:t>
            </a:r>
            <a:r>
              <a:rPr lang="en-US" altLang="ko-KR" dirty="0"/>
              <a:t>, </a:t>
            </a:r>
            <a:r>
              <a:rPr lang="ko-KR" altLang="en-US" dirty="0"/>
              <a:t>접근 권한의 차이 일 것이라 추측됨</a:t>
            </a:r>
            <a:r>
              <a:rPr lang="en-US" altLang="ko-KR" dirty="0"/>
              <a:t>.)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ko-KR" altLang="en-US" dirty="0"/>
              <a:t>서비스 도메인의 정리된 내용으로 최종 결과를 일관성 있게 기재 필요함</a:t>
            </a:r>
            <a:r>
              <a:rPr lang="en-US" altLang="ko-KR" dirty="0"/>
              <a:t>. 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(</a:t>
            </a:r>
            <a:r>
              <a:rPr lang="ko-KR" altLang="en-US" dirty="0"/>
              <a:t>결과는 앞에 있고</a:t>
            </a:r>
            <a:r>
              <a:rPr lang="en-US" altLang="ko-KR" dirty="0"/>
              <a:t>, </a:t>
            </a:r>
            <a:r>
              <a:rPr lang="ko-KR" altLang="en-US" dirty="0"/>
              <a:t>일관성 있게 개수</a:t>
            </a:r>
            <a:r>
              <a:rPr lang="en-US" altLang="ko-KR" dirty="0"/>
              <a:t>, </a:t>
            </a:r>
            <a:r>
              <a:rPr lang="ko-KR" altLang="en-US" dirty="0"/>
              <a:t>서비스 도메인명 명기 필요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 startAt="3"/>
            </a:pPr>
            <a:r>
              <a:rPr lang="ko-KR" altLang="en-US" dirty="0"/>
              <a:t>작성사례는 다음 페이지 참조</a:t>
            </a:r>
            <a:r>
              <a:rPr lang="en-US" altLang="ko-KR" dirty="0"/>
              <a:t> </a:t>
            </a:r>
            <a:r>
              <a:rPr lang="ko-KR" altLang="en-US" dirty="0"/>
              <a:t>바람</a:t>
            </a:r>
            <a:r>
              <a:rPr lang="en-US" altLang="ko-KR" dirty="0"/>
              <a:t>. 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- ISP</a:t>
            </a:r>
            <a:r>
              <a:rPr lang="ko-KR" altLang="en-US" dirty="0"/>
              <a:t>와 다르게 최종 도출된 결과를 표현하기 위해 분해 원칙을 추가해서 구분 권고</a:t>
            </a:r>
            <a:endParaRPr lang="en-US" altLang="ko-KR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0D17ACA-37E6-4403-9B68-6EBE574A8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335" y="407666"/>
            <a:ext cx="4239192" cy="6029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10A191-E4AC-457B-26E2-898E72C1CC89}"/>
              </a:ext>
            </a:extLst>
          </p:cNvPr>
          <p:cNvSpPr txBox="1"/>
          <p:nvPr/>
        </p:nvSpPr>
        <p:spPr>
          <a:xfrm>
            <a:off x="10711699" y="12936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제안요청서</a:t>
            </a:r>
          </a:p>
        </p:txBody>
      </p:sp>
    </p:spTree>
    <p:extLst>
      <p:ext uri="{BB962C8B-B14F-4D97-AF65-F5344CB8AC3E}">
        <p14:creationId xmlns:p14="http://schemas.microsoft.com/office/powerpoint/2010/main" val="5587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A8F4393-858F-9D6E-807F-9656C14E7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1CB496D-7D1B-4EB4-260E-7C131C635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321489"/>
              </p:ext>
            </p:extLst>
          </p:nvPr>
        </p:nvGraphicFramePr>
        <p:xfrm>
          <a:off x="517647" y="1146086"/>
          <a:ext cx="10839297" cy="5396890"/>
        </p:xfrm>
        <a:graphic>
          <a:graphicData uri="http://schemas.openxmlformats.org/drawingml/2006/table">
            <a:tbl>
              <a:tblPr/>
              <a:tblGrid>
                <a:gridCol w="523394">
                  <a:extLst>
                    <a:ext uri="{9D8B030D-6E8A-4147-A177-3AD203B41FA5}">
                      <a16:colId xmlns:a16="http://schemas.microsoft.com/office/drawing/2014/main" val="2105645127"/>
                    </a:ext>
                  </a:extLst>
                </a:gridCol>
                <a:gridCol w="832579">
                  <a:extLst>
                    <a:ext uri="{9D8B030D-6E8A-4147-A177-3AD203B41FA5}">
                      <a16:colId xmlns:a16="http://schemas.microsoft.com/office/drawing/2014/main" val="367472033"/>
                    </a:ext>
                  </a:extLst>
                </a:gridCol>
                <a:gridCol w="898136">
                  <a:extLst>
                    <a:ext uri="{9D8B030D-6E8A-4147-A177-3AD203B41FA5}">
                      <a16:colId xmlns:a16="http://schemas.microsoft.com/office/drawing/2014/main" val="2826563264"/>
                    </a:ext>
                  </a:extLst>
                </a:gridCol>
                <a:gridCol w="1011052">
                  <a:extLst>
                    <a:ext uri="{9D8B030D-6E8A-4147-A177-3AD203B41FA5}">
                      <a16:colId xmlns:a16="http://schemas.microsoft.com/office/drawing/2014/main" val="1672847921"/>
                    </a:ext>
                  </a:extLst>
                </a:gridCol>
                <a:gridCol w="829864">
                  <a:extLst>
                    <a:ext uri="{9D8B030D-6E8A-4147-A177-3AD203B41FA5}">
                      <a16:colId xmlns:a16="http://schemas.microsoft.com/office/drawing/2014/main" val="2655085598"/>
                    </a:ext>
                  </a:extLst>
                </a:gridCol>
                <a:gridCol w="588568">
                  <a:extLst>
                    <a:ext uri="{9D8B030D-6E8A-4147-A177-3AD203B41FA5}">
                      <a16:colId xmlns:a16="http://schemas.microsoft.com/office/drawing/2014/main" val="2682313560"/>
                    </a:ext>
                  </a:extLst>
                </a:gridCol>
                <a:gridCol w="1093509">
                  <a:extLst>
                    <a:ext uri="{9D8B030D-6E8A-4147-A177-3AD203B41FA5}">
                      <a16:colId xmlns:a16="http://schemas.microsoft.com/office/drawing/2014/main" val="2125761719"/>
                    </a:ext>
                  </a:extLst>
                </a:gridCol>
                <a:gridCol w="2149311">
                  <a:extLst>
                    <a:ext uri="{9D8B030D-6E8A-4147-A177-3AD203B41FA5}">
                      <a16:colId xmlns:a16="http://schemas.microsoft.com/office/drawing/2014/main" val="184373505"/>
                    </a:ext>
                  </a:extLst>
                </a:gridCol>
                <a:gridCol w="2912884">
                  <a:extLst>
                    <a:ext uri="{9D8B030D-6E8A-4147-A177-3AD203B41FA5}">
                      <a16:colId xmlns:a16="http://schemas.microsoft.com/office/drawing/2014/main" val="925645427"/>
                    </a:ext>
                  </a:extLst>
                </a:gridCol>
              </a:tblGrid>
              <a:tr h="210974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No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대상서비스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ISP</a:t>
                      </a:r>
                      <a:endParaRPr 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기능분해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(DDD)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유형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분해 원칙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의견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829747"/>
                  </a:ext>
                </a:extLst>
              </a:tr>
              <a:tr h="210974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auth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auth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9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토큰 유지에 따른 부하 부산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재검토 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: </a:t>
                      </a:r>
                    </a:p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인증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인가 같은 서비스인지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단순 토큰 </a:t>
                      </a: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유지용인지에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 따라 서비스 분리 여부 고려</a:t>
                      </a:r>
                      <a:endParaRPr lang="en-US" altLang="ko-KR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171450" marR="0" indent="-171450" algn="l" fontAlgn="ctr" latinLnBrk="0">
                        <a:lnSpc>
                          <a:spcPct val="100000"/>
                        </a:lnSpc>
                        <a:buFontTx/>
                        <a:buChar char="-"/>
                      </a:pP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Redis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로 연결하여 처리도 가능함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 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672901"/>
                  </a:ext>
                </a:extLst>
              </a:tr>
              <a:tr h="34283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dirty="0">
                        <a:effectLst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user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(core domain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로직 처리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재검토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어떤 처리가 있는지요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?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비즈니스를 가지나요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?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960589"/>
                  </a:ext>
                </a:extLst>
              </a:tr>
              <a:tr h="34283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>
                        <a:effectLst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admin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(core domain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로직 처리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관리자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재검토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18232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strike="noStrike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맑은 고딕" panose="020B0503020000020004" pitchFamily="50" charset="-127"/>
                        </a:rPr>
                        <a:t>4</a:t>
                      </a:r>
                      <a:endParaRPr lang="ko-KR" altLang="en-US" sz="1000" strike="noStrike" kern="0" spc="0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strike="noStrike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strike="noStrike" kern="0" spc="0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strike="noStrike" dirty="0">
                        <a:effectLst/>
                        <a:highlight>
                          <a:srgbClr val="C0C0C0"/>
                        </a:highlight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strike="noStrike" kern="0" spc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kafka</a:t>
                      </a:r>
                      <a:endParaRPr lang="en-US" sz="1000" strike="noStrike" kern="0" spc="0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900" strike="noStrike" kern="0" spc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kafka</a:t>
                      </a:r>
                      <a:endParaRPr lang="en-US" sz="1000" strike="noStrike" kern="0" spc="0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맑은 고딕" panose="020B0503020000020004" pitchFamily="50" charset="-127"/>
                        </a:rPr>
                        <a:t>삭제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b="1" strike="noStrike" kern="0" spc="0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strike="noStrike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</a:t>
                      </a:r>
                      <a:r>
                        <a:rPr lang="en-US" altLang="ko-KR" sz="900" b="1" strike="noStrike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strike="noStrike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비동기 처리 담당</a:t>
                      </a:r>
                      <a:r>
                        <a:rPr lang="en-US" altLang="ko-KR" sz="900" b="1" strike="noStrike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C0C0C0"/>
                          </a:highligh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strike="noStrike" kern="0" spc="0" dirty="0">
                        <a:solidFill>
                          <a:srgbClr val="000000"/>
                        </a:solidFill>
                        <a:effectLst/>
                        <a:highlight>
                          <a:srgbClr val="C0C0C0"/>
                        </a:highlight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삭제 필요</a:t>
                      </a:r>
                      <a:endParaRPr lang="en-US" altLang="ko-KR" sz="1000" b="1" strike="noStrike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로직을 담고 있는 서비스는 아님</a:t>
                      </a:r>
                      <a:r>
                        <a:rPr lang="en-US" altLang="ko-KR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. </a:t>
                      </a:r>
                    </a:p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strike="noStrike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서비스에서 비동기로 연결하는 통신 방식임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882277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5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>
                        <a:effectLst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</a:t>
                      </a:r>
                      <a:r>
                        <a:rPr lang="en-US" altLang="ko-KR" sz="900" b="1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noti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비동기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431560"/>
                  </a:ext>
                </a:extLst>
              </a:tr>
              <a:tr h="357346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6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>
                        <a:effectLst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서비스통계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서비스통계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2, 4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 수집 및 통계 서비스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849692"/>
                  </a:ext>
                </a:extLst>
              </a:tr>
              <a:tr h="210974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7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수강관리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수강관리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수강관리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958091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8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>
                        <a:effectLst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강좌관리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강좌관리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부하 분산을 위해 분리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365794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9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>
                        <a:effectLst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기관관리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기관관리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743894"/>
                  </a:ext>
                </a:extLst>
              </a:tr>
              <a:tr h="210974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10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274171"/>
                  </a:ext>
                </a:extLst>
              </a:tr>
              <a:tr h="210974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11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643016"/>
                  </a:ext>
                </a:extLst>
              </a:tr>
              <a:tr h="34283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12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마이페이지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기관관리자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>
                        <a:effectLst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dirty="0">
                        <a:effectLst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삭제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기능을 포털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기관관리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강좌관리 서비스로 분산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포털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 기관관리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강좌관리로 통합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613124"/>
                  </a:ext>
                </a:extLst>
              </a:tr>
              <a:tr h="34283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13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마이페이지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강사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>
                        <a:effectLst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>
                        <a:effectLst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삭제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기능을 강좌관리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기관관리 서비스로 분산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기관관리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강좌관리로 통합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145318"/>
                  </a:ext>
                </a:extLst>
              </a:tr>
              <a:tr h="342833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14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평생학습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마이페이지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일반회원</a:t>
                      </a:r>
                      <a:r>
                        <a:rPr lang="en-US" altLang="ko-KR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삭제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 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기능을 포털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수강관리 서비스로 분산</a:t>
                      </a:r>
                      <a:r>
                        <a:rPr lang="en-US" altLang="ko-KR" sz="9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포털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수강관리로 통합</a:t>
                      </a:r>
                    </a:p>
                  </a:txBody>
                  <a:tcPr marL="79115" marR="79115" marT="39558" marB="3955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7510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783E235-9365-6D66-6CF1-11E20CC0E9BD}"/>
              </a:ext>
            </a:extLst>
          </p:cNvPr>
          <p:cNvSpPr txBox="1"/>
          <p:nvPr/>
        </p:nvSpPr>
        <p:spPr>
          <a:xfrm>
            <a:off x="949356" y="209140"/>
            <a:ext cx="9175719" cy="69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9910" marR="0" indent="-190500" algn="l" fontAlgn="base" latinLnBrk="1">
              <a:lnSpc>
                <a:spcPct val="175000"/>
              </a:lnSpc>
              <a:buNone/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원칙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1) </a:t>
            </a:r>
            <a:r>
              <a:rPr lang="ko-KR" altLang="en-US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비즈니스 기능기반 분해</a:t>
            </a:r>
            <a:r>
              <a:rPr lang="ko-KR" altLang="en-US" sz="1200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단일책임 </a:t>
            </a:r>
            <a:r>
              <a:rPr lang="en-US" altLang="ko-KR" sz="1200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3) </a:t>
            </a:r>
            <a:r>
              <a:rPr lang="ko-KR" altLang="en-US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공동 폐쇄 원칙 </a:t>
            </a:r>
            <a:r>
              <a:rPr lang="en-US" altLang="ko-KR" sz="1200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lang="ko-KR" altLang="en-US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높은 응집도 </a:t>
            </a:r>
            <a:r>
              <a:rPr lang="en-US" altLang="ko-KR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낮은 결합도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pPr marL="549910" marR="0" indent="-190500" algn="l" fontAlgn="base" latinLnBrk="1">
              <a:lnSpc>
                <a:spcPct val="175000"/>
              </a:lnSpc>
              <a:buNone/>
            </a:pPr>
            <a:r>
              <a:rPr lang="en-US" altLang="ko-KR" sz="1200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  5) </a:t>
            </a:r>
            <a:r>
              <a:rPr lang="ko-KR" altLang="en-US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도메인 주도설계</a:t>
            </a:r>
            <a:r>
              <a:rPr lang="ko-KR" altLang="en-US" sz="1200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(DDD) 6) </a:t>
            </a:r>
            <a:r>
              <a:rPr lang="ko-KR" altLang="en-US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조직 </a:t>
            </a:r>
            <a:r>
              <a:rPr lang="en-US" altLang="ko-KR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기반</a:t>
            </a:r>
            <a:r>
              <a:rPr lang="ko-KR" altLang="en-US" sz="1200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분해  </a:t>
            </a:r>
            <a:r>
              <a:rPr lang="en-US" altLang="ko-KR" sz="1200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7) </a:t>
            </a:r>
            <a:r>
              <a:rPr lang="ko-KR" altLang="en-US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반복 점진적 분리 </a:t>
            </a:r>
            <a:r>
              <a:rPr lang="en-US" altLang="ko-KR" sz="1200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8) </a:t>
            </a:r>
            <a:r>
              <a:rPr lang="ko-KR" altLang="en-US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기존코드 재사용  </a:t>
            </a:r>
            <a:r>
              <a:rPr lang="en-US" altLang="ko-KR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9) </a:t>
            </a:r>
            <a:r>
              <a:rPr lang="ko-KR" altLang="en-US" sz="1200" b="1" kern="10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부하분산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3F566B-E6E0-911D-BBE3-6278F9F90DD1}"/>
              </a:ext>
            </a:extLst>
          </p:cNvPr>
          <p:cNvSpPr txBox="1"/>
          <p:nvPr/>
        </p:nvSpPr>
        <p:spPr>
          <a:xfrm>
            <a:off x="215931" y="10330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사례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4E5A34-ED4B-3A40-97CE-5E3091855524}"/>
              </a:ext>
            </a:extLst>
          </p:cNvPr>
          <p:cNvSpPr txBox="1"/>
          <p:nvPr/>
        </p:nvSpPr>
        <p:spPr>
          <a:xfrm>
            <a:off x="7772400" y="733360"/>
            <a:ext cx="4123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마이크로서비스 정의서 과정을 앞으로</a:t>
            </a:r>
            <a:endParaRPr kumimoji="1" lang="en-US" altLang="ko-KR" dirty="0"/>
          </a:p>
          <a:p>
            <a:r>
              <a:rPr kumimoji="1" lang="ko-KR" altLang="en-US" dirty="0"/>
              <a:t>결론을 뒤로 </a:t>
            </a:r>
            <a:r>
              <a:rPr kumimoji="1" lang="ko-KR" altLang="en-US" dirty="0" err="1"/>
              <a:t>빼는걸로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630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455999-9A55-FECF-AC80-D2EFDC5F6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55" y="1996169"/>
            <a:ext cx="4674196" cy="36580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27D5FF-72E1-FE13-C8B1-D1507FCC8A5C}"/>
              </a:ext>
            </a:extLst>
          </p:cNvPr>
          <p:cNvSpPr txBox="1"/>
          <p:nvPr/>
        </p:nvSpPr>
        <p:spPr>
          <a:xfrm>
            <a:off x="329739" y="260776"/>
            <a:ext cx="5238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CND_AN_COM_07_마이크로서비스정의서_별첨1_v0.9_20251113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4EE2DF7-381B-42EA-0579-70E7372545B5}"/>
              </a:ext>
            </a:extLst>
          </p:cNvPr>
          <p:cNvSpPr/>
          <p:nvPr/>
        </p:nvSpPr>
        <p:spPr>
          <a:xfrm>
            <a:off x="5762167" y="1571625"/>
            <a:ext cx="1847850" cy="1019175"/>
          </a:xfrm>
          <a:prstGeom prst="roundRect">
            <a:avLst/>
          </a:prstGeom>
          <a:noFill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견학체험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(PaaS)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214EA10-2C82-83E2-9BB2-4DD2901E8E1D}"/>
              </a:ext>
            </a:extLst>
          </p:cNvPr>
          <p:cNvSpPr/>
          <p:nvPr/>
        </p:nvSpPr>
        <p:spPr>
          <a:xfrm>
            <a:off x="10286542" y="1533525"/>
            <a:ext cx="1847850" cy="1019175"/>
          </a:xfrm>
          <a:prstGeom prst="roundRect">
            <a:avLst/>
          </a:prstGeom>
          <a:noFill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알림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(PaaS)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3B391A7-CB15-ADE8-F4A4-A3187DC18D9C}"/>
              </a:ext>
            </a:extLst>
          </p:cNvPr>
          <p:cNvCxnSpPr>
            <a:cxnSpLocks/>
          </p:cNvCxnSpPr>
          <p:nvPr/>
        </p:nvCxnSpPr>
        <p:spPr>
          <a:xfrm flipH="1">
            <a:off x="6609892" y="2590800"/>
            <a:ext cx="28575" cy="36011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CC9F569-02E9-33AB-8AE3-4E2491404D95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8700630" y="1829485"/>
            <a:ext cx="0" cy="43046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7E03561-D4FB-DE6B-1195-3E6445C7E949}"/>
              </a:ext>
            </a:extLst>
          </p:cNvPr>
          <p:cNvCxnSpPr/>
          <p:nvPr/>
        </p:nvCxnSpPr>
        <p:spPr>
          <a:xfrm flipH="1">
            <a:off x="11239042" y="2552700"/>
            <a:ext cx="28575" cy="36011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AA6DEC4-3670-EEB0-8028-582B6CA3C3D7}"/>
              </a:ext>
            </a:extLst>
          </p:cNvPr>
          <p:cNvCxnSpPr>
            <a:cxnSpLocks/>
          </p:cNvCxnSpPr>
          <p:nvPr/>
        </p:nvCxnSpPr>
        <p:spPr>
          <a:xfrm>
            <a:off x="6609892" y="3629709"/>
            <a:ext cx="20907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3A11468-C1E4-E36C-7858-2D2CEBBA3B2F}"/>
              </a:ext>
            </a:extLst>
          </p:cNvPr>
          <p:cNvSpPr/>
          <p:nvPr/>
        </p:nvSpPr>
        <p:spPr>
          <a:xfrm>
            <a:off x="7776705" y="1477744"/>
            <a:ext cx="1847850" cy="35174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테이블 </a:t>
            </a:r>
            <a:r>
              <a:rPr lang="en-US" altLang="ko-KR" sz="1200" dirty="0">
                <a:solidFill>
                  <a:schemeClr val="tx1"/>
                </a:solidFill>
              </a:rPr>
              <a:t>(DB)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A99C09-0BEF-CB86-B2F9-A2DA2545036F}"/>
              </a:ext>
            </a:extLst>
          </p:cNvPr>
          <p:cNvSpPr/>
          <p:nvPr/>
        </p:nvSpPr>
        <p:spPr>
          <a:xfrm>
            <a:off x="7638592" y="724584"/>
            <a:ext cx="2476500" cy="2019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CFEF22-C262-9DB2-5FC9-86837D41139F}"/>
              </a:ext>
            </a:extLst>
          </p:cNvPr>
          <p:cNvSpPr txBox="1"/>
          <p:nvPr/>
        </p:nvSpPr>
        <p:spPr>
          <a:xfrm>
            <a:off x="7676691" y="726638"/>
            <a:ext cx="198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Persistence (IaaS)</a:t>
            </a:r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1EDB48E-3A65-F00A-4BC8-BD03DAD5961B}"/>
              </a:ext>
            </a:extLst>
          </p:cNvPr>
          <p:cNvCxnSpPr>
            <a:cxnSpLocks/>
          </p:cNvCxnSpPr>
          <p:nvPr/>
        </p:nvCxnSpPr>
        <p:spPr>
          <a:xfrm>
            <a:off x="9072105" y="2394853"/>
            <a:ext cx="0" cy="43046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58C32E6-8868-E457-F188-05D27887BEAF}"/>
              </a:ext>
            </a:extLst>
          </p:cNvPr>
          <p:cNvSpPr/>
          <p:nvPr/>
        </p:nvSpPr>
        <p:spPr>
          <a:xfrm>
            <a:off x="8181517" y="2043112"/>
            <a:ext cx="1847850" cy="35174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Kafka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기술셋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인프라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B474217-79CE-1588-596C-F3558E4258FB}"/>
              </a:ext>
            </a:extLst>
          </p:cNvPr>
          <p:cNvCxnSpPr>
            <a:cxnSpLocks/>
          </p:cNvCxnSpPr>
          <p:nvPr/>
        </p:nvCxnSpPr>
        <p:spPr>
          <a:xfrm>
            <a:off x="6686092" y="4258359"/>
            <a:ext cx="23860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6ABF6F2-A291-4868-302C-534B796FCC29}"/>
              </a:ext>
            </a:extLst>
          </p:cNvPr>
          <p:cNvCxnSpPr>
            <a:cxnSpLocks/>
          </p:cNvCxnSpPr>
          <p:nvPr/>
        </p:nvCxnSpPr>
        <p:spPr>
          <a:xfrm>
            <a:off x="9072105" y="4696509"/>
            <a:ext cx="2195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CE66DAD-FF0C-5475-1583-04892C0601D2}"/>
              </a:ext>
            </a:extLst>
          </p:cNvPr>
          <p:cNvSpPr txBox="1"/>
          <p:nvPr/>
        </p:nvSpPr>
        <p:spPr>
          <a:xfrm>
            <a:off x="7286167" y="33153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4CE712-5BD8-5783-C916-E974405BF836}"/>
              </a:ext>
            </a:extLst>
          </p:cNvPr>
          <p:cNvSpPr txBox="1"/>
          <p:nvPr/>
        </p:nvSpPr>
        <p:spPr>
          <a:xfrm>
            <a:off x="7280392" y="3873668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Pub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A80040-ADFD-2A4D-0351-79BC3BCB15FA}"/>
              </a:ext>
            </a:extLst>
          </p:cNvPr>
          <p:cNvSpPr txBox="1"/>
          <p:nvPr/>
        </p:nvSpPr>
        <p:spPr>
          <a:xfrm>
            <a:off x="9993032" y="4347480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Sub</a:t>
            </a:r>
            <a:endParaRPr lang="ko-KR" altLang="en-US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A22F2F2-0DA2-5856-01E1-DF2B76C3CB34}"/>
              </a:ext>
            </a:extLst>
          </p:cNvPr>
          <p:cNvCxnSpPr>
            <a:cxnSpLocks/>
          </p:cNvCxnSpPr>
          <p:nvPr/>
        </p:nvCxnSpPr>
        <p:spPr>
          <a:xfrm flipH="1">
            <a:off x="5568489" y="101679"/>
            <a:ext cx="19049" cy="6382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D4D70FE-4745-D35E-FF79-9FE459406342}"/>
              </a:ext>
            </a:extLst>
          </p:cNvPr>
          <p:cNvSpPr txBox="1"/>
          <p:nvPr/>
        </p:nvSpPr>
        <p:spPr>
          <a:xfrm>
            <a:off x="5672750" y="260776"/>
            <a:ext cx="6307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가 서비스가 아니듯이 </a:t>
            </a:r>
            <a:r>
              <a:rPr lang="en-US" altLang="ko-KR" b="1" dirty="0"/>
              <a:t>Kafka</a:t>
            </a:r>
            <a:r>
              <a:rPr lang="ko-KR" altLang="en-US" b="1" dirty="0"/>
              <a:t>는 메시지 브로커 역할을 함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83854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FE6E2A-D8E7-00A3-5884-B1B03E633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737" y="1529831"/>
            <a:ext cx="8248650" cy="4247973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189CB1B-643B-896A-5BC2-EACFDB8B68D6}"/>
              </a:ext>
            </a:extLst>
          </p:cNvPr>
          <p:cNvSpPr/>
          <p:nvPr/>
        </p:nvSpPr>
        <p:spPr>
          <a:xfrm>
            <a:off x="3026536" y="1304347"/>
            <a:ext cx="1809751" cy="4677353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A07B25-5C26-9E4F-DD4B-495F83A05865}"/>
              </a:ext>
            </a:extLst>
          </p:cNvPr>
          <p:cNvSpPr txBox="1"/>
          <p:nvPr/>
        </p:nvSpPr>
        <p:spPr>
          <a:xfrm>
            <a:off x="30985" y="230743"/>
            <a:ext cx="390042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일반</a:t>
            </a:r>
            <a:r>
              <a:rPr lang="en-US" altLang="ko-KR" dirty="0"/>
              <a:t>, </a:t>
            </a:r>
            <a:r>
              <a:rPr lang="ko-KR" altLang="en-US" dirty="0"/>
              <a:t>공통 도메인이 맞지 않을까요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BD21BC1-5319-3411-D083-06D734F87AB3}"/>
              </a:ext>
            </a:extLst>
          </p:cNvPr>
          <p:cNvSpPr/>
          <p:nvPr/>
        </p:nvSpPr>
        <p:spPr>
          <a:xfrm>
            <a:off x="5407785" y="5349934"/>
            <a:ext cx="3371852" cy="42787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D02368-636D-F8F3-0317-4585D584B4D4}"/>
              </a:ext>
            </a:extLst>
          </p:cNvPr>
          <p:cNvSpPr txBox="1"/>
          <p:nvPr/>
        </p:nvSpPr>
        <p:spPr>
          <a:xfrm>
            <a:off x="5215841" y="6205674"/>
            <a:ext cx="356379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이 부분이 </a:t>
            </a:r>
            <a:r>
              <a:rPr lang="ko-KR" altLang="en-US"/>
              <a:t>코어 도메인으로 보임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1E71B2C-21B0-6E20-43E9-5F465BC9675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093711" y="5777804"/>
            <a:ext cx="133351" cy="388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1997969-0D51-279F-D502-9D55F87C0D37}"/>
              </a:ext>
            </a:extLst>
          </p:cNvPr>
          <p:cNvCxnSpPr>
            <a:cxnSpLocks/>
            <a:stCxn id="4" idx="0"/>
            <a:endCxn id="5" idx="2"/>
          </p:cNvCxnSpPr>
          <p:nvPr/>
        </p:nvCxnSpPr>
        <p:spPr>
          <a:xfrm flipH="1" flipV="1">
            <a:off x="1981199" y="600075"/>
            <a:ext cx="1950213" cy="704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E264CB6-5F07-0789-1883-75BAC1C34111}"/>
              </a:ext>
            </a:extLst>
          </p:cNvPr>
          <p:cNvSpPr txBox="1"/>
          <p:nvPr/>
        </p:nvSpPr>
        <p:spPr>
          <a:xfrm>
            <a:off x="285373" y="4275736"/>
            <a:ext cx="2403222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내용을 보면 </a:t>
            </a:r>
            <a:r>
              <a:rPr lang="en-US" altLang="ko-KR" dirty="0"/>
              <a:t>API G/W</a:t>
            </a:r>
          </a:p>
          <a:p>
            <a:r>
              <a:rPr lang="ko-KR" altLang="en-US" dirty="0"/>
              <a:t>역할로 보임</a:t>
            </a:r>
            <a:r>
              <a:rPr lang="en-US" altLang="ko-KR" dirty="0"/>
              <a:t>.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0D87BFA-4820-36E6-89DF-CAADB679E3D4}"/>
              </a:ext>
            </a:extLst>
          </p:cNvPr>
          <p:cNvCxnSpPr>
            <a:cxnSpLocks/>
            <a:stCxn id="3" idx="1"/>
            <a:endCxn id="15" idx="0"/>
          </p:cNvCxnSpPr>
          <p:nvPr/>
        </p:nvCxnSpPr>
        <p:spPr>
          <a:xfrm flipH="1">
            <a:off x="1486984" y="3653818"/>
            <a:ext cx="1615753" cy="621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B5BBA93-A53E-D074-EFC8-ADE8B85C791E}"/>
              </a:ext>
            </a:extLst>
          </p:cNvPr>
          <p:cNvCxnSpPr/>
          <p:nvPr/>
        </p:nvCxnSpPr>
        <p:spPr>
          <a:xfrm flipH="1">
            <a:off x="9873673" y="1976582"/>
            <a:ext cx="1099127" cy="9790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C44A351-9BC6-69A6-C3B7-E37C8BBD4149}"/>
              </a:ext>
            </a:extLst>
          </p:cNvPr>
          <p:cNvCxnSpPr/>
          <p:nvPr/>
        </p:nvCxnSpPr>
        <p:spPr>
          <a:xfrm>
            <a:off x="9910618" y="1995055"/>
            <a:ext cx="1228437" cy="1025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BE184A4-08E9-F704-536A-7404E343159E}"/>
              </a:ext>
            </a:extLst>
          </p:cNvPr>
          <p:cNvSpPr txBox="1"/>
          <p:nvPr/>
        </p:nvSpPr>
        <p:spPr>
          <a:xfrm>
            <a:off x="6997739" y="349512"/>
            <a:ext cx="4262705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권고</a:t>
            </a:r>
            <a:r>
              <a:rPr lang="en-US" altLang="ko-KR" dirty="0"/>
              <a:t>) </a:t>
            </a:r>
            <a:r>
              <a:rPr lang="ko-KR" altLang="en-US" dirty="0"/>
              <a:t>서비스 통계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Kafka</a:t>
            </a:r>
            <a:r>
              <a:rPr lang="ko-KR" altLang="en-US" dirty="0"/>
              <a:t>로 실시간 수집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 err="1"/>
              <a:t>배치성</a:t>
            </a:r>
            <a:r>
              <a:rPr lang="ko-KR" altLang="en-US" dirty="0"/>
              <a:t> 업무를 실시간으로 처리 가능</a:t>
            </a: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F16D12F6-7812-D010-2C7B-330CA9EF0640}"/>
              </a:ext>
            </a:extLst>
          </p:cNvPr>
          <p:cNvCxnSpPr>
            <a:cxnSpLocks/>
            <a:stCxn id="24" idx="3"/>
            <a:endCxn id="27" idx="6"/>
          </p:cNvCxnSpPr>
          <p:nvPr/>
        </p:nvCxnSpPr>
        <p:spPr>
          <a:xfrm>
            <a:off x="11260444" y="811177"/>
            <a:ext cx="12700" cy="3931696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DD2AA732-945B-5F28-736B-F63F4866BEFB}"/>
              </a:ext>
            </a:extLst>
          </p:cNvPr>
          <p:cNvSpPr/>
          <p:nvPr/>
        </p:nvSpPr>
        <p:spPr>
          <a:xfrm>
            <a:off x="11074400" y="4682836"/>
            <a:ext cx="186044" cy="1200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48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ABD763B-F39C-DE4D-CB2D-5FAD69155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73" y="2558834"/>
            <a:ext cx="10695709" cy="36614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85A1BF-493C-2092-FC96-B5B9AA0382C5}"/>
              </a:ext>
            </a:extLst>
          </p:cNvPr>
          <p:cNvSpPr txBox="1"/>
          <p:nvPr/>
        </p:nvSpPr>
        <p:spPr>
          <a:xfrm>
            <a:off x="361211" y="1256344"/>
            <a:ext cx="11679800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분류</a:t>
            </a:r>
            <a:r>
              <a:rPr lang="en-US" altLang="ko-KR" dirty="0"/>
              <a:t>, </a:t>
            </a:r>
            <a:r>
              <a:rPr lang="ko-KR" altLang="en-US" dirty="0"/>
              <a:t>성격이 명칭이 모호함</a:t>
            </a:r>
            <a:r>
              <a:rPr lang="en-US" altLang="ko-KR" dirty="0"/>
              <a:t>. (</a:t>
            </a:r>
            <a:r>
              <a:rPr lang="ko-KR" altLang="en-US" dirty="0"/>
              <a:t>분류</a:t>
            </a:r>
            <a:r>
              <a:rPr lang="en-US" altLang="ko-KR" dirty="0"/>
              <a:t>, </a:t>
            </a:r>
            <a:r>
              <a:rPr lang="ko-KR" altLang="en-US" dirty="0"/>
              <a:t>성격이 도메인명으로 모호함</a:t>
            </a:r>
            <a:r>
              <a:rPr lang="en-US" altLang="ko-KR" dirty="0"/>
              <a:t>. MSA </a:t>
            </a:r>
            <a:r>
              <a:rPr lang="ko-KR" altLang="en-US" dirty="0"/>
              <a:t>에서 정의한 도메인명으로 일치 필요</a:t>
            </a:r>
            <a:r>
              <a:rPr lang="en-US" altLang="ko-K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분류는 </a:t>
            </a:r>
            <a:r>
              <a:rPr lang="ko-KR" altLang="en-US" dirty="0" err="1"/>
              <a:t>마이크로서비스에서</a:t>
            </a:r>
            <a:r>
              <a:rPr lang="ko-KR" altLang="en-US" dirty="0"/>
              <a:t> 정의한 도메인임 </a:t>
            </a:r>
            <a:r>
              <a:rPr lang="en-US" altLang="ko-KR" dirty="0"/>
              <a:t>(</a:t>
            </a:r>
            <a:r>
              <a:rPr lang="ko-KR" altLang="en-US" dirty="0"/>
              <a:t>도메인명으로 명기</a:t>
            </a:r>
            <a:r>
              <a:rPr lang="en-US" altLang="ko-K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앞에서는 </a:t>
            </a:r>
            <a:r>
              <a:rPr lang="en-US" altLang="ko-KR" dirty="0"/>
              <a:t>“</a:t>
            </a:r>
            <a:r>
              <a:rPr lang="ko-KR" altLang="en-US" dirty="0"/>
              <a:t>마이페이지</a:t>
            </a:r>
            <a:r>
              <a:rPr lang="en-US" altLang="ko-KR" dirty="0"/>
              <a:t>(</a:t>
            </a:r>
            <a:r>
              <a:rPr lang="ko-KR" altLang="en-US" dirty="0"/>
              <a:t>일반회원</a:t>
            </a:r>
            <a:r>
              <a:rPr lang="en-US" altLang="ko-KR" dirty="0"/>
              <a:t>)”</a:t>
            </a:r>
            <a:r>
              <a:rPr lang="ko-KR" altLang="en-US" dirty="0"/>
              <a:t>이 삭제된다고 했으나</a:t>
            </a:r>
            <a:r>
              <a:rPr lang="en-US" altLang="ko-KR" dirty="0"/>
              <a:t>, </a:t>
            </a:r>
            <a:r>
              <a:rPr lang="ko-KR" altLang="en-US" dirty="0"/>
              <a:t>도메인으로 남아 있음</a:t>
            </a:r>
            <a:r>
              <a:rPr lang="en-US" altLang="ko-KR" dirty="0"/>
              <a:t>. (</a:t>
            </a:r>
            <a:r>
              <a:rPr lang="ko-KR" altLang="en-US" dirty="0"/>
              <a:t>불일치</a:t>
            </a:r>
            <a:r>
              <a:rPr lang="en-US" altLang="ko-KR" dirty="0"/>
              <a:t>), </a:t>
            </a:r>
            <a:r>
              <a:rPr lang="ko-KR" altLang="en-US" dirty="0"/>
              <a:t>유사 사례 다수 확인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어떤 내용이 최종 서비스 인가요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D173DB8-17FF-41C1-D8C0-A985A2AA17F1}"/>
              </a:ext>
            </a:extLst>
          </p:cNvPr>
          <p:cNvSpPr/>
          <p:nvPr/>
        </p:nvSpPr>
        <p:spPr>
          <a:xfrm>
            <a:off x="526473" y="2865293"/>
            <a:ext cx="1727199" cy="300903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59662-D108-1B6F-B9F5-B80E3D9664CC}"/>
              </a:ext>
            </a:extLst>
          </p:cNvPr>
          <p:cNvSpPr txBox="1"/>
          <p:nvPr/>
        </p:nvSpPr>
        <p:spPr>
          <a:xfrm>
            <a:off x="600364" y="314505"/>
            <a:ext cx="8746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CND_AN_COM_07_마이크로서비스정의서_별첨2_v0.9_20251113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FA2A6DF-920F-4E08-ACF1-86E9B3C5F9C6}"/>
              </a:ext>
            </a:extLst>
          </p:cNvPr>
          <p:cNvCxnSpPr/>
          <p:nvPr/>
        </p:nvCxnSpPr>
        <p:spPr>
          <a:xfrm flipH="1">
            <a:off x="2022764" y="2225964"/>
            <a:ext cx="572654" cy="6393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974B01E-E20A-8DA7-4F2C-BF53427530B3}"/>
              </a:ext>
            </a:extLst>
          </p:cNvPr>
          <p:cNvCxnSpPr/>
          <p:nvPr/>
        </p:nvCxnSpPr>
        <p:spPr>
          <a:xfrm flipH="1">
            <a:off x="1173018" y="1856509"/>
            <a:ext cx="1403927" cy="23737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82AD41-F98C-8EBD-9611-3FA42154BE3D}"/>
              </a:ext>
            </a:extLst>
          </p:cNvPr>
          <p:cNvSpPr txBox="1"/>
          <p:nvPr/>
        </p:nvSpPr>
        <p:spPr>
          <a:xfrm>
            <a:off x="8442037" y="323759"/>
            <a:ext cx="341946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AS-IS</a:t>
            </a:r>
            <a:r>
              <a:rPr lang="ko-KR" altLang="en-US" dirty="0"/>
              <a:t>와 </a:t>
            </a:r>
            <a:r>
              <a:rPr lang="en-US" altLang="ko-KR" dirty="0"/>
              <a:t>To-BE</a:t>
            </a:r>
            <a:r>
              <a:rPr lang="ko-KR" altLang="en-US" dirty="0"/>
              <a:t>가 혼재되어 있어</a:t>
            </a:r>
            <a:endParaRPr lang="en-US" altLang="ko-KR" dirty="0"/>
          </a:p>
          <a:p>
            <a:r>
              <a:rPr lang="ko-KR" altLang="en-US" dirty="0"/>
              <a:t>문서 정리 필요함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F01ADF-E0C9-8262-A35A-65DCA4AB080D}"/>
              </a:ext>
            </a:extLst>
          </p:cNvPr>
          <p:cNvSpPr txBox="1"/>
          <p:nvPr/>
        </p:nvSpPr>
        <p:spPr>
          <a:xfrm>
            <a:off x="646545" y="6358829"/>
            <a:ext cx="967123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POD </a:t>
            </a:r>
            <a:r>
              <a:rPr lang="ko-KR" altLang="en-US" dirty="0"/>
              <a:t>물리명을 기록한 것으로 보아 목표 서비스인듯하나 서비스 분류가 </a:t>
            </a:r>
            <a:r>
              <a:rPr lang="en-US" altLang="ko-KR" dirty="0"/>
              <a:t>DDD</a:t>
            </a:r>
            <a:r>
              <a:rPr lang="ko-KR" altLang="en-US" dirty="0"/>
              <a:t>와 별개로 기재</a:t>
            </a:r>
          </a:p>
        </p:txBody>
      </p:sp>
    </p:spTree>
    <p:extLst>
      <p:ext uri="{BB962C8B-B14F-4D97-AF65-F5344CB8AC3E}">
        <p14:creationId xmlns:p14="http://schemas.microsoft.com/office/powerpoint/2010/main" val="254877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A5246E-D2FB-D2C5-8944-2F685BBF8255}"/>
              </a:ext>
            </a:extLst>
          </p:cNvPr>
          <p:cNvSpPr txBox="1"/>
          <p:nvPr/>
        </p:nvSpPr>
        <p:spPr>
          <a:xfrm>
            <a:off x="600364" y="314505"/>
            <a:ext cx="8746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CND_AN_COM_07_마이크로서비스정의서_별첨2_v0.9_20251113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81B58-3F9B-7E74-9A47-E6AE27948A74}"/>
              </a:ext>
            </a:extLst>
          </p:cNvPr>
          <p:cNvSpPr txBox="1"/>
          <p:nvPr/>
        </p:nvSpPr>
        <p:spPr>
          <a:xfrm>
            <a:off x="905164" y="1320802"/>
            <a:ext cx="9352240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만약 목표 서비스의 대한 문서라면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- </a:t>
            </a:r>
            <a:r>
              <a:rPr lang="ko-KR" altLang="en-US" dirty="0"/>
              <a:t>외부</a:t>
            </a:r>
            <a:r>
              <a:rPr lang="en-US" altLang="ko-KR" dirty="0"/>
              <a:t> I/F</a:t>
            </a:r>
            <a:r>
              <a:rPr lang="ko-KR" altLang="en-US" dirty="0"/>
              <a:t>나 내부 서비스 간 연관 서비스는 없는지 정리 필요 </a:t>
            </a:r>
            <a:r>
              <a:rPr lang="en-US" altLang="ko-KR" dirty="0"/>
              <a:t>(</a:t>
            </a:r>
            <a:r>
              <a:rPr lang="ko-KR" altLang="en-US" dirty="0"/>
              <a:t>일부 기재되어 있음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    . </a:t>
            </a:r>
            <a:r>
              <a:rPr lang="ko-KR" altLang="en-US" dirty="0"/>
              <a:t>제안서에는 외부 연계 모듈이 있음</a:t>
            </a:r>
            <a:r>
              <a:rPr lang="en-US" altLang="ko-KR" dirty="0"/>
              <a:t>. </a:t>
            </a:r>
            <a:r>
              <a:rPr lang="ko-KR" altLang="en-US" dirty="0"/>
              <a:t>이런 부분도 비동기 처리 고려 </a:t>
            </a:r>
            <a:r>
              <a:rPr lang="en-US" altLang="ko-KR" dirty="0"/>
              <a:t>(</a:t>
            </a:r>
            <a:r>
              <a:rPr lang="ko-KR" altLang="en-US" dirty="0"/>
              <a:t>인증</a:t>
            </a:r>
            <a:r>
              <a:rPr lang="en-US" altLang="ko-KR" dirty="0"/>
              <a:t>, </a:t>
            </a:r>
            <a:r>
              <a:rPr lang="ko-KR" altLang="en-US" dirty="0"/>
              <a:t>결제 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- </a:t>
            </a:r>
            <a:r>
              <a:rPr lang="ko-KR" altLang="en-US" dirty="0"/>
              <a:t>통합예약</a:t>
            </a:r>
            <a:r>
              <a:rPr lang="en-US" altLang="ko-KR" dirty="0"/>
              <a:t>, </a:t>
            </a:r>
            <a:r>
              <a:rPr lang="ko-KR" altLang="en-US" dirty="0"/>
              <a:t>평생학습플랫폼의 기재되어 있는 포맷이 상이함</a:t>
            </a:r>
            <a:r>
              <a:rPr lang="en-US" altLang="ko-KR" dirty="0"/>
              <a:t>. (</a:t>
            </a:r>
            <a:r>
              <a:rPr lang="ko-KR" altLang="en-US" dirty="0"/>
              <a:t>사용자수</a:t>
            </a:r>
            <a:r>
              <a:rPr lang="en-US" altLang="ko-KR" dirty="0"/>
              <a:t>, </a:t>
            </a:r>
            <a:r>
              <a:rPr lang="ko-KR" altLang="en-US" dirty="0"/>
              <a:t>접근빈도 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 - </a:t>
            </a:r>
            <a:r>
              <a:rPr lang="ko-KR" altLang="en-US" dirty="0"/>
              <a:t>물리 </a:t>
            </a:r>
            <a:r>
              <a:rPr lang="en-US" altLang="ko-KR" dirty="0"/>
              <a:t>POD</a:t>
            </a:r>
            <a:r>
              <a:rPr lang="ko-KR" altLang="en-US" dirty="0"/>
              <a:t>는 도메인별 </a:t>
            </a:r>
            <a:r>
              <a:rPr lang="ko-KR" altLang="en-US" dirty="0" err="1"/>
              <a:t>동일한듯함</a:t>
            </a:r>
            <a:r>
              <a:rPr lang="en-US" altLang="ko-KR" dirty="0"/>
              <a:t>. </a:t>
            </a:r>
            <a:r>
              <a:rPr lang="ko-KR" altLang="en-US" dirty="0"/>
              <a:t>별도 관리 권고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사용자수</a:t>
            </a:r>
            <a:r>
              <a:rPr lang="en-US" altLang="ko-KR" dirty="0"/>
              <a:t>, </a:t>
            </a:r>
            <a:r>
              <a:rPr lang="ko-KR" altLang="en-US" dirty="0"/>
              <a:t>접근 빈도가 높은 서비스의 경우 비동기 형태로 변경 권고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전체 서비스 목록 중 비동기가 </a:t>
            </a:r>
            <a:r>
              <a:rPr lang="en-US" altLang="ko-KR" dirty="0"/>
              <a:t>2</a:t>
            </a:r>
            <a:r>
              <a:rPr lang="ko-KR" altLang="en-US" dirty="0"/>
              <a:t>개만 기재되어 있음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- </a:t>
            </a:r>
            <a:r>
              <a:rPr lang="ko-KR" altLang="en-US" dirty="0"/>
              <a:t>사용빈도가 높은 경우 비동기형태로 변경 가능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특히</a:t>
            </a:r>
            <a:r>
              <a:rPr lang="en-US" altLang="ko-KR" dirty="0"/>
              <a:t>, </a:t>
            </a:r>
            <a:r>
              <a:rPr lang="ko-KR" altLang="en-US" dirty="0"/>
              <a:t>통계 서비스는 비동기 형태로 변경이 가능할 것으로 예상됨</a:t>
            </a:r>
            <a:r>
              <a:rPr lang="en-US" altLang="ko-KR" dirty="0"/>
              <a:t>. (</a:t>
            </a:r>
            <a:r>
              <a:rPr lang="ko-KR" altLang="en-US" dirty="0"/>
              <a:t>추측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아웃터와 연계된 내용 별도 관리</a:t>
            </a:r>
            <a:endParaRPr lang="en-US" altLang="ko-KR" dirty="0"/>
          </a:p>
          <a:p>
            <a:r>
              <a:rPr lang="en-US" altLang="ko-KR" dirty="0"/>
              <a:t>   - Namespace, </a:t>
            </a:r>
            <a:r>
              <a:rPr lang="en-US" altLang="ko-KR" dirty="0" err="1"/>
              <a:t>PoD</a:t>
            </a:r>
            <a:r>
              <a:rPr lang="en-US" altLang="ko-KR" dirty="0"/>
              <a:t>, </a:t>
            </a:r>
            <a:r>
              <a:rPr lang="ko-KR" altLang="en-US" dirty="0"/>
              <a:t>관련된 도메인 서비스 맵핑 </a:t>
            </a:r>
            <a:endParaRPr lang="en-US" altLang="ko-KR" dirty="0"/>
          </a:p>
          <a:p>
            <a:r>
              <a:rPr lang="en-US" altLang="ko-KR" dirty="0"/>
              <a:t>   - </a:t>
            </a:r>
            <a:r>
              <a:rPr lang="ko-KR" altLang="en-US" dirty="0"/>
              <a:t>코어 도메인의 경우 </a:t>
            </a:r>
            <a:r>
              <a:rPr lang="en-US" altLang="ko-KR" dirty="0"/>
              <a:t>PaaS, </a:t>
            </a:r>
            <a:r>
              <a:rPr lang="ko-KR" altLang="en-US" dirty="0"/>
              <a:t>일반 </a:t>
            </a:r>
            <a:r>
              <a:rPr lang="en-US" altLang="ko-KR" dirty="0"/>
              <a:t>/ </a:t>
            </a:r>
            <a:r>
              <a:rPr lang="ko-KR" altLang="en-US" dirty="0"/>
              <a:t>공통과 </a:t>
            </a:r>
            <a:r>
              <a:rPr lang="en-US" altLang="ko-KR" dirty="0"/>
              <a:t>Persistence </a:t>
            </a:r>
            <a:r>
              <a:rPr lang="ko-KR" altLang="en-US" dirty="0"/>
              <a:t>영역은 </a:t>
            </a:r>
            <a:r>
              <a:rPr lang="en-US" altLang="ko-KR" dirty="0"/>
              <a:t>VM(IaaS)</a:t>
            </a:r>
            <a:r>
              <a:rPr lang="ko-KR" altLang="en-US" dirty="0"/>
              <a:t>로 구분</a:t>
            </a:r>
            <a:endParaRPr lang="en-US" altLang="ko-KR" dirty="0"/>
          </a:p>
          <a:p>
            <a:r>
              <a:rPr lang="en-US" altLang="ko-KR" dirty="0"/>
              <a:t>   - </a:t>
            </a:r>
            <a:r>
              <a:rPr lang="ko-KR" altLang="en-US" dirty="0"/>
              <a:t>외부</a:t>
            </a:r>
            <a:r>
              <a:rPr lang="en-US" altLang="ko-KR" dirty="0"/>
              <a:t> </a:t>
            </a:r>
            <a:r>
              <a:rPr lang="ko-KR" altLang="en-US" dirty="0" err="1"/>
              <a:t>인입</a:t>
            </a:r>
            <a:r>
              <a:rPr lang="ko-KR" altLang="en-US" dirty="0"/>
              <a:t> 된 </a:t>
            </a:r>
            <a:r>
              <a:rPr lang="en-US" altLang="ko-KR" dirty="0"/>
              <a:t>API G/W</a:t>
            </a:r>
            <a:r>
              <a:rPr lang="ko-KR" altLang="en-US" dirty="0"/>
              <a:t>와 내부 </a:t>
            </a:r>
            <a:r>
              <a:rPr lang="ko-KR" altLang="en-US" dirty="0" err="1"/>
              <a:t>서비스간의</a:t>
            </a:r>
            <a:r>
              <a:rPr lang="ko-KR" altLang="en-US" dirty="0"/>
              <a:t> 연계 구분 </a:t>
            </a:r>
            <a:r>
              <a:rPr lang="en-US" altLang="ko-KR" dirty="0"/>
              <a:t>(API G/W, </a:t>
            </a:r>
            <a:r>
              <a:rPr lang="en-US" altLang="ko-KR" dirty="0" err="1"/>
              <a:t>istio</a:t>
            </a:r>
            <a:r>
              <a:rPr lang="en-US" altLang="ko-KR" dirty="0"/>
              <a:t>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3FDAF-30C9-CD42-86DC-68BFC7DEC2E9}"/>
              </a:ext>
            </a:extLst>
          </p:cNvPr>
          <p:cNvSpPr txBox="1"/>
          <p:nvPr/>
        </p:nvSpPr>
        <p:spPr>
          <a:xfrm>
            <a:off x="7340600" y="499171"/>
            <a:ext cx="49792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외부연동</a:t>
            </a:r>
            <a:r>
              <a:rPr kumimoji="1" lang="en-US" altLang="ko-KR" dirty="0"/>
              <a:t>-</a:t>
            </a:r>
            <a:r>
              <a:rPr kumimoji="1" lang="ko-KR" altLang="en-US" dirty="0"/>
              <a:t>실시간성 제외 </a:t>
            </a:r>
            <a:r>
              <a:rPr kumimoji="1" lang="ko-KR" altLang="en-US" dirty="0" err="1"/>
              <a:t>비동기처리하겠음</a:t>
            </a:r>
            <a:endParaRPr kumimoji="1" lang="en-US" altLang="ko-KR" dirty="0"/>
          </a:p>
          <a:p>
            <a:r>
              <a:rPr kumimoji="1" lang="ko-KR" altLang="en-US" dirty="0" err="1"/>
              <a:t>물리파드명은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네이밍규칙때문에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적은것</a:t>
            </a:r>
            <a:endParaRPr kumimoji="1" lang="en-US" altLang="ko-KR" dirty="0"/>
          </a:p>
          <a:p>
            <a:r>
              <a:rPr kumimoji="1" lang="ko-KR" altLang="en-US" dirty="0"/>
              <a:t>통계서비스는 현재 실시간 쿼리가 가능한 수준</a:t>
            </a:r>
            <a:endParaRPr kumimoji="1" lang="en-US" altLang="ko-KR" dirty="0"/>
          </a:p>
          <a:p>
            <a:r>
              <a:rPr kumimoji="1" lang="en-US" altLang="ko-KR" dirty="0"/>
              <a:t>-&gt; </a:t>
            </a:r>
            <a:r>
              <a:rPr kumimoji="1" lang="ko-KR" altLang="en-US" dirty="0"/>
              <a:t>비동기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F325E-48EC-0F41-B19F-BD7F618AAF54}"/>
              </a:ext>
            </a:extLst>
          </p:cNvPr>
          <p:cNvSpPr txBox="1"/>
          <p:nvPr/>
        </p:nvSpPr>
        <p:spPr>
          <a:xfrm>
            <a:off x="4508500" y="6184900"/>
            <a:ext cx="366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아우터와</a:t>
            </a:r>
            <a:r>
              <a:rPr kumimoji="1" lang="ko-KR" altLang="en-US" dirty="0"/>
              <a:t> 연계된 내용은 </a:t>
            </a:r>
            <a:r>
              <a:rPr kumimoji="1" lang="ko-KR" altLang="en-US" dirty="0" err="1"/>
              <a:t>설명필요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1846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6CD24F-948B-3AE1-BD58-3CA5C91FA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3" y="700867"/>
            <a:ext cx="7192379" cy="53823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1356E1-1CD1-2732-867C-BA81723B5B65}"/>
              </a:ext>
            </a:extLst>
          </p:cNvPr>
          <p:cNvSpPr txBox="1"/>
          <p:nvPr/>
        </p:nvSpPr>
        <p:spPr>
          <a:xfrm>
            <a:off x="7556136" y="396071"/>
            <a:ext cx="4506362" cy="63401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/>
              <a:t>산출물이 많음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신규가 아닌 개편의 성격이라면</a:t>
            </a:r>
            <a:r>
              <a:rPr lang="en-US" altLang="ko-KR" sz="1400" dirty="0"/>
              <a:t>, </a:t>
            </a:r>
            <a:r>
              <a:rPr lang="ko-KR" altLang="en-US" sz="1400" dirty="0"/>
              <a:t>제시된 </a:t>
            </a:r>
            <a:r>
              <a:rPr lang="ko-KR" altLang="en-US" sz="1400" dirty="0" err="1"/>
              <a:t>테일러링</a:t>
            </a:r>
            <a:endParaRPr lang="en-US" altLang="ko-KR" sz="1400" dirty="0"/>
          </a:p>
          <a:p>
            <a:r>
              <a:rPr lang="en-US" altLang="ko-KR" sz="1400" dirty="0"/>
              <a:t>   </a:t>
            </a:r>
            <a:r>
              <a:rPr lang="ko-KR" altLang="en-US" sz="1400" dirty="0"/>
              <a:t>목록이 과다하다고 판단됨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필요한 산출물을 정리하시고</a:t>
            </a:r>
            <a:r>
              <a:rPr lang="en-US" altLang="ko-KR" sz="1400" dirty="0"/>
              <a:t>, </a:t>
            </a:r>
            <a:r>
              <a:rPr lang="ko-KR" altLang="en-US" sz="1400" dirty="0"/>
              <a:t>핵심적인 내용 작성에 </a:t>
            </a:r>
            <a:endParaRPr lang="en-US" altLang="ko-KR" sz="1400" dirty="0"/>
          </a:p>
          <a:p>
            <a:r>
              <a:rPr lang="en-US" altLang="ko-KR" sz="1400" dirty="0"/>
              <a:t>  </a:t>
            </a:r>
            <a:r>
              <a:rPr lang="ko-KR" altLang="en-US" sz="1400" dirty="0"/>
              <a:t>집중하시길 권고 드림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/>
              <a:t>  </a:t>
            </a:r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아키텍처설계서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In, out</a:t>
            </a:r>
            <a:r>
              <a:rPr lang="ko-KR" altLang="en-US" sz="1400" dirty="0"/>
              <a:t>이 기재되어 있는지요</a:t>
            </a:r>
            <a:r>
              <a:rPr lang="en-US" altLang="ko-KR" sz="1400" dirty="0"/>
              <a:t>?</a:t>
            </a:r>
          </a:p>
          <a:p>
            <a:r>
              <a:rPr lang="en-US" altLang="ko-KR" sz="1400" dirty="0"/>
              <a:t>    (inner</a:t>
            </a:r>
            <a:r>
              <a:rPr lang="ko-KR" altLang="en-US" sz="1400" dirty="0"/>
              <a:t>에 활용 패턴</a:t>
            </a:r>
            <a:r>
              <a:rPr lang="en-US" altLang="ko-KR" sz="1400" dirty="0"/>
              <a:t>, </a:t>
            </a:r>
            <a:r>
              <a:rPr lang="ko-KR" altLang="en-US" sz="1400" dirty="0"/>
              <a:t>방법</a:t>
            </a:r>
            <a:r>
              <a:rPr lang="en-US" altLang="ko-KR" sz="1400" dirty="0"/>
              <a:t>, </a:t>
            </a:r>
            <a:r>
              <a:rPr lang="ko-KR" altLang="en-US" sz="1400" dirty="0"/>
              <a:t>메커니즘 기재 필요</a:t>
            </a:r>
            <a:r>
              <a:rPr lang="en-US" altLang="ko-KR" sz="1400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 err="1"/>
              <a:t>아웃터</a:t>
            </a:r>
            <a:r>
              <a:rPr lang="ko-KR" altLang="en-US" sz="1400" dirty="0"/>
              <a:t> 아키텍처설계서는 별도 작성되어 있음</a:t>
            </a:r>
            <a:r>
              <a:rPr lang="en-US" altLang="ko-KR" sz="1400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en-US" altLang="ko-KR" sz="1400" dirty="0"/>
              <a:t>3. </a:t>
            </a:r>
            <a:r>
              <a:rPr lang="ko-KR" altLang="en-US" sz="1400" dirty="0" err="1"/>
              <a:t>마이크로서비스정의서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분석단계에서 정의한 도메인과 일치하도록 </a:t>
            </a:r>
            <a:endParaRPr lang="en-US" altLang="ko-KR" sz="1400" dirty="0"/>
          </a:p>
          <a:p>
            <a:r>
              <a:rPr lang="en-US" altLang="ko-KR" sz="1400" dirty="0"/>
              <a:t>     </a:t>
            </a:r>
            <a:r>
              <a:rPr lang="ko-KR" altLang="en-US" sz="1400" dirty="0"/>
              <a:t>문서작성 필요 </a:t>
            </a:r>
            <a:r>
              <a:rPr lang="en-US" altLang="ko-KR" sz="1400" dirty="0"/>
              <a:t>(</a:t>
            </a:r>
            <a:r>
              <a:rPr lang="ko-KR" altLang="en-US" sz="1400" dirty="0"/>
              <a:t>분석 단계에서 </a:t>
            </a:r>
            <a:r>
              <a:rPr lang="en-US" altLang="ko-KR" sz="1400" dirty="0"/>
              <a:t>MSA</a:t>
            </a:r>
            <a:r>
              <a:rPr lang="ko-KR" altLang="en-US" sz="1400" dirty="0"/>
              <a:t>도출됐다면</a:t>
            </a:r>
            <a:endParaRPr lang="en-US" altLang="ko-KR" sz="1400" dirty="0"/>
          </a:p>
          <a:p>
            <a:r>
              <a:rPr lang="en-US" altLang="ko-KR" sz="1400" dirty="0"/>
              <a:t>     </a:t>
            </a:r>
            <a:r>
              <a:rPr lang="ko-KR" altLang="en-US" sz="1400" dirty="0"/>
              <a:t>설계부터는 일치하도록 기재 필요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</a:t>
            </a:r>
          </a:p>
          <a:p>
            <a:r>
              <a:rPr lang="en-US" altLang="ko-KR" sz="1400" dirty="0"/>
              <a:t>4. </a:t>
            </a:r>
            <a:r>
              <a:rPr lang="ko-KR" altLang="en-US" sz="1400" dirty="0"/>
              <a:t>데이터 관리 영역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기존 테이블에서 논리 스키마 </a:t>
            </a:r>
            <a:r>
              <a:rPr lang="ko-KR" altLang="en-US" sz="1400" dirty="0" err="1"/>
              <a:t>분리까지라면</a:t>
            </a:r>
            <a:endParaRPr lang="en-US" altLang="ko-KR" sz="1400" dirty="0"/>
          </a:p>
          <a:p>
            <a:r>
              <a:rPr lang="en-US" altLang="ko-KR" sz="1400" dirty="0"/>
              <a:t>    </a:t>
            </a:r>
            <a:r>
              <a:rPr lang="ko-KR" altLang="en-US" sz="1400" dirty="0"/>
              <a:t>매우 과다하다고 판단됨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   (</a:t>
            </a:r>
            <a:r>
              <a:rPr lang="ko-KR" altLang="en-US" sz="1400" dirty="0"/>
              <a:t>개념물리까지 필요한지요</a:t>
            </a:r>
            <a:r>
              <a:rPr lang="en-US" altLang="ko-KR" sz="1400" dirty="0"/>
              <a:t>?)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동일</a:t>
            </a:r>
            <a:r>
              <a:rPr lang="en-US" altLang="ko-KR" sz="1400" dirty="0"/>
              <a:t> DB(</a:t>
            </a:r>
            <a:r>
              <a:rPr lang="en-US" altLang="ko-KR" sz="1400" dirty="0" err="1"/>
              <a:t>Cubrid</a:t>
            </a:r>
            <a:r>
              <a:rPr lang="en-US" altLang="ko-KR" sz="1400" dirty="0"/>
              <a:t>)</a:t>
            </a:r>
            <a:r>
              <a:rPr lang="ko-KR" altLang="en-US" sz="1400" dirty="0" err="1"/>
              <a:t>였던것으로</a:t>
            </a:r>
            <a:r>
              <a:rPr lang="ko-KR" altLang="en-US" sz="1400" dirty="0"/>
              <a:t> 기억함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en-US" altLang="ko-KR" sz="1400" dirty="0"/>
              <a:t>5. </a:t>
            </a:r>
            <a:r>
              <a:rPr lang="ko-KR" altLang="en-US" sz="1400" dirty="0"/>
              <a:t>분석 단계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유스케이스</a:t>
            </a:r>
            <a:r>
              <a:rPr lang="ko-KR" altLang="en-US" sz="1400" dirty="0"/>
              <a:t> 명세서 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MSA</a:t>
            </a:r>
            <a:r>
              <a:rPr lang="ko-KR" altLang="en-US" sz="1400" dirty="0"/>
              <a:t> 서비스가 정의 된 후 </a:t>
            </a:r>
            <a:r>
              <a:rPr lang="ko-KR" altLang="en-US" sz="1400" dirty="0" err="1"/>
              <a:t>유스케이스면</a:t>
            </a:r>
            <a:endParaRPr lang="en-US" altLang="ko-KR" sz="1400" dirty="0"/>
          </a:p>
          <a:p>
            <a:r>
              <a:rPr lang="ko-KR" altLang="en-US" sz="1400" dirty="0"/>
              <a:t>목표 시스템의 </a:t>
            </a:r>
            <a:r>
              <a:rPr lang="ko-KR" altLang="en-US" sz="1400" dirty="0" err="1"/>
              <a:t>흐름일것이라</a:t>
            </a:r>
            <a:r>
              <a:rPr lang="ko-KR" altLang="en-US" sz="1400" dirty="0"/>
              <a:t> 판단되나</a:t>
            </a:r>
            <a:r>
              <a:rPr lang="en-US" altLang="ko-KR" sz="1400" dirty="0"/>
              <a:t>,</a:t>
            </a:r>
          </a:p>
          <a:p>
            <a:r>
              <a:rPr lang="ko-KR" altLang="en-US" sz="1400" dirty="0"/>
              <a:t>분석단계의 </a:t>
            </a:r>
            <a:r>
              <a:rPr lang="ko-KR" altLang="en-US" sz="1400" dirty="0" err="1"/>
              <a:t>유스케이스명세서는</a:t>
            </a:r>
            <a:r>
              <a:rPr lang="ko-KR" altLang="en-US" sz="1400" dirty="0"/>
              <a:t> </a:t>
            </a:r>
            <a:r>
              <a:rPr lang="en-US" altLang="ko-KR" sz="1400" dirty="0"/>
              <a:t>AS-IS</a:t>
            </a:r>
            <a:r>
              <a:rPr lang="ko-KR" altLang="en-US" sz="1400" dirty="0"/>
              <a:t>흐름으로 보임</a:t>
            </a:r>
            <a:endParaRPr lang="en-US" altLang="ko-KR" sz="1400" dirty="0"/>
          </a:p>
          <a:p>
            <a:r>
              <a:rPr lang="en-US" altLang="ko-KR" sz="1400" dirty="0"/>
              <a:t>(</a:t>
            </a:r>
            <a:r>
              <a:rPr lang="ko-KR" altLang="en-US" sz="1400" dirty="0"/>
              <a:t>현행 흐름 분석서로 예측됨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서비스간 흐름을 명기하심을 권고함</a:t>
            </a:r>
            <a:r>
              <a:rPr lang="en-US" altLang="ko-KR" sz="1400" dirty="0"/>
              <a:t>. (</a:t>
            </a:r>
            <a:r>
              <a:rPr lang="ko-KR" altLang="en-US" sz="1400" dirty="0"/>
              <a:t>설계 시</a:t>
            </a:r>
            <a:r>
              <a:rPr lang="en-US" altLang="ko-KR" sz="14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C32C4-1395-B2E6-4C52-48CC2037D1DF}"/>
              </a:ext>
            </a:extLst>
          </p:cNvPr>
          <p:cNvSpPr txBox="1"/>
          <p:nvPr/>
        </p:nvSpPr>
        <p:spPr>
          <a:xfrm>
            <a:off x="236903" y="1801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CND_MA_산출물목록관리대장_v0.9_20251015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EED1AB-1828-2A46-9589-662ADD6D2568}"/>
              </a:ext>
            </a:extLst>
          </p:cNvPr>
          <p:cNvSpPr txBox="1"/>
          <p:nvPr/>
        </p:nvSpPr>
        <p:spPr>
          <a:xfrm>
            <a:off x="2023710" y="5934670"/>
            <a:ext cx="43091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 err="1"/>
              <a:t>활용패턴은</a:t>
            </a:r>
            <a:r>
              <a:rPr kumimoji="1" lang="ko-KR" altLang="en-US" dirty="0"/>
              <a:t> </a:t>
            </a:r>
            <a:r>
              <a:rPr kumimoji="1" lang="en-US" altLang="ko-KR" dirty="0"/>
              <a:t>spring </a:t>
            </a:r>
            <a:r>
              <a:rPr kumimoji="1" lang="ko-KR" altLang="en-US" dirty="0"/>
              <a:t>아키텍처로 </a:t>
            </a:r>
            <a:r>
              <a:rPr kumimoji="1" lang="ko-KR" altLang="en-US" dirty="0" err="1"/>
              <a:t>기술예정</a:t>
            </a:r>
            <a:endParaRPr kumimoji="1" lang="en-US" altLang="ko-KR" dirty="0"/>
          </a:p>
          <a:p>
            <a:r>
              <a:rPr kumimoji="1" lang="ko-KR" altLang="en-US" dirty="0" err="1"/>
              <a:t>문서일치</a:t>
            </a:r>
            <a:r>
              <a:rPr kumimoji="1" lang="ko-KR" altLang="en-US" dirty="0"/>
              <a:t> 진행하겠음</a:t>
            </a:r>
            <a:endParaRPr kumimoji="1" lang="en-US" altLang="ko-KR" dirty="0"/>
          </a:p>
          <a:p>
            <a:r>
              <a:rPr kumimoji="1" lang="ko-KR" altLang="en-US" dirty="0" err="1"/>
              <a:t>유즈케이스</a:t>
            </a:r>
            <a:r>
              <a:rPr kumimoji="1" lang="ko-KR" altLang="en-US" dirty="0"/>
              <a:t> 다시 검토하겠음</a:t>
            </a:r>
          </a:p>
        </p:txBody>
      </p:sp>
    </p:spTree>
    <p:extLst>
      <p:ext uri="{BB962C8B-B14F-4D97-AF65-F5344CB8AC3E}">
        <p14:creationId xmlns:p14="http://schemas.microsoft.com/office/powerpoint/2010/main" val="3397547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D2C5F4-1E60-314A-0DB7-D862C21D8AB9}"/>
              </a:ext>
            </a:extLst>
          </p:cNvPr>
          <p:cNvSpPr txBox="1"/>
          <p:nvPr/>
        </p:nvSpPr>
        <p:spPr>
          <a:xfrm>
            <a:off x="406400" y="332509"/>
            <a:ext cx="10919079" cy="59093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그 외 권고사항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MSA </a:t>
            </a:r>
            <a:r>
              <a:rPr lang="ko-KR" altLang="en-US" dirty="0"/>
              <a:t>서비스 간</a:t>
            </a:r>
            <a:r>
              <a:rPr lang="en-US" altLang="ko-KR" dirty="0"/>
              <a:t>, </a:t>
            </a:r>
            <a:r>
              <a:rPr lang="ko-KR" altLang="en-US" dirty="0"/>
              <a:t>내부 흐름도 작성 권고 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단순 </a:t>
            </a:r>
            <a:r>
              <a:rPr lang="ko-KR" altLang="en-US" dirty="0" err="1"/>
              <a:t>유스케이스</a:t>
            </a:r>
            <a:r>
              <a:rPr lang="ko-KR" altLang="en-US" dirty="0"/>
              <a:t> 명세서의 서비스 흐름이 아닌 기존 흐름과 차별성을 가지는 흐름 기재 필요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- A</a:t>
            </a:r>
            <a:r>
              <a:rPr lang="ko-KR" altLang="en-US" dirty="0"/>
              <a:t>서비스</a:t>
            </a:r>
            <a:r>
              <a:rPr lang="en-US" altLang="ko-KR" dirty="0"/>
              <a:t>(</a:t>
            </a:r>
            <a:r>
              <a:rPr lang="ko-KR" altLang="en-US" dirty="0"/>
              <a:t>도메인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-&gt; DB</a:t>
            </a:r>
            <a:r>
              <a:rPr lang="ko-KR" altLang="en-US" dirty="0"/>
              <a:t>조회 </a:t>
            </a:r>
            <a:r>
              <a:rPr lang="en-US" altLang="ko-KR" dirty="0"/>
              <a:t>-&gt; </a:t>
            </a:r>
            <a:r>
              <a:rPr lang="en-US" altLang="ko-KR" dirty="0" err="1"/>
              <a:t>kakka</a:t>
            </a:r>
            <a:r>
              <a:rPr lang="en-US" altLang="ko-KR" dirty="0"/>
              <a:t> -&gt; B</a:t>
            </a:r>
            <a:r>
              <a:rPr lang="ko-KR" altLang="en-US" dirty="0"/>
              <a:t>서비스 </a:t>
            </a:r>
            <a:r>
              <a:rPr lang="en-US" altLang="ko-KR" dirty="0"/>
              <a:t>(</a:t>
            </a:r>
            <a:r>
              <a:rPr lang="ko-KR" altLang="en-US" dirty="0"/>
              <a:t>도메인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내부 사용 용어 정의</a:t>
            </a:r>
            <a:endParaRPr lang="en-US" altLang="ko-KR" dirty="0"/>
          </a:p>
          <a:p>
            <a:r>
              <a:rPr lang="en-US" altLang="ko-KR" dirty="0"/>
              <a:t>   - </a:t>
            </a:r>
            <a:r>
              <a:rPr lang="ko-KR" altLang="en-US" dirty="0"/>
              <a:t>분류</a:t>
            </a:r>
            <a:r>
              <a:rPr lang="en-US" altLang="ko-KR" dirty="0"/>
              <a:t>, </a:t>
            </a:r>
            <a:r>
              <a:rPr lang="ko-KR" altLang="en-US" dirty="0"/>
              <a:t>성격</a:t>
            </a:r>
            <a:r>
              <a:rPr lang="en-US" altLang="ko-KR" dirty="0"/>
              <a:t>, </a:t>
            </a:r>
            <a:r>
              <a:rPr lang="ko-KR" altLang="en-US" dirty="0"/>
              <a:t>업무</a:t>
            </a:r>
            <a:r>
              <a:rPr lang="en-US" altLang="ko-KR" dirty="0"/>
              <a:t>, </a:t>
            </a:r>
            <a:r>
              <a:rPr lang="ko-KR" altLang="en-US" dirty="0"/>
              <a:t>서비스 등 다양한 용어를 </a:t>
            </a:r>
            <a:r>
              <a:rPr lang="en-US" altLang="ko-KR" dirty="0"/>
              <a:t>Level</a:t>
            </a:r>
            <a:r>
              <a:rPr lang="ko-KR" altLang="en-US" dirty="0"/>
              <a:t>별로 상이하게 사용 </a:t>
            </a:r>
            <a:r>
              <a:rPr lang="ko-KR" altLang="en-US" dirty="0" err="1"/>
              <a:t>중인것으로</a:t>
            </a:r>
            <a:r>
              <a:rPr lang="ko-KR" altLang="en-US" dirty="0"/>
              <a:t> 확인됨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- </a:t>
            </a:r>
            <a:r>
              <a:rPr lang="ko-KR" altLang="en-US" dirty="0"/>
              <a:t>업무영역</a:t>
            </a:r>
            <a:r>
              <a:rPr lang="en-US" altLang="ko-KR" dirty="0"/>
              <a:t>(</a:t>
            </a:r>
            <a:r>
              <a:rPr lang="ko-KR" altLang="en-US" dirty="0"/>
              <a:t>평생학습</a:t>
            </a:r>
            <a:r>
              <a:rPr lang="en-US" altLang="ko-KR" dirty="0"/>
              <a:t>, </a:t>
            </a:r>
            <a:r>
              <a:rPr lang="ko-KR" altLang="en-US" dirty="0"/>
              <a:t>통합예약 등</a:t>
            </a:r>
            <a:r>
              <a:rPr lang="en-US" altLang="ko-KR" dirty="0"/>
              <a:t>),  </a:t>
            </a:r>
            <a:r>
              <a:rPr lang="ko-KR" altLang="en-US" dirty="0"/>
              <a:t>도메인</a:t>
            </a:r>
            <a:r>
              <a:rPr lang="en-US" altLang="ko-KR" dirty="0"/>
              <a:t> </a:t>
            </a:r>
            <a:r>
              <a:rPr lang="ko-KR" altLang="en-US" dirty="0"/>
              <a:t>서비스</a:t>
            </a:r>
            <a:r>
              <a:rPr lang="en-US" altLang="ko-KR" dirty="0"/>
              <a:t>, </a:t>
            </a:r>
            <a:r>
              <a:rPr lang="ko-KR" altLang="en-US" dirty="0"/>
              <a:t>그 아래 </a:t>
            </a:r>
            <a:r>
              <a:rPr lang="en-US" altLang="ko-KR" dirty="0"/>
              <a:t>CRUD</a:t>
            </a:r>
            <a:r>
              <a:rPr lang="ko-KR" altLang="en-US" dirty="0"/>
              <a:t>같은 세부 서비스를 </a:t>
            </a:r>
            <a:r>
              <a:rPr lang="ko-KR" altLang="en-US" dirty="0" err="1"/>
              <a:t>명칭하는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용어 정의하고</a:t>
            </a:r>
            <a:r>
              <a:rPr lang="en-US" altLang="ko-KR" dirty="0"/>
              <a:t>, </a:t>
            </a:r>
            <a:r>
              <a:rPr lang="ko-KR" altLang="en-US" dirty="0"/>
              <a:t>그에 맞도록 기재 권고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동기 서비스 중 비동기 서비스 정의 후 반영 고려 </a:t>
            </a:r>
            <a:r>
              <a:rPr lang="en-US" altLang="ko-KR" dirty="0"/>
              <a:t>(</a:t>
            </a:r>
            <a:r>
              <a:rPr lang="ko-KR" altLang="en-US" dirty="0"/>
              <a:t>사용빈도가 높거나 처리속도가 낮은 서비스 대상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- </a:t>
            </a:r>
            <a:r>
              <a:rPr lang="ko-KR" altLang="en-US" dirty="0"/>
              <a:t>통합 </a:t>
            </a:r>
            <a:r>
              <a:rPr lang="en-US" altLang="ko-KR" dirty="0"/>
              <a:t>DB</a:t>
            </a:r>
            <a:r>
              <a:rPr lang="ko-KR" altLang="en-US" dirty="0"/>
              <a:t>를 사용하고 있어</a:t>
            </a:r>
            <a:r>
              <a:rPr lang="en-US" altLang="ko-KR" dirty="0"/>
              <a:t>, SPOF</a:t>
            </a:r>
            <a:r>
              <a:rPr lang="ko-KR" altLang="en-US" dirty="0"/>
              <a:t>의 경우 전체 서비스에 영향을 줌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    (</a:t>
            </a:r>
            <a:r>
              <a:rPr lang="ko-KR" altLang="en-US" dirty="0"/>
              <a:t>어차피 부하로 인해 </a:t>
            </a:r>
            <a:r>
              <a:rPr lang="en-US" altLang="ko-KR" dirty="0"/>
              <a:t>DB Lock</a:t>
            </a:r>
            <a:r>
              <a:rPr lang="ko-KR" altLang="en-US" dirty="0"/>
              <a:t>발생 시 서비스 전체 영향이 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  - DB </a:t>
            </a:r>
            <a:r>
              <a:rPr lang="ko-KR" altLang="en-US" dirty="0"/>
              <a:t>테이블 구분</a:t>
            </a:r>
            <a:r>
              <a:rPr lang="en-US" altLang="ko-KR" dirty="0"/>
              <a:t>, </a:t>
            </a:r>
            <a:r>
              <a:rPr lang="ko-KR" altLang="en-US" dirty="0"/>
              <a:t>물리 스키마 분리</a:t>
            </a:r>
            <a:r>
              <a:rPr lang="en-US" altLang="ko-KR" dirty="0"/>
              <a:t>, </a:t>
            </a:r>
            <a:r>
              <a:rPr lang="ko-KR" altLang="en-US" dirty="0"/>
              <a:t>메시지</a:t>
            </a:r>
            <a:r>
              <a:rPr lang="en-US" altLang="ko-KR" dirty="0"/>
              <a:t> </a:t>
            </a:r>
            <a:r>
              <a:rPr lang="ko-KR" altLang="en-US" dirty="0"/>
              <a:t>브로커 등의 장애 차단에 대한 기술 보완 필요함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 </a:t>
            </a:r>
          </a:p>
          <a:p>
            <a:r>
              <a:rPr lang="en-US" altLang="ko-KR" dirty="0"/>
              <a:t>   - </a:t>
            </a:r>
            <a:r>
              <a:rPr lang="ko-KR" altLang="en-US" dirty="0"/>
              <a:t>현재 구조로는 </a:t>
            </a:r>
            <a:r>
              <a:rPr lang="en-US" altLang="ko-KR" dirty="0"/>
              <a:t>saga </a:t>
            </a:r>
            <a:r>
              <a:rPr lang="ko-KR" altLang="en-US" dirty="0"/>
              <a:t>패턴 의미 없음</a:t>
            </a:r>
            <a:r>
              <a:rPr lang="en-US" altLang="ko-KR" dirty="0"/>
              <a:t>(2PC</a:t>
            </a:r>
            <a:r>
              <a:rPr lang="ko-KR" altLang="en-US" dirty="0"/>
              <a:t>은 분리된 </a:t>
            </a:r>
            <a:r>
              <a:rPr lang="en-US" altLang="ko-KR" dirty="0"/>
              <a:t>DB</a:t>
            </a:r>
            <a:r>
              <a:rPr lang="ko-KR" altLang="en-US" dirty="0"/>
              <a:t>의 경우만 사용 가능</a:t>
            </a:r>
            <a:r>
              <a:rPr lang="en-US" altLang="ko-KR" dirty="0"/>
              <a:t>.)</a:t>
            </a:r>
          </a:p>
          <a:p>
            <a:r>
              <a:rPr lang="en-US" altLang="ko-KR" dirty="0"/>
              <a:t>   - CQRS</a:t>
            </a:r>
            <a:r>
              <a:rPr lang="ko-KR" altLang="en-US" dirty="0"/>
              <a:t>의 경우는 활용 가능할 수 있음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      (</a:t>
            </a:r>
            <a:r>
              <a:rPr lang="ko-KR" altLang="en-US" dirty="0"/>
              <a:t>동일한 </a:t>
            </a:r>
            <a:r>
              <a:rPr lang="en-US" altLang="ko-KR" dirty="0"/>
              <a:t>DB</a:t>
            </a:r>
            <a:r>
              <a:rPr lang="ko-KR" altLang="en-US" dirty="0"/>
              <a:t>의 </a:t>
            </a:r>
            <a:r>
              <a:rPr lang="en-US" altLang="ko-KR" dirty="0"/>
              <a:t>Write</a:t>
            </a:r>
            <a:r>
              <a:rPr lang="ko-KR" altLang="en-US" dirty="0"/>
              <a:t>권한을 가진 서비스 분리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ko-KR" altLang="en-US" dirty="0" err="1"/>
              <a:t>리플리카셋으로</a:t>
            </a:r>
            <a:r>
              <a:rPr lang="ko-KR" altLang="en-US" dirty="0"/>
              <a:t> 구성</a:t>
            </a:r>
            <a:endParaRPr lang="en-US" altLang="ko-KR" dirty="0"/>
          </a:p>
          <a:p>
            <a:r>
              <a:rPr lang="en-US" altLang="ko-KR" dirty="0"/>
              <a:t>                                                      Write</a:t>
            </a:r>
            <a:r>
              <a:rPr lang="ko-KR" altLang="en-US" dirty="0"/>
              <a:t>와 </a:t>
            </a:r>
            <a:r>
              <a:rPr lang="en-US" altLang="ko-KR" dirty="0"/>
              <a:t>Read</a:t>
            </a:r>
            <a:r>
              <a:rPr lang="ko-KR" altLang="en-US" dirty="0"/>
              <a:t>로 분리</a:t>
            </a:r>
            <a:r>
              <a:rPr lang="en-US" altLang="ko-KR" dirty="0"/>
              <a:t>, </a:t>
            </a:r>
            <a:r>
              <a:rPr lang="ko-KR" altLang="en-US" dirty="0" err="1"/>
              <a:t>둘간의</a:t>
            </a:r>
            <a:r>
              <a:rPr lang="ko-KR" altLang="en-US" dirty="0"/>
              <a:t> 동기화 처리 등 구조 변경 고려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장애 발생 시 처리 방안 보완 필요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BA268-D675-2747-B620-2E8E919200E8}"/>
              </a:ext>
            </a:extLst>
          </p:cNvPr>
          <p:cNvSpPr txBox="1"/>
          <p:nvPr/>
        </p:nvSpPr>
        <p:spPr>
          <a:xfrm>
            <a:off x="6705600" y="332509"/>
            <a:ext cx="4435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비동기 부분은 특히 </a:t>
            </a:r>
            <a:r>
              <a:rPr kumimoji="1" lang="ko-KR" altLang="en-US" dirty="0" err="1"/>
              <a:t>신경써서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변경학겠음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45864-4166-E843-926B-6291FF9A1A4B}"/>
              </a:ext>
            </a:extLst>
          </p:cNvPr>
          <p:cNvSpPr txBox="1"/>
          <p:nvPr/>
        </p:nvSpPr>
        <p:spPr>
          <a:xfrm>
            <a:off x="1435100" y="6211669"/>
            <a:ext cx="6825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비동기 적극도입으로 </a:t>
            </a:r>
            <a:r>
              <a:rPr kumimoji="1" lang="ko-KR" altLang="en-US" dirty="0" err="1"/>
              <a:t>장애대응</a:t>
            </a:r>
            <a:endParaRPr kumimoji="1" lang="en-US" altLang="ko-KR" dirty="0"/>
          </a:p>
          <a:p>
            <a:r>
              <a:rPr kumimoji="1" lang="ko-KR" altLang="en-US" dirty="0"/>
              <a:t>사례</a:t>
            </a:r>
            <a:r>
              <a:rPr kumimoji="1" lang="en-US" altLang="ko-KR" dirty="0"/>
              <a:t>)</a:t>
            </a:r>
            <a:r>
              <a:rPr kumimoji="1" lang="ko-KR" altLang="en-US" dirty="0"/>
              <a:t> 강좌를 </a:t>
            </a:r>
            <a:r>
              <a:rPr kumimoji="1" lang="ko-KR" altLang="en-US" dirty="0" err="1"/>
              <a:t>레디스에</a:t>
            </a:r>
            <a:r>
              <a:rPr kumimoji="1" lang="ko-KR" altLang="en-US" dirty="0"/>
              <a:t> 넣고 죽으면 </a:t>
            </a:r>
            <a:r>
              <a:rPr kumimoji="1" lang="ko-KR" altLang="en-US" dirty="0" err="1"/>
              <a:t>원디비</a:t>
            </a:r>
            <a:r>
              <a:rPr kumimoji="1" lang="ko-KR" altLang="en-US" dirty="0"/>
              <a:t> 보는 이중화 </a:t>
            </a:r>
            <a:r>
              <a:rPr kumimoji="1" lang="en-US" altLang="ko-KR" dirty="0"/>
              <a:t>/</a:t>
            </a:r>
            <a:r>
              <a:rPr kumimoji="1" lang="ko-KR" altLang="en-US" dirty="0"/>
              <a:t> </a:t>
            </a:r>
            <a:r>
              <a:rPr kumimoji="1" lang="en-US" altLang="ko-KR" dirty="0"/>
              <a:t>CQRS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4930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0C1B1D-F69D-E445-918E-E43068096C54}"/>
              </a:ext>
            </a:extLst>
          </p:cNvPr>
          <p:cNvSpPr txBox="1"/>
          <p:nvPr/>
        </p:nvSpPr>
        <p:spPr>
          <a:xfrm>
            <a:off x="939800" y="749300"/>
            <a:ext cx="110236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마이크로서비스의 흐름도가 필요하다</a:t>
            </a:r>
            <a:endParaRPr kumimoji="1" lang="en-US" altLang="ko-KR" dirty="0"/>
          </a:p>
          <a:p>
            <a:r>
              <a:rPr kumimoji="1" lang="ko-KR" altLang="en-US" dirty="0"/>
              <a:t>동기</a:t>
            </a:r>
            <a:r>
              <a:rPr kumimoji="1" lang="en-US" altLang="ko-KR" dirty="0"/>
              <a:t>//</a:t>
            </a:r>
            <a:r>
              <a:rPr kumimoji="1" lang="ko-KR" altLang="en-US" dirty="0"/>
              <a:t>비동기 등</a:t>
            </a:r>
            <a:endParaRPr kumimoji="1" lang="en-US" altLang="ko-KR" dirty="0"/>
          </a:p>
          <a:p>
            <a:r>
              <a:rPr kumimoji="1" lang="ko-KR" altLang="en-US" dirty="0"/>
              <a:t>유형</a:t>
            </a:r>
            <a:r>
              <a:rPr kumimoji="1" lang="en-US" altLang="ko-KR" dirty="0"/>
              <a:t>,</a:t>
            </a:r>
            <a:r>
              <a:rPr kumimoji="1" lang="ko-KR" altLang="en-US" dirty="0"/>
              <a:t>패턴 몇가지 명시하는 것으로 </a:t>
            </a:r>
            <a:r>
              <a:rPr kumimoji="1" lang="ko-KR" altLang="en-US" dirty="0" err="1"/>
              <a:t>정리할것</a:t>
            </a:r>
            <a:endParaRPr kumimoji="1" lang="en-US" altLang="ko-KR" dirty="0"/>
          </a:p>
          <a:p>
            <a:r>
              <a:rPr kumimoji="1" lang="ko-KR" altLang="en-US" dirty="0" err="1"/>
              <a:t>유즈케이스</a:t>
            </a:r>
            <a:r>
              <a:rPr kumimoji="1" lang="ko-KR" altLang="en-US" dirty="0"/>
              <a:t> 는 그래서 필요가 없다</a:t>
            </a:r>
            <a:endParaRPr kumimoji="1" lang="en-US" altLang="ko-KR" dirty="0"/>
          </a:p>
          <a:p>
            <a:r>
              <a:rPr kumimoji="1" lang="ko-KR" altLang="en-US" dirty="0"/>
              <a:t>패턴이 </a:t>
            </a:r>
            <a:r>
              <a:rPr kumimoji="1" lang="ko-KR" altLang="en-US" dirty="0" err="1"/>
              <a:t>몇개없다</a:t>
            </a:r>
            <a:r>
              <a:rPr kumimoji="1" lang="ko-KR" altLang="en-US" dirty="0"/>
              <a:t> 현실적으로 하는 것으로 </a:t>
            </a:r>
            <a:r>
              <a:rPr kumimoji="1" lang="ko-KR" altLang="en-US" dirty="0" err="1"/>
              <a:t>이야기할것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 err="1"/>
              <a:t>엑셀장표는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일관성있게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성격 </a:t>
            </a:r>
            <a:r>
              <a:rPr kumimoji="1" lang="ko-KR" altLang="en-US" dirty="0" err="1"/>
              <a:t>컬럼삭제</a:t>
            </a:r>
            <a:endParaRPr kumimoji="1" lang="en-US" altLang="ko-KR" dirty="0"/>
          </a:p>
          <a:p>
            <a:r>
              <a:rPr kumimoji="1" lang="ko-KR" altLang="en-US" dirty="0"/>
              <a:t>논리는 논리로 끝내고 물리는 물리로</a:t>
            </a:r>
            <a:endParaRPr kumimoji="1" lang="en-US" altLang="ko-KR" dirty="0"/>
          </a:p>
          <a:p>
            <a:r>
              <a:rPr kumimoji="1" lang="ko-KR" altLang="en-US" dirty="0"/>
              <a:t>감리</a:t>
            </a:r>
            <a:r>
              <a:rPr kumimoji="1" lang="en-US" altLang="ko-KR" dirty="0"/>
              <a:t>-</a:t>
            </a:r>
            <a:r>
              <a:rPr kumimoji="1" lang="ko-KR" altLang="en-US" dirty="0"/>
              <a:t>통계 </a:t>
            </a:r>
            <a:r>
              <a:rPr kumimoji="1" lang="en-US" altLang="ko-KR" dirty="0"/>
              <a:t>;</a:t>
            </a:r>
            <a:r>
              <a:rPr kumimoji="1" lang="ko-KR" altLang="en-US" dirty="0"/>
              <a:t> </a:t>
            </a:r>
            <a:r>
              <a:rPr kumimoji="1" lang="en-US" altLang="ko-KR" dirty="0"/>
              <a:t>AS-IS</a:t>
            </a:r>
            <a:r>
              <a:rPr kumimoji="1" lang="ko-KR" altLang="en-US" dirty="0"/>
              <a:t>몇개가 </a:t>
            </a:r>
            <a:r>
              <a:rPr kumimoji="1" lang="en-US" altLang="ko-KR" dirty="0"/>
              <a:t>TO-B</a:t>
            </a:r>
            <a:r>
              <a:rPr kumimoji="1" lang="ko-KR" altLang="en-US" dirty="0"/>
              <a:t> 몇개로 변경이고 어디로 </a:t>
            </a:r>
            <a:r>
              <a:rPr kumimoji="1" lang="ko-KR" altLang="en-US" dirty="0" err="1"/>
              <a:t>ㄱ간건지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숫자맞춰서</a:t>
            </a:r>
            <a:r>
              <a:rPr kumimoji="1" lang="ko-KR" altLang="en-US" dirty="0"/>
              <a:t> 내부자료로라도 </a:t>
            </a:r>
            <a:r>
              <a:rPr kumimoji="1" lang="ko-KR" altLang="en-US" dirty="0" err="1"/>
              <a:t>갖고있을것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확정진행</a:t>
            </a:r>
            <a:r>
              <a:rPr kumimoji="1" lang="ko-KR" altLang="en-US" dirty="0"/>
              <a:t> 후 </a:t>
            </a:r>
            <a:r>
              <a:rPr kumimoji="1" lang="ko-KR" altLang="en-US" dirty="0" err="1"/>
              <a:t>명시예정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이너아키텍처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r>
              <a:rPr kumimoji="1" lang="en-US" altLang="ko-KR" dirty="0"/>
              <a:t>k8s: </a:t>
            </a:r>
            <a:r>
              <a:rPr kumimoji="1" lang="ko-KR" altLang="en-US" dirty="0"/>
              <a:t>내부의 아키텍처</a:t>
            </a:r>
            <a:endParaRPr kumimoji="1" lang="en-US" altLang="ko-KR" dirty="0"/>
          </a:p>
          <a:p>
            <a:r>
              <a:rPr kumimoji="1" lang="ko-KR" altLang="en-US" dirty="0" err="1"/>
              <a:t>장애대응</a:t>
            </a:r>
            <a:r>
              <a:rPr kumimoji="1" lang="en-US" altLang="ko-KR" dirty="0"/>
              <a:t>,</a:t>
            </a:r>
            <a:r>
              <a:rPr kumimoji="1" lang="ko-KR" altLang="en-US" dirty="0"/>
              <a:t> 서비스 </a:t>
            </a:r>
            <a:r>
              <a:rPr kumimoji="1" lang="ko-KR" altLang="en-US" dirty="0" err="1"/>
              <a:t>분리방법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DB</a:t>
            </a:r>
            <a:r>
              <a:rPr kumimoji="1" lang="ko-KR" altLang="en-US" dirty="0"/>
              <a:t>정책</a:t>
            </a:r>
            <a:r>
              <a:rPr kumimoji="1" lang="en-US" altLang="ko-KR" dirty="0"/>
              <a:t>(CQRS), </a:t>
            </a:r>
            <a:r>
              <a:rPr kumimoji="1" lang="ko-KR" altLang="en-US" dirty="0"/>
              <a:t>동기</a:t>
            </a:r>
            <a:r>
              <a:rPr kumimoji="1" lang="en-US" altLang="ko-KR" dirty="0"/>
              <a:t>/</a:t>
            </a:r>
            <a:r>
              <a:rPr kumimoji="1" lang="ko-KR" altLang="en-US" dirty="0"/>
              <a:t>비동기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외부연동방법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 err="1"/>
              <a:t>흐름패턴</a:t>
            </a:r>
            <a:r>
              <a:rPr kumimoji="1" lang="ko-KR" altLang="en-US" dirty="0"/>
              <a:t> </a:t>
            </a:r>
            <a:r>
              <a:rPr kumimoji="1" lang="en-US" altLang="ko-KR" dirty="0"/>
              <a:t>1) CRUD, 2) </a:t>
            </a:r>
            <a:r>
              <a:rPr kumimoji="1" lang="ko-KR" altLang="en-US" dirty="0"/>
              <a:t>동기</a:t>
            </a:r>
            <a:r>
              <a:rPr kumimoji="1" lang="en-US" altLang="ko-KR" dirty="0"/>
              <a:t>/</a:t>
            </a:r>
            <a:r>
              <a:rPr kumimoji="1" lang="ko-KR" altLang="en-US" dirty="0"/>
              <a:t>비동기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 err="1"/>
              <a:t>쿠베와의</a:t>
            </a:r>
            <a:r>
              <a:rPr kumimoji="1" lang="ko-KR" altLang="en-US" dirty="0"/>
              <a:t> 관계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en-US" altLang="ko-KR" dirty="0"/>
              <a:t>DB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egress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타야하는가</a:t>
            </a:r>
            <a:r>
              <a:rPr kumimoji="1" lang="en-US" altLang="ko-KR" dirty="0"/>
              <a:t>?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이그레스</a:t>
            </a:r>
            <a:r>
              <a:rPr kumimoji="1" lang="ko-KR" altLang="en-US" dirty="0"/>
              <a:t> 죽으면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라우팅 정책 에서 외부</a:t>
            </a:r>
            <a:r>
              <a:rPr kumimoji="1" lang="en-US" altLang="ko-KR" dirty="0"/>
              <a:t>DB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등록하는게 가능한가 알아보고 인프라에 </a:t>
            </a:r>
            <a:r>
              <a:rPr kumimoji="1" lang="ko-KR" altLang="en-US" dirty="0" err="1"/>
              <a:t>요청할것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9178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7DE556-702F-C852-4169-C85B4ACFB4D7}"/>
              </a:ext>
            </a:extLst>
          </p:cNvPr>
          <p:cNvSpPr txBox="1"/>
          <p:nvPr/>
        </p:nvSpPr>
        <p:spPr>
          <a:xfrm>
            <a:off x="452582" y="267855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사례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A472C1-0BCF-1511-F999-A9C9207CD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9" y="1211828"/>
            <a:ext cx="6289964" cy="40409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6427F8-1F4B-908F-AA4F-C0C555272D00}"/>
              </a:ext>
            </a:extLst>
          </p:cNvPr>
          <p:cNvSpPr txBox="1"/>
          <p:nvPr/>
        </p:nvSpPr>
        <p:spPr>
          <a:xfrm>
            <a:off x="7067574" y="1031679"/>
            <a:ext cx="457381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전제조건</a:t>
            </a:r>
            <a:r>
              <a:rPr lang="en-US" altLang="ko-KR" sz="1400" dirty="0"/>
              <a:t>: </a:t>
            </a:r>
            <a:r>
              <a:rPr lang="ko-KR" altLang="en-US" sz="1400" dirty="0"/>
              <a:t>해당 흐름은 사례임</a:t>
            </a:r>
            <a:r>
              <a:rPr lang="en-US" altLang="ko-KR" sz="1400" dirty="0"/>
              <a:t>. </a:t>
            </a:r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강좌관리 서비스에서 등록된</a:t>
            </a:r>
            <a:endParaRPr lang="en-US" altLang="ko-KR" sz="1400" dirty="0"/>
          </a:p>
          <a:p>
            <a:r>
              <a:rPr lang="en-US" altLang="ko-KR" sz="1400" dirty="0"/>
              <a:t>    </a:t>
            </a:r>
            <a:r>
              <a:rPr lang="ko-KR" altLang="en-US" sz="1400" dirty="0"/>
              <a:t>강좌정보를 </a:t>
            </a:r>
            <a:r>
              <a:rPr lang="en-US" altLang="ko-KR" sz="1400" dirty="0"/>
              <a:t>Redis</a:t>
            </a:r>
            <a:r>
              <a:rPr lang="ko-KR" altLang="en-US" sz="1400" dirty="0"/>
              <a:t>와 </a:t>
            </a:r>
            <a:r>
              <a:rPr lang="en-US" altLang="ko-KR" sz="1400" dirty="0"/>
              <a:t>DBMS</a:t>
            </a:r>
            <a:r>
              <a:rPr lang="ko-KR" altLang="en-US" sz="1400" dirty="0"/>
              <a:t>에 각각 저장</a:t>
            </a:r>
            <a:endParaRPr lang="en-US" altLang="ko-KR" sz="1400" dirty="0"/>
          </a:p>
          <a:p>
            <a:r>
              <a:rPr lang="en-US" altLang="ko-KR" sz="1400" dirty="0"/>
              <a:t>   </a:t>
            </a:r>
          </a:p>
          <a:p>
            <a:r>
              <a:rPr lang="en-US" altLang="ko-KR" sz="1400" dirty="0"/>
              <a:t>2.  </a:t>
            </a:r>
            <a:r>
              <a:rPr lang="ko-KR" altLang="en-US" sz="1400" dirty="0" err="1"/>
              <a:t>수강신청자관리</a:t>
            </a:r>
            <a:r>
              <a:rPr lang="ko-KR" altLang="en-US" sz="1400" dirty="0"/>
              <a:t> 서비스는</a:t>
            </a:r>
            <a:endParaRPr lang="en-US" altLang="ko-KR" sz="1400" dirty="0"/>
          </a:p>
          <a:p>
            <a:r>
              <a:rPr lang="en-US" altLang="ko-KR" sz="1400" dirty="0"/>
              <a:t>    </a:t>
            </a:r>
            <a:r>
              <a:rPr lang="ko-KR" altLang="en-US" sz="1400" dirty="0"/>
              <a:t>강좌관리를 통해 </a:t>
            </a:r>
            <a:r>
              <a:rPr lang="en-US" altLang="ko-KR" sz="1400" dirty="0" err="1"/>
              <a:t>redis</a:t>
            </a:r>
            <a:r>
              <a:rPr lang="ko-KR" altLang="en-US" sz="1400" dirty="0"/>
              <a:t>정보를 </a:t>
            </a:r>
            <a:r>
              <a:rPr lang="ko-KR" altLang="en-US" sz="1400" dirty="0" err="1"/>
              <a:t>얻어옴</a:t>
            </a:r>
            <a:endParaRPr lang="en-US" altLang="ko-KR" sz="1400" dirty="0"/>
          </a:p>
          <a:p>
            <a:r>
              <a:rPr lang="en-US" altLang="ko-KR" sz="1400" dirty="0"/>
              <a:t>    (DB</a:t>
            </a:r>
            <a:r>
              <a:rPr lang="ko-KR" altLang="en-US" sz="1400" dirty="0"/>
              <a:t>가 분리되지 않았으니</a:t>
            </a:r>
            <a:r>
              <a:rPr lang="en-US" altLang="ko-KR" sz="1400" dirty="0"/>
              <a:t> </a:t>
            </a:r>
          </a:p>
          <a:p>
            <a:r>
              <a:rPr lang="en-US" altLang="ko-KR" sz="1400" dirty="0"/>
              <a:t>     </a:t>
            </a:r>
            <a:r>
              <a:rPr lang="en-US" altLang="ko-KR" sz="1400" dirty="0" err="1"/>
              <a:t>redis</a:t>
            </a:r>
            <a:r>
              <a:rPr lang="ko-KR" altLang="en-US" sz="1400" dirty="0"/>
              <a:t>정보를 직접 </a:t>
            </a:r>
            <a:r>
              <a:rPr lang="en-US" altLang="ko-KR" sz="1400" dirty="0"/>
              <a:t>read</a:t>
            </a:r>
            <a:r>
              <a:rPr lang="ko-KR" altLang="en-US" sz="1400" dirty="0"/>
              <a:t>함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/>
              <a:t>3. </a:t>
            </a:r>
            <a:r>
              <a:rPr lang="ko-KR" altLang="en-US" sz="1400" dirty="0" err="1"/>
              <a:t>수강신청자관리</a:t>
            </a:r>
            <a:r>
              <a:rPr lang="ko-KR" altLang="en-US" sz="1400" dirty="0"/>
              <a:t> 서비스를 강좌 관리 정보를 </a:t>
            </a:r>
            <a:endParaRPr lang="en-US" altLang="ko-KR" sz="1400" dirty="0"/>
          </a:p>
          <a:p>
            <a:r>
              <a:rPr lang="en-US" altLang="ko-KR" sz="1400" dirty="0"/>
              <a:t>   </a:t>
            </a:r>
            <a:r>
              <a:rPr lang="ko-KR" altLang="en-US" sz="1400" dirty="0" err="1"/>
              <a:t>읽어들어</a:t>
            </a:r>
            <a:r>
              <a:rPr lang="ko-KR" altLang="en-US" sz="1400" dirty="0"/>
              <a:t> 수강신청을 등록함</a:t>
            </a:r>
            <a:r>
              <a:rPr lang="en-US" altLang="ko-KR" sz="1400" dirty="0"/>
              <a:t>. </a:t>
            </a:r>
            <a:r>
              <a:rPr lang="ko-KR" altLang="en-US" sz="1400" dirty="0"/>
              <a:t>신청 테이블에 </a:t>
            </a:r>
            <a:r>
              <a:rPr lang="en-US" altLang="ko-KR" sz="1400" dirty="0"/>
              <a:t>Write</a:t>
            </a:r>
            <a:r>
              <a:rPr lang="ko-KR" altLang="en-US" sz="1400" dirty="0"/>
              <a:t>함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  1) </a:t>
            </a:r>
            <a:r>
              <a:rPr lang="ko-KR" altLang="en-US" sz="1400" dirty="0"/>
              <a:t>강좌정보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redis</a:t>
            </a:r>
            <a:r>
              <a:rPr lang="en-US" altLang="ko-KR" sz="1400" dirty="0"/>
              <a:t>)</a:t>
            </a:r>
            <a:r>
              <a:rPr lang="ko-KR" altLang="en-US" sz="1400" dirty="0"/>
              <a:t>가 다운될 경우 </a:t>
            </a:r>
            <a:r>
              <a:rPr lang="en-US" altLang="ko-KR" sz="1400" dirty="0"/>
              <a:t>DB</a:t>
            </a:r>
            <a:r>
              <a:rPr lang="ko-KR" altLang="en-US" sz="1400" dirty="0"/>
              <a:t>정보를 읽어와서</a:t>
            </a:r>
            <a:endParaRPr lang="en-US" altLang="ko-KR" sz="1400" dirty="0"/>
          </a:p>
          <a:p>
            <a:r>
              <a:rPr lang="en-US" altLang="ko-KR" sz="1400" dirty="0"/>
              <a:t>          </a:t>
            </a:r>
            <a:r>
              <a:rPr lang="ko-KR" altLang="en-US" sz="1400" dirty="0"/>
              <a:t>처리 </a:t>
            </a:r>
            <a:r>
              <a:rPr lang="en-US" altLang="ko-KR" sz="1400" dirty="0"/>
              <a:t>(</a:t>
            </a:r>
            <a:r>
              <a:rPr lang="ko-KR" altLang="en-US" sz="1400" dirty="0"/>
              <a:t>장애 발생 시 대응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2) </a:t>
            </a:r>
            <a:r>
              <a:rPr lang="ko-KR" altLang="en-US" sz="1400" dirty="0" err="1"/>
              <a:t>수강신청자관리</a:t>
            </a:r>
            <a:r>
              <a:rPr lang="ko-KR" altLang="en-US" sz="1400" dirty="0"/>
              <a:t> 테이블은 </a:t>
            </a:r>
            <a:r>
              <a:rPr lang="en-US" altLang="ko-KR" sz="1400" dirty="0"/>
              <a:t>R/W </a:t>
            </a:r>
            <a:r>
              <a:rPr lang="ko-KR" altLang="en-US" sz="1400" dirty="0"/>
              <a:t>권한으로 분리하여</a:t>
            </a:r>
            <a:endParaRPr lang="en-US" altLang="ko-KR" sz="1400" dirty="0"/>
          </a:p>
          <a:p>
            <a:r>
              <a:rPr lang="en-US" altLang="ko-KR" sz="1400" dirty="0"/>
              <a:t>     </a:t>
            </a:r>
            <a:r>
              <a:rPr lang="ko-KR" altLang="en-US" sz="1400" dirty="0" err="1"/>
              <a:t>리플리카셋으로</a:t>
            </a:r>
            <a:r>
              <a:rPr lang="ko-KR" altLang="en-US" sz="1400" dirty="0"/>
              <a:t> 구성</a:t>
            </a:r>
            <a:r>
              <a:rPr lang="en-US" altLang="ko-KR" sz="1400" dirty="0"/>
              <a:t>, </a:t>
            </a:r>
            <a:r>
              <a:rPr lang="ko-KR" altLang="en-US" sz="1400" dirty="0"/>
              <a:t>데이터를 동기화함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    - </a:t>
            </a:r>
            <a:r>
              <a:rPr lang="ko-KR" altLang="en-US" sz="1400" dirty="0"/>
              <a:t>신청 정보 테이블과 주기적으로 동기화하여</a:t>
            </a:r>
            <a:endParaRPr lang="en-US" altLang="ko-KR" sz="1400" dirty="0"/>
          </a:p>
          <a:p>
            <a:r>
              <a:rPr lang="en-US" altLang="ko-KR" sz="1400" dirty="0"/>
              <a:t>       </a:t>
            </a:r>
            <a:r>
              <a:rPr lang="ko-KR" altLang="en-US" sz="1400" dirty="0"/>
              <a:t>신청상황을 </a:t>
            </a:r>
            <a:r>
              <a:rPr lang="en-US" altLang="ko-KR" sz="1400" dirty="0"/>
              <a:t>Read</a:t>
            </a:r>
            <a:r>
              <a:rPr lang="ko-KR" altLang="en-US" sz="1400" dirty="0"/>
              <a:t>함</a:t>
            </a:r>
            <a:r>
              <a:rPr lang="en-US" altLang="ko-KR" sz="1400" dirty="0"/>
              <a:t>. (CQRS </a:t>
            </a:r>
            <a:r>
              <a:rPr lang="ko-KR" altLang="en-US" sz="1400" dirty="0"/>
              <a:t>적용</a:t>
            </a:r>
            <a:r>
              <a:rPr lang="en-US" altLang="ko-KR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8429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1784</Words>
  <Application>Microsoft Macintosh PowerPoint</Application>
  <PresentationFormat>와이드스크린</PresentationFormat>
  <Paragraphs>321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hrpark0423@naver.com</dc:creator>
  <cp:lastModifiedBy>24819 24819</cp:lastModifiedBy>
  <cp:revision>30</cp:revision>
  <dcterms:created xsi:type="dcterms:W3CDTF">2025-11-15T05:08:40Z</dcterms:created>
  <dcterms:modified xsi:type="dcterms:W3CDTF">2025-11-15T15:28:39Z</dcterms:modified>
</cp:coreProperties>
</file>