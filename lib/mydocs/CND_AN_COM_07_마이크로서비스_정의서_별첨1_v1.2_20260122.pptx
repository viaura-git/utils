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515" r:id="rId6"/>
    <p:sldId id="4958" r:id="rId7"/>
    <p:sldId id="4961" r:id="rId8"/>
    <p:sldId id="4960" r:id="rId9"/>
    <p:sldId id="4962" r:id="rId10"/>
    <p:sldId id="4963" r:id="rId11"/>
    <p:sldId id="35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FFFFF"/>
    <a:srgbClr val="CCCCCC"/>
    <a:srgbClr val="DAE3F3"/>
    <a:srgbClr val="D9D9D9"/>
    <a:srgbClr val="2F5597"/>
    <a:srgbClr val="BFBFBF"/>
    <a:srgbClr val="D3D3D3"/>
    <a:srgbClr val="F2F2F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AD7D8-66EB-049E-43A2-5E3752E8FF15}" v="126" dt="2026-01-15T01:11:19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0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상민" userId="S::viaura_hotmail.com#ext#@fusionsoftlnc.onmicrosoft.com::0d537cb2-ae05-4b84-8830-de514d4b3167" providerId="AD" clId="Web-{B25AD7D8-66EB-049E-43A2-5E3752E8FF15}"/>
    <pc:docChg chg="modSld">
      <pc:chgData name="이상민" userId="S::viaura_hotmail.com#ext#@fusionsoftlnc.onmicrosoft.com::0d537cb2-ae05-4b84-8830-de514d4b3167" providerId="AD" clId="Web-{B25AD7D8-66EB-049E-43A2-5E3752E8FF15}" dt="2026-01-15T01:11:17.740" v="90"/>
      <pc:docMkLst>
        <pc:docMk/>
      </pc:docMkLst>
      <pc:sldChg chg="modSp">
        <pc:chgData name="이상민" userId="S::viaura_hotmail.com#ext#@fusionsoftlnc.onmicrosoft.com::0d537cb2-ae05-4b84-8830-de514d4b3167" providerId="AD" clId="Web-{B25AD7D8-66EB-049E-43A2-5E3752E8FF15}" dt="2026-01-15T01:10:27.536" v="14" actId="20577"/>
        <pc:sldMkLst>
          <pc:docMk/>
          <pc:sldMk cId="1885689338" sldId="256"/>
        </pc:sldMkLst>
        <pc:spChg chg="mod">
          <ac:chgData name="이상민" userId="S::viaura_hotmail.com#ext#@fusionsoftlnc.onmicrosoft.com::0d537cb2-ae05-4b84-8830-de514d4b3167" providerId="AD" clId="Web-{B25AD7D8-66EB-049E-43A2-5E3752E8FF15}" dt="2026-01-15T01:10:27.536" v="14" actId="20577"/>
          <ac:spMkLst>
            <pc:docMk/>
            <pc:sldMk cId="1885689338" sldId="256"/>
            <ac:spMk id="4" creationId="{36E22F42-C4C7-41E4-B53E-466E50F1ACCE}"/>
          </ac:spMkLst>
        </pc:spChg>
      </pc:sldChg>
      <pc:sldChg chg="modSp">
        <pc:chgData name="이상민" userId="S::viaura_hotmail.com#ext#@fusionsoftlnc.onmicrosoft.com::0d537cb2-ae05-4b84-8830-de514d4b3167" providerId="AD" clId="Web-{B25AD7D8-66EB-049E-43A2-5E3752E8FF15}" dt="2026-01-15T01:11:17.740" v="90"/>
        <pc:sldMkLst>
          <pc:docMk/>
          <pc:sldMk cId="2938600465" sldId="515"/>
        </pc:sldMkLst>
        <pc:graphicFrameChg chg="mod modGraphic">
          <ac:chgData name="이상민" userId="S::viaura_hotmail.com#ext#@fusionsoftlnc.onmicrosoft.com::0d537cb2-ae05-4b84-8830-de514d4b3167" providerId="AD" clId="Web-{B25AD7D8-66EB-049E-43A2-5E3752E8FF15}" dt="2026-01-15T01:11:17.740" v="90"/>
          <ac:graphicFrameMkLst>
            <pc:docMk/>
            <pc:sldMk cId="2938600465" sldId="515"/>
            <ac:graphicFrameMk id="2" creationId="{732AF764-2B72-8D42-3F64-0299DE67416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9779E60-BFA5-4658-BE90-F2937AF589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AFA836-AFDB-4D02-A836-0040C7236D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B8ABF-152D-4B9D-9AD8-D494F605AD8D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727783-997B-434A-9248-83FA3D1F8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7FE00A-175C-4074-9C8F-146585F43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4EFB8-CC24-49D0-8DA9-244C5A143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20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5120-3006-4E7C-8C68-A07644B2A606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815C5-07CC-4792-9E6B-EC7002903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24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5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4536-C5E1-506F-62D1-97A8AF61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235DF-BBB9-7754-2660-2BDF6C374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19064-795F-EC79-0CA2-E1FD99D30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8B389C-3D3E-8C64-6746-14115AF25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716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9CE5C-6A7E-FB7B-C401-5ED15937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046E5C-D2D0-CAB2-2BAE-B8F6DB44F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644FC5-2DC0-5668-A474-035A0CC39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758C9B-4341-E177-FC06-E3B1F6D5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0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CC60-6857-4187-EDFE-FD9E0BEDD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95D90-5153-3CA0-7BCD-D6626A3DC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F5460A-6C67-1472-CFD6-FC08C8563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F45445-0648-E588-DEB7-55CCEA10F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A4DF-B5D3-1DB4-7A1E-CA8FBA7B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D6023A-7B41-9B1E-2416-4F9269FD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76715F-2418-7AFC-6AFE-CDA2668B6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F29F1-414A-D961-CE1D-8B7AF59E9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815C5-07CC-4792-9E6B-EC70029039E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578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247E7-1FE9-4A6E-B2E1-57EC5B8CB06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81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앞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명함이(가) 표시된 사진&#10;&#10;자동 생성된 설명">
            <a:extLst>
              <a:ext uri="{FF2B5EF4-FFF2-40B4-BE49-F238E27FC236}">
                <a16:creationId xmlns:a16="http://schemas.microsoft.com/office/drawing/2014/main" id="{B836A82C-92D1-4AB1-BB75-7D76FBBC03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"/>
          <a:stretch/>
        </p:blipFill>
        <p:spPr>
          <a:xfrm>
            <a:off x="0" y="4035971"/>
            <a:ext cx="12191999" cy="28220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F041046-AD9B-4674-B9E5-CC64F8B9182A}"/>
              </a:ext>
            </a:extLst>
          </p:cNvPr>
          <p:cNvSpPr/>
          <p:nvPr userDrawn="1"/>
        </p:nvSpPr>
        <p:spPr>
          <a:xfrm>
            <a:off x="586151" y="3539034"/>
            <a:ext cx="4480225" cy="1663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5DA738-A59C-4B03-92F4-96E1B192F2EB}"/>
              </a:ext>
            </a:extLst>
          </p:cNvPr>
          <p:cNvSpPr/>
          <p:nvPr userDrawn="1"/>
        </p:nvSpPr>
        <p:spPr>
          <a:xfrm>
            <a:off x="10375258" y="6104711"/>
            <a:ext cx="1577588" cy="428897"/>
          </a:xfrm>
          <a:prstGeom prst="rect">
            <a:avLst/>
          </a:prstGeom>
          <a:solidFill>
            <a:srgbClr val="4440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1" name="그림 10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7D2BB8D1-49BD-4B35-9209-5B07CD796B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41" y="6409113"/>
            <a:ext cx="1314006" cy="28669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0A99E-A0CF-46AE-8850-3308B0ECE40B}"/>
              </a:ext>
            </a:extLst>
          </p:cNvPr>
          <p:cNvGrpSpPr/>
          <p:nvPr userDrawn="1"/>
        </p:nvGrpSpPr>
        <p:grpSpPr>
          <a:xfrm>
            <a:off x="782335" y="1929966"/>
            <a:ext cx="6120000" cy="50407"/>
            <a:chOff x="1114401" y="2928934"/>
            <a:chExt cx="5805528" cy="4571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85A10CF-3AE9-4A11-845D-BC300BF6E9F1}"/>
                </a:ext>
              </a:extLst>
            </p:cNvPr>
            <p:cNvSpPr/>
            <p:nvPr userDrawn="1"/>
          </p:nvSpPr>
          <p:spPr>
            <a:xfrm>
              <a:off x="1114401" y="2928934"/>
              <a:ext cx="385765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D2B9E3A-FE80-4E9B-A1D0-320EF9916507}"/>
                </a:ext>
              </a:extLst>
            </p:cNvPr>
            <p:cNvSpPr/>
            <p:nvPr userDrawn="1"/>
          </p:nvSpPr>
          <p:spPr>
            <a:xfrm>
              <a:off x="5014916" y="2928934"/>
              <a:ext cx="928694" cy="45719"/>
            </a:xfrm>
            <a:prstGeom prst="rect">
              <a:avLst/>
            </a:prstGeom>
            <a:solidFill>
              <a:srgbClr val="2371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A35135D-7831-4FEB-9E24-B1888B484CDA}"/>
                </a:ext>
              </a:extLst>
            </p:cNvPr>
            <p:cNvSpPr/>
            <p:nvPr userDrawn="1"/>
          </p:nvSpPr>
          <p:spPr>
            <a:xfrm>
              <a:off x="5991235" y="2928934"/>
              <a:ext cx="928694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784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569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353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138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89225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87070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84916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82761" algn="l" defTabSz="9956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2468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2F86199-8B9C-1004-1E06-44E73E23700A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4B671840-BC2F-4F9F-8B7D-A86AB1B821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2857500"/>
            <a:ext cx="5238750" cy="114300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4B18988D-6FE2-4EEB-966A-F2160738EA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883008" cy="4005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76B82A-B83B-4A8A-B847-2BCC9A14D5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916"/>
            <a:ext cx="12192000" cy="37975"/>
          </a:xfrm>
          <a:prstGeom prst="rect">
            <a:avLst/>
          </a:prstGeom>
        </p:spPr>
      </p:pic>
      <p:sp>
        <p:nvSpPr>
          <p:cNvPr id="3" name="Rectangle 85">
            <a:extLst>
              <a:ext uri="{FF2B5EF4-FFF2-40B4-BE49-F238E27FC236}">
                <a16:creationId xmlns:a16="http://schemas.microsoft.com/office/drawing/2014/main" id="{23E3DDC2-EF4F-3B50-55C3-4A6AC29A62F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06F8F01-7E70-1BAF-76C0-8A7EC2A5C2A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44CF28-08CC-4F30-B758-D1BB432A28B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8BF7CE5-ADE6-B2CF-D6D4-277BB14E324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246" y="6614510"/>
            <a:ext cx="806450" cy="187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06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리기, 옅은이(가) 표시된 사진&#10;&#10;자동 생성된 설명">
            <a:extLst>
              <a:ext uri="{FF2B5EF4-FFF2-40B4-BE49-F238E27FC236}">
                <a16:creationId xmlns:a16="http://schemas.microsoft.com/office/drawing/2014/main" id="{D64AE539-FA22-4AA6-B652-E5361BDBE7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2974730"/>
            <a:ext cx="5238750" cy="114300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74AA3DA-008A-4967-A7BA-CF87E5E75AB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6794572"/>
              </p:ext>
            </p:extLst>
          </p:nvPr>
        </p:nvGraphicFramePr>
        <p:xfrm>
          <a:off x="0" y="425277"/>
          <a:ext cx="12191999" cy="6091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0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번호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명칭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페이지 경로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>
                        <a:solidFill>
                          <a:schemeClr val="tx1"/>
                        </a:solidFill>
                        <a:latin typeface="Verdana" pitchFamily="34" charset="0"/>
                        <a:ea typeface="돋움" pitchFamily="50" charset="-127"/>
                        <a:cs typeface="Verdana" pitchFamily="34" charset="0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erdana" pitchFamily="34" charset="0"/>
                        </a:rPr>
                        <a:t>작성자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501">
                <a:tc rowSpan="2" gridSpan="4">
                  <a:txBody>
                    <a:bodyPr/>
                    <a:lstStyle/>
                    <a:p>
                      <a:pPr latinLnBrk="1"/>
                      <a:endParaRPr lang="ko-KR" altLang="en-US" sz="800" b="1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Verdana" pitchFamily="34" charset="0"/>
                        </a:rPr>
                        <a:t> Description</a:t>
                      </a: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134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 sz="800" b="1">
                        <a:solidFill>
                          <a:schemeClr val="tx1"/>
                        </a:solidFill>
                        <a:latin typeface="Verdana" pitchFamily="34" charset="0"/>
                        <a:ea typeface="돋움" pitchFamily="50" charset="-127"/>
                        <a:cs typeface="Verdana" pitchFamily="34" charset="0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1">
                        <a:solidFill>
                          <a:schemeClr val="tx1"/>
                        </a:solidFill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0" marR="0" marT="42339" marB="42339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36000" marR="36000" marT="46800" marB="4680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그래픽 8">
            <a:extLst>
              <a:ext uri="{FF2B5EF4-FFF2-40B4-BE49-F238E27FC236}">
                <a16:creationId xmlns:a16="http://schemas.microsoft.com/office/drawing/2014/main" id="{23FB074B-61F4-2D29-2E9A-D7761CFE6A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883008" cy="4005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826B6A-DF00-974F-5EC4-CBBF31D22D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916"/>
            <a:ext cx="12192000" cy="3797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92DB89-560E-C5C2-C4E1-8DCDC5B2B8C3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85">
            <a:extLst>
              <a:ext uri="{FF2B5EF4-FFF2-40B4-BE49-F238E27FC236}">
                <a16:creationId xmlns:a16="http://schemas.microsoft.com/office/drawing/2014/main" id="{0988ECC6-3CC4-F164-706D-72BD17BD7DB0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196C0B2-CF22-6266-542E-6DB0096224F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246" y="6614510"/>
            <a:ext cx="806450" cy="187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6A50F36-BCB9-8516-AE97-04B6079EF70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1A53386-D272-7D4B-F42E-EA7C6A7C2E8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9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8BE2B6-21D1-663B-61F1-AA0C626AFB19}"/>
              </a:ext>
            </a:extLst>
          </p:cNvPr>
          <p:cNvSpPr/>
          <p:nvPr userDrawn="1"/>
        </p:nvSpPr>
        <p:spPr>
          <a:xfrm>
            <a:off x="-1" y="6516915"/>
            <a:ext cx="12192001" cy="34108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85">
            <a:extLst>
              <a:ext uri="{FF2B5EF4-FFF2-40B4-BE49-F238E27FC236}">
                <a16:creationId xmlns:a16="http://schemas.microsoft.com/office/drawing/2014/main" id="{7EA34BB3-0221-8563-9FD9-060B4D9DD645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91179" y="6611671"/>
            <a:ext cx="806450" cy="2279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900" spc="-1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900" spc="-100" baseline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ED5F6B-9DFF-04C7-982C-DCEB8934E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340" y="6608702"/>
            <a:ext cx="901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8B8121-208F-F26D-B366-7A61C09AC0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0" y="6635213"/>
            <a:ext cx="1220104" cy="1053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2CA73E-4D7D-7579-A4C7-C083193F569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9377" y="6600293"/>
            <a:ext cx="702317" cy="15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0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5">
            <a:extLst>
              <a:ext uri="{FF2B5EF4-FFF2-40B4-BE49-F238E27FC236}">
                <a16:creationId xmlns:a16="http://schemas.microsoft.com/office/drawing/2014/main" id="{08437610-A89C-4843-8B5D-A3ACAE35238B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5668497" y="6564210"/>
            <a:ext cx="855003" cy="2735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1pPr>
            <a:lvl2pPr marL="742950" indent="-28575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2pPr>
            <a:lvl3pPr marL="11430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3pPr>
            <a:lvl4pPr marL="16002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4pPr>
            <a:lvl5pPr marL="2057400" indent="-228600" defTabSz="912813" eaLnBrk="0" hangingPunct="0"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5pPr>
            <a:lvl6pPr marL="25146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6pPr>
            <a:lvl7pPr marL="29718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7pPr>
            <a:lvl8pPr marL="34290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8pPr>
            <a:lvl9pPr marL="3886200" indent="-228600" algn="ctr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나눔고딕 ExtraBold" pitchFamily="18" charset="-127"/>
                <a:ea typeface="나눔고딕 ExtraBold" pitchFamily="18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  <a:defRPr/>
            </a:pPr>
            <a:fld id="{2BD1E44E-FABD-4249-994C-A91FFA6C7C7A}" type="slidenum">
              <a:rPr kumimoji="0" lang="en-US" altLang="ko-KR" sz="1000" spc="-100" baseline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0" hangingPunct="1">
                <a:spcBef>
                  <a:spcPct val="50000"/>
                </a:spcBef>
                <a:defRPr/>
              </a:pPr>
              <a:t>‹#›</a:t>
            </a:fld>
            <a:endParaRPr kumimoji="0" lang="en-US" altLang="ko-KR" sz="1000" spc="-100" baseline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F18003-59CD-48F0-B3E8-5AA635DF19C5}"/>
              </a:ext>
            </a:extLst>
          </p:cNvPr>
          <p:cNvSpPr txBox="1"/>
          <p:nvPr userDrawn="1"/>
        </p:nvSpPr>
        <p:spPr>
          <a:xfrm>
            <a:off x="10231" y="6610542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퓨전소프트 </a:t>
            </a:r>
            <a:r>
              <a:rPr lang="en-US" altLang="ko-KR"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 </a:t>
            </a:r>
            <a:r>
              <a:rPr lang="ko-KR" altLang="en-US"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EC921D-D23F-4FC2-8C95-02B160E6E9E1}"/>
              </a:ext>
            </a:extLst>
          </p:cNvPr>
          <p:cNvSpPr/>
          <p:nvPr userDrawn="1"/>
        </p:nvSpPr>
        <p:spPr>
          <a:xfrm rot="10800000" flipH="1" flipV="1">
            <a:off x="624022" y="2172227"/>
            <a:ext cx="2160000" cy="45719"/>
          </a:xfrm>
          <a:prstGeom prst="rect">
            <a:avLst/>
          </a:prstGeom>
          <a:solidFill>
            <a:srgbClr val="2C3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8A2786-0C61-4EED-B04C-8CEB191AE692}"/>
              </a:ext>
            </a:extLst>
          </p:cNvPr>
          <p:cNvSpPr/>
          <p:nvPr userDrawn="1"/>
        </p:nvSpPr>
        <p:spPr>
          <a:xfrm>
            <a:off x="0" y="4480653"/>
            <a:ext cx="12192000" cy="2396455"/>
          </a:xfrm>
          <a:prstGeom prst="rect">
            <a:avLst/>
          </a:prstGeom>
          <a:solidFill>
            <a:srgbClr val="B1C0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C37AC-0F40-44CE-9A08-D93F0D7BE7A0}"/>
              </a:ext>
            </a:extLst>
          </p:cNvPr>
          <p:cNvSpPr txBox="1"/>
          <p:nvPr userDrawn="1"/>
        </p:nvSpPr>
        <p:spPr>
          <a:xfrm>
            <a:off x="530554" y="6312310"/>
            <a:ext cx="2938266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>
                <a:latin typeface="+mj-ea"/>
                <a:ea typeface="+mj-ea"/>
              </a:rPr>
              <a:t>Copyrightⓒ2023.fusionsoft.All rights reserved.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9A1A62-3121-4208-950F-ED478F7546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403" y="5973156"/>
            <a:ext cx="896702" cy="174117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9A8EE60-DCE8-492D-8ED9-1097DD677A7C}"/>
              </a:ext>
            </a:extLst>
          </p:cNvPr>
          <p:cNvCxnSpPr>
            <a:cxnSpLocks/>
          </p:cNvCxnSpPr>
          <p:nvPr userDrawn="1"/>
        </p:nvCxnSpPr>
        <p:spPr>
          <a:xfrm>
            <a:off x="602226" y="6312310"/>
            <a:ext cx="1108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F100EDB-FB80-4CFE-A2B2-BF8048061BD4}"/>
              </a:ext>
            </a:extLst>
          </p:cNvPr>
          <p:cNvSpPr txBox="1"/>
          <p:nvPr userDrawn="1"/>
        </p:nvSpPr>
        <p:spPr>
          <a:xfrm>
            <a:off x="9367269" y="4716975"/>
            <a:ext cx="2303836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700" b="1" i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Challenge Today, Create Future, Share Happiness</a:t>
            </a:r>
            <a:endParaRPr lang="en-US" altLang="ko-KR" sz="700" i="1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47699D3-6A59-36E9-4D4C-67E87F8E7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89" y="6068842"/>
            <a:ext cx="1533989" cy="1325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1F12F6-4E56-75D6-E212-C18C883387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82021" y="6020792"/>
            <a:ext cx="882994" cy="19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5B8E74-ADD6-4171-A1DF-DA294BF3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3F698-D266-43A7-BE07-002A3C80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5500B-6314-40BC-A64E-EA3185EED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DD30D-4E09-4BDC-AEB0-6E5D69E3F3E0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A451ED-9DA2-4F10-8628-7EE72C114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42B5E5-B2FC-471F-B39B-197BFF7E9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78ED5-24F1-45F3-AB73-0F1488631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66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4" r:id="rId4"/>
    <p:sldLayoutId id="2147483656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C92242F-D81A-4A03-B022-4FC54CBA84D3}"/>
              </a:ext>
            </a:extLst>
          </p:cNvPr>
          <p:cNvSpPr/>
          <p:nvPr/>
        </p:nvSpPr>
        <p:spPr bwMode="gray">
          <a:xfrm>
            <a:off x="730371" y="985567"/>
            <a:ext cx="7210892" cy="863826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b="1" spc="-100" dirty="0">
                <a:latin typeface="+mn-ea"/>
              </a:rPr>
              <a:t>‘</a:t>
            </a:r>
            <a:r>
              <a:rPr lang="en-US" altLang="ko-KR" sz="1600" b="1" spc="-100" dirty="0">
                <a:latin typeface="+mn-ea"/>
              </a:rPr>
              <a:t>25</a:t>
            </a:r>
            <a:r>
              <a:rPr lang="ko-KR" altLang="en-US" sz="1600" b="1" spc="-100" dirty="0">
                <a:latin typeface="+mn-ea"/>
              </a:rPr>
              <a:t>년 클라우드 네이티브 전환 사업 </a:t>
            </a:r>
            <a:r>
              <a:rPr lang="en-US" altLang="ko-KR" sz="1600" b="1" spc="-100" dirty="0">
                <a:latin typeface="+mn-ea"/>
              </a:rPr>
              <a:t>(</a:t>
            </a:r>
            <a:r>
              <a:rPr lang="ko-KR" altLang="en-US" sz="1600" b="1" spc="-100" dirty="0">
                <a:latin typeface="+mn-ea"/>
              </a:rPr>
              <a:t>대구광역시</a:t>
            </a:r>
            <a:r>
              <a:rPr lang="en-US" altLang="ko-KR" sz="1600" b="1" spc="-100" dirty="0">
                <a:latin typeface="+mn-ea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ko-KR" sz="2000" b="1" spc="-100" dirty="0">
                <a:latin typeface="+mn-ea"/>
              </a:rPr>
              <a:t>           MSA </a:t>
            </a:r>
            <a:r>
              <a:rPr lang="ko-KR" altLang="en-US" sz="2000" b="1" spc="-100" dirty="0">
                <a:latin typeface="+mn-ea"/>
              </a:rPr>
              <a:t>구성</a:t>
            </a:r>
            <a:r>
              <a:rPr lang="en-US" altLang="ko-KR" sz="2000" b="1" spc="-100" dirty="0">
                <a:latin typeface="+mn-ea"/>
              </a:rPr>
              <a:t>(</a:t>
            </a:r>
            <a:r>
              <a:rPr lang="ko-KR" altLang="en-US" sz="2000" b="1" spc="-100" dirty="0">
                <a:latin typeface="+mn-ea"/>
              </a:rPr>
              <a:t>안</a:t>
            </a:r>
            <a:r>
              <a:rPr lang="en-US" altLang="ko-KR" sz="2000" b="1" spc="-100" dirty="0">
                <a:latin typeface="+mn-ea"/>
              </a:rPr>
              <a:t>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6E22F42-C4C7-41E4-B53E-466E50F1ACCE}"/>
              </a:ext>
            </a:extLst>
          </p:cNvPr>
          <p:cNvSpPr txBox="1"/>
          <p:nvPr/>
        </p:nvSpPr>
        <p:spPr>
          <a:xfrm>
            <a:off x="730371" y="2202471"/>
            <a:ext cx="981746" cy="521876"/>
          </a:xfrm>
          <a:prstGeom prst="rect">
            <a:avLst/>
          </a:prstGeom>
          <a:noFill/>
        </p:spPr>
        <p:txBody>
          <a:bodyPr wrap="none" lIns="99569" tIns="49785" rIns="99569" bIns="49785" rtlCol="0" anchor="t">
            <a:spAutoFit/>
          </a:bodyPr>
          <a:lstStyle>
            <a:defPPr>
              <a:defRPr lang="ko-KR"/>
            </a:defPPr>
            <a:lvl1pPr marL="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latin typeface="맑은 고딕"/>
                <a:ea typeface="맑은 고딕"/>
              </a:rPr>
              <a:t>V1.1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200">
                <a:latin typeface="맑은 고딕"/>
                <a:ea typeface="맑은 고딕"/>
              </a:rPr>
              <a:t>2025.12.29.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E3C3E82-5FE8-C67D-2840-5D64D4206500}"/>
              </a:ext>
            </a:extLst>
          </p:cNvPr>
          <p:cNvSpPr/>
          <p:nvPr/>
        </p:nvSpPr>
        <p:spPr>
          <a:xfrm>
            <a:off x="832997" y="1447690"/>
            <a:ext cx="721033" cy="360000"/>
          </a:xfrm>
          <a:prstGeom prst="roundRect">
            <a:avLst>
              <a:gd name="adj" fmla="val 15499"/>
            </a:avLst>
          </a:prstGeom>
          <a:solidFill>
            <a:srgbClr val="0BA2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 b="1" kern="1000" spc="-100">
                <a:solidFill>
                  <a:schemeClr val="bg1"/>
                </a:solidFill>
              </a:rPr>
              <a:t>CND</a:t>
            </a:r>
            <a:endParaRPr lang="ko-KR" altLang="en-US" sz="2000" b="1" kern="1000" spc="-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68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C3FB01-7E43-4144-B65E-1D712342F146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Revision History</a:t>
            </a:r>
            <a:endParaRPr lang="ko-KR" altLang="en-US" b="1" spc="-100"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2AF764-2B72-8D42-3F64-0299DE674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4359"/>
              </p:ext>
            </p:extLst>
          </p:nvPr>
        </p:nvGraphicFramePr>
        <p:xfrm>
          <a:off x="409690" y="656452"/>
          <a:ext cx="11363213" cy="4742610"/>
        </p:xfrm>
        <a:graphic>
          <a:graphicData uri="http://schemas.openxmlformats.org/drawingml/2006/table">
            <a:tbl>
              <a:tblPr/>
              <a:tblGrid>
                <a:gridCol w="603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638">
                  <a:extLst>
                    <a:ext uri="{9D8B030D-6E8A-4147-A177-3AD203B41FA5}">
                      <a16:colId xmlns:a16="http://schemas.microsoft.com/office/drawing/2014/main" val="490620293"/>
                    </a:ext>
                  </a:extLst>
                </a:gridCol>
                <a:gridCol w="7068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702330778"/>
                    </a:ext>
                  </a:extLst>
                </a:gridCol>
                <a:gridCol w="923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개정일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개정사유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개정내용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승인자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2025.11.13.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작성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2025.11.13.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검토의견 반영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안병득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2025.11.14.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검토의견 반영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조창일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979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2025.11.18.</a:t>
                      </a: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NIA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나영인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7960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2025.12.29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감리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결함사항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조치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별첨과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상이</a:t>
                      </a:r>
                      <a:r>
                        <a:rPr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이상민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4485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7536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88015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0765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2596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64868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81240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92005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71579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45733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41724"/>
                  </a:ext>
                </a:extLst>
              </a:tr>
              <a:tr h="22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Verdana" pitchFamily="34" charset="0"/>
                      </a:endParaRPr>
                    </a:p>
                  </a:txBody>
                  <a:tcPr marL="108000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942" marR="33942" marT="33942" marB="33942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264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F19626-FC5E-28EF-052E-55B3504D1095}"/>
              </a:ext>
            </a:extLst>
          </p:cNvPr>
          <p:cNvSpPr txBox="1"/>
          <p:nvPr/>
        </p:nvSpPr>
        <p:spPr>
          <a:xfrm>
            <a:off x="304801" y="5566369"/>
            <a:ext cx="114681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버전 : 최초 작성(0.8) / PL 검토 완료(0.9) / PM 검토 완료(1.0) </a:t>
            </a:r>
            <a:r>
              <a:rPr lang="ko-KR" altLang="en-US" sz="110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시작하여 변경 관리. 검토의견 및 시정사항은 소수점 아래 변경, 베이스라인 및 큰 변경사항은 상위 정수 변경</a:t>
            </a:r>
          </a:p>
          <a:p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개정사유 : 개정 내용이 이전 문서 대비해서 신규/추가/수정/삭제 여부 선택 기입</a:t>
            </a:r>
          </a:p>
          <a:p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개정내용 : 개정 페이지 번호와 개정 내용을 상세 기록</a:t>
            </a:r>
          </a:p>
        </p:txBody>
      </p:sp>
    </p:spTree>
    <p:extLst>
      <p:ext uri="{BB962C8B-B14F-4D97-AF65-F5344CB8AC3E}">
        <p14:creationId xmlns:p14="http://schemas.microsoft.com/office/powerpoint/2010/main" val="293860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55800A-3201-ABC5-A6BC-4E6E06D1824C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1. </a:t>
            </a:r>
            <a:r>
              <a:rPr lang="ko-KR" altLang="en-US" b="1" spc="-100">
                <a:latin typeface="+mn-ea"/>
              </a:rPr>
              <a:t>구성안 개요 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구성전략</a:t>
            </a:r>
            <a:r>
              <a:rPr lang="en-US" altLang="ko-KR" b="1" spc="-100">
                <a:latin typeface="+mn-ea"/>
              </a:rPr>
              <a:t>)</a:t>
            </a:r>
            <a:endParaRPr lang="ko-KR" altLang="en-US" b="1" spc="-10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B2E36-A926-43E7-36F7-5DF5728DAD00}"/>
              </a:ext>
            </a:extLst>
          </p:cNvPr>
          <p:cNvSpPr txBox="1"/>
          <p:nvPr/>
        </p:nvSpPr>
        <p:spPr>
          <a:xfrm>
            <a:off x="5227349" y="3398242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err="1"/>
              <a:t>견학체험</a:t>
            </a:r>
            <a:endParaRPr lang="ko-KR" altLang="en-US" sz="120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D4FB931-8749-219C-027A-9C4F8994D25E}"/>
              </a:ext>
            </a:extLst>
          </p:cNvPr>
          <p:cNvSpPr/>
          <p:nvPr/>
        </p:nvSpPr>
        <p:spPr>
          <a:xfrm>
            <a:off x="507499" y="2547858"/>
            <a:ext cx="896730" cy="896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8F95D79-1829-FF04-7A4A-6D90613C06E9}"/>
              </a:ext>
            </a:extLst>
          </p:cNvPr>
          <p:cNvCxnSpPr>
            <a:cxnSpLocks/>
            <a:stCxn id="7" idx="6"/>
            <a:endCxn id="15" idx="1"/>
          </p:cNvCxnSpPr>
          <p:nvPr/>
        </p:nvCxnSpPr>
        <p:spPr>
          <a:xfrm flipV="1">
            <a:off x="1404229" y="2202070"/>
            <a:ext cx="3607840" cy="794153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4A966E-9287-C04A-252F-E0132BAFADD6}"/>
              </a:ext>
            </a:extLst>
          </p:cNvPr>
          <p:cNvSpPr txBox="1"/>
          <p:nvPr/>
        </p:nvSpPr>
        <p:spPr>
          <a:xfrm rot="20917833">
            <a:off x="2806835" y="2274977"/>
            <a:ext cx="1220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회원정보</a:t>
            </a:r>
            <a:r>
              <a:rPr lang="en-US" altLang="ko-KR" sz="1200"/>
              <a:t> </a:t>
            </a:r>
            <a:r>
              <a:rPr lang="ko-KR" altLang="en-US" sz="1200"/>
              <a:t>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771264-8DFF-D2DE-FE95-1D1E7AF3DAF2}"/>
              </a:ext>
            </a:extLst>
          </p:cNvPr>
          <p:cNvGrpSpPr/>
          <p:nvPr/>
        </p:nvGrpSpPr>
        <p:grpSpPr>
          <a:xfrm>
            <a:off x="4864086" y="1702277"/>
            <a:ext cx="2857663" cy="1073583"/>
            <a:chOff x="4976664" y="1246359"/>
            <a:chExt cx="2857663" cy="107358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B9A99F6-0373-B36A-5ECA-29517B6766CB}"/>
                </a:ext>
              </a:extLst>
            </p:cNvPr>
            <p:cNvGrpSpPr/>
            <p:nvPr/>
          </p:nvGrpSpPr>
          <p:grpSpPr>
            <a:xfrm>
              <a:off x="4976664" y="1250934"/>
              <a:ext cx="1948070" cy="1069008"/>
              <a:chOff x="2654852" y="1413565"/>
              <a:chExt cx="1948070" cy="106900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11B7854-A176-C087-7435-6E0B3DB38760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752651B2-A442-23D0-A5CE-C872F850E4ED}"/>
                  </a:ext>
                </a:extLst>
              </p:cNvPr>
              <p:cNvSpPr/>
              <p:nvPr/>
            </p:nvSpPr>
            <p:spPr>
              <a:xfrm>
                <a:off x="2659270" y="2124766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member-service</a:t>
                </a:r>
                <a:endParaRPr lang="ko-KR" altLang="en-US" sz="120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196C82-BD6D-0FAD-B217-E903D47E364D}"/>
                </a:ext>
              </a:extLst>
            </p:cNvPr>
            <p:cNvSpPr txBox="1"/>
            <p:nvPr/>
          </p:nvSpPr>
          <p:spPr>
            <a:xfrm>
              <a:off x="5354348" y="1246359"/>
              <a:ext cx="11706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회원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50DEFF1-2223-D56A-C22D-8CADEA92B4CF}"/>
                </a:ext>
              </a:extLst>
            </p:cNvPr>
            <p:cNvGrpSpPr/>
            <p:nvPr/>
          </p:nvGrpSpPr>
          <p:grpSpPr>
            <a:xfrm>
              <a:off x="5003103" y="1434538"/>
              <a:ext cx="2831224" cy="450113"/>
              <a:chOff x="5003103" y="1434538"/>
              <a:chExt cx="2831224" cy="45011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5B4ACE-9470-B8E4-3A8C-31F863593036}"/>
                  </a:ext>
                </a:extLst>
              </p:cNvPr>
              <p:cNvSpPr txBox="1"/>
              <p:nvPr/>
            </p:nvSpPr>
            <p:spPr>
              <a:xfrm>
                <a:off x="5124647" y="1607652"/>
                <a:ext cx="14646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err="1"/>
                  <a:t>memberController</a:t>
                </a:r>
                <a:endParaRPr lang="ko-KR" altLang="en-US" sz="12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C9F642-33B5-B5F4-8D67-528F760020B4}"/>
                  </a:ext>
                </a:extLst>
              </p:cNvPr>
              <p:cNvSpPr txBox="1"/>
              <p:nvPr/>
            </p:nvSpPr>
            <p:spPr>
              <a:xfrm>
                <a:off x="5003103" y="1434538"/>
                <a:ext cx="28312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/>
                  <a:t>@{/api/v1/res/members/{</a:t>
                </a:r>
                <a:r>
                  <a:rPr lang="ko-KR" altLang="en-US" sz="1050"/>
                  <a:t>회원번호</a:t>
                </a:r>
                <a:r>
                  <a:rPr lang="en-US" altLang="ko-KR" sz="1050"/>
                  <a:t>}/modify}</a:t>
                </a:r>
                <a:endParaRPr lang="ko-KR" altLang="en-US" sz="1050"/>
              </a:p>
            </p:txBody>
          </p:sp>
        </p:grp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2EA5B04-1B9C-9AA2-0062-36E5C255BCDC}"/>
              </a:ext>
            </a:extLst>
          </p:cNvPr>
          <p:cNvCxnSpPr>
            <a:cxnSpLocks/>
            <a:stCxn id="15" idx="3"/>
            <a:endCxn id="19" idx="2"/>
          </p:cNvCxnSpPr>
          <p:nvPr/>
        </p:nvCxnSpPr>
        <p:spPr>
          <a:xfrm>
            <a:off x="6476741" y="2202070"/>
            <a:ext cx="3960476" cy="6085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2202EE-77EA-4EB2-CC29-DACBD922B418}"/>
              </a:ext>
            </a:extLst>
          </p:cNvPr>
          <p:cNvSpPr txBox="1"/>
          <p:nvPr/>
        </p:nvSpPr>
        <p:spPr>
          <a:xfrm rot="537955">
            <a:off x="8415383" y="2277935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CRUD</a:t>
            </a: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1C31D-8EFF-A77F-954A-3352D6A525F8}"/>
              </a:ext>
            </a:extLst>
          </p:cNvPr>
          <p:cNvSpPr txBox="1"/>
          <p:nvPr/>
        </p:nvSpPr>
        <p:spPr>
          <a:xfrm>
            <a:off x="6978555" y="3634529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프로그램 목록조회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15916F-59F2-B49B-4DA8-A8727F1A188C}"/>
              </a:ext>
            </a:extLst>
          </p:cNvPr>
          <p:cNvSpPr txBox="1"/>
          <p:nvPr/>
        </p:nvSpPr>
        <p:spPr>
          <a:xfrm>
            <a:off x="6952896" y="4015659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프로그램 등록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BD25F-AC28-6E13-8C0C-D9C9643F0CA8}"/>
              </a:ext>
            </a:extLst>
          </p:cNvPr>
          <p:cNvSpPr txBox="1"/>
          <p:nvPr/>
        </p:nvSpPr>
        <p:spPr>
          <a:xfrm>
            <a:off x="6952896" y="4398411"/>
            <a:ext cx="10406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프로그램 수정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F68E568-64A0-EE8A-F331-EB52A50A56E2}"/>
              </a:ext>
            </a:extLst>
          </p:cNvPr>
          <p:cNvCxnSpPr>
            <a:cxnSpLocks/>
            <a:stCxn id="54" idx="3"/>
            <a:endCxn id="22" idx="1"/>
          </p:cNvCxnSpPr>
          <p:nvPr/>
        </p:nvCxnSpPr>
        <p:spPr>
          <a:xfrm flipV="1">
            <a:off x="6521692" y="3761487"/>
            <a:ext cx="456863" cy="3896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9938A7-DD9E-BBA3-CF81-25059AC88124}"/>
              </a:ext>
            </a:extLst>
          </p:cNvPr>
          <p:cNvCxnSpPr>
            <a:cxnSpLocks/>
            <a:stCxn id="54" idx="3"/>
            <a:endCxn id="23" idx="1"/>
          </p:cNvCxnSpPr>
          <p:nvPr/>
        </p:nvCxnSpPr>
        <p:spPr>
          <a:xfrm flipV="1">
            <a:off x="6521692" y="4142617"/>
            <a:ext cx="431204" cy="850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FE6C2F7-458C-AA7E-7712-6FAD336A40F4}"/>
              </a:ext>
            </a:extLst>
          </p:cNvPr>
          <p:cNvCxnSpPr>
            <a:cxnSpLocks/>
            <a:stCxn id="54" idx="3"/>
            <a:endCxn id="24" idx="1"/>
          </p:cNvCxnSpPr>
          <p:nvPr/>
        </p:nvCxnSpPr>
        <p:spPr>
          <a:xfrm>
            <a:off x="6521692" y="4151126"/>
            <a:ext cx="431204" cy="3742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3566D71-5F00-8196-7A9C-075547041DC0}"/>
              </a:ext>
            </a:extLst>
          </p:cNvPr>
          <p:cNvCxnSpPr>
            <a:cxnSpLocks/>
            <a:stCxn id="7" idx="6"/>
            <a:endCxn id="54" idx="1"/>
          </p:cNvCxnSpPr>
          <p:nvPr/>
        </p:nvCxnSpPr>
        <p:spPr>
          <a:xfrm>
            <a:off x="1404229" y="2996223"/>
            <a:ext cx="3626892" cy="1154903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A685AD-5171-B821-6AE5-964A25A4AE33}"/>
              </a:ext>
            </a:extLst>
          </p:cNvPr>
          <p:cNvSpPr txBox="1"/>
          <p:nvPr/>
        </p:nvSpPr>
        <p:spPr>
          <a:xfrm rot="1040186">
            <a:off x="2620637" y="3355413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프로그램 목록정보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3E60E-A28B-B8E1-C6A4-7F4F0CE94A4E}"/>
              </a:ext>
            </a:extLst>
          </p:cNvPr>
          <p:cNvSpPr txBox="1"/>
          <p:nvPr/>
        </p:nvSpPr>
        <p:spPr>
          <a:xfrm>
            <a:off x="6149492" y="3470551"/>
            <a:ext cx="30780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@</a:t>
            </a:r>
            <a:r>
              <a:rPr lang="en-US" altLang="ko-KR" sz="1000" err="1"/>
              <a:t>GetMapping</a:t>
            </a:r>
            <a:r>
              <a:rPr lang="en-US" altLang="ko-KR" sz="1000"/>
              <a:t>{/</a:t>
            </a:r>
            <a:r>
              <a:rPr lang="en-US" altLang="ko-KR" sz="1000" err="1"/>
              <a:t>api</a:t>
            </a:r>
            <a:r>
              <a:rPr lang="en-US" altLang="ko-KR" sz="1000"/>
              <a:t>/v1/res/experiences/programs}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C023AE-5137-36FA-3B7B-89FC5FB6C81A}"/>
              </a:ext>
            </a:extLst>
          </p:cNvPr>
          <p:cNvSpPr txBox="1"/>
          <p:nvPr/>
        </p:nvSpPr>
        <p:spPr>
          <a:xfrm>
            <a:off x="6123833" y="3856308"/>
            <a:ext cx="3130985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1000">
                <a:ea typeface="맑은 고딕"/>
              </a:rPr>
              <a:t>@PostMapping{/api/v1/res/experiences/programs}</a:t>
            </a:r>
            <a:endParaRPr lang="ko-KR" altLang="en-US" sz="1000">
              <a:ea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87018F-438C-1181-9A8D-BCB486394CAE}"/>
              </a:ext>
            </a:extLst>
          </p:cNvPr>
          <p:cNvSpPr txBox="1"/>
          <p:nvPr/>
        </p:nvSpPr>
        <p:spPr>
          <a:xfrm>
            <a:off x="6123833" y="4238933"/>
            <a:ext cx="4313384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000">
                <a:ea typeface="맑은 고딕"/>
              </a:rPr>
              <a:t>@</a:t>
            </a:r>
            <a:r>
              <a:rPr lang="en-US" altLang="ko-KR" sz="1000" err="1">
                <a:ea typeface="맑은 고딕"/>
              </a:rPr>
              <a:t>PostMapping</a:t>
            </a:r>
            <a:r>
              <a:rPr lang="en-US" altLang="ko-KR" sz="1000">
                <a:ea typeface="맑은 고딕"/>
              </a:rPr>
              <a:t>{/</a:t>
            </a:r>
            <a:r>
              <a:rPr lang="en-US" altLang="ko-KR" sz="1000" err="1">
                <a:ea typeface="맑은 고딕"/>
              </a:rPr>
              <a:t>api</a:t>
            </a:r>
            <a:r>
              <a:rPr lang="en-US" altLang="ko-KR" sz="1000">
                <a:ea typeface="맑은 고딕"/>
              </a:rPr>
              <a:t>/v1/res/experiences/programs/{</a:t>
            </a:r>
            <a:r>
              <a:rPr lang="ko-KR" altLang="en-US" sz="1000">
                <a:ea typeface="맑은 고딕"/>
              </a:rPr>
              <a:t>프로그램</a:t>
            </a:r>
            <a:r>
              <a:rPr lang="en-US" altLang="ko-KR" sz="1000">
                <a:ea typeface="맑은 고딕"/>
              </a:rPr>
              <a:t>id}}/modify</a:t>
            </a:r>
            <a:endParaRPr lang="ko-KR" altLang="en-US" sz="1000">
              <a:ea typeface="맑은 고딕"/>
            </a:endParaRPr>
          </a:p>
        </p:txBody>
      </p:sp>
      <p:cxnSp>
        <p:nvCxnSpPr>
          <p:cNvPr id="47" name="Straight Arrow Connector 14">
            <a:extLst>
              <a:ext uri="{FF2B5EF4-FFF2-40B4-BE49-F238E27FC236}">
                <a16:creationId xmlns:a16="http://schemas.microsoft.com/office/drawing/2014/main" id="{AD53ABE9-6214-01F0-1D62-5DA651221D48}"/>
              </a:ext>
            </a:extLst>
          </p:cNvPr>
          <p:cNvCxnSpPr>
            <a:cxnSpLocks/>
            <a:stCxn id="35" idx="3"/>
            <a:endCxn id="19" idx="2"/>
          </p:cNvCxnSpPr>
          <p:nvPr/>
        </p:nvCxnSpPr>
        <p:spPr>
          <a:xfrm flipV="1">
            <a:off x="9254818" y="2810619"/>
            <a:ext cx="1182399" cy="11688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5">
            <a:extLst>
              <a:ext uri="{FF2B5EF4-FFF2-40B4-BE49-F238E27FC236}">
                <a16:creationId xmlns:a16="http://schemas.microsoft.com/office/drawing/2014/main" id="{11CC3130-BEE8-7FF8-37E3-3E2A0262B43F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9692154" y="2810619"/>
            <a:ext cx="745063" cy="14790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16">
            <a:extLst>
              <a:ext uri="{FF2B5EF4-FFF2-40B4-BE49-F238E27FC236}">
                <a16:creationId xmlns:a16="http://schemas.microsoft.com/office/drawing/2014/main" id="{4F9B749F-59BE-734F-729F-781B6B575AB2}"/>
              </a:ext>
            </a:extLst>
          </p:cNvPr>
          <p:cNvCxnSpPr>
            <a:cxnSpLocks/>
            <a:stCxn id="34" idx="3"/>
            <a:endCxn id="19" idx="2"/>
          </p:cNvCxnSpPr>
          <p:nvPr/>
        </p:nvCxnSpPr>
        <p:spPr>
          <a:xfrm flipV="1">
            <a:off x="9227579" y="2810619"/>
            <a:ext cx="1209638" cy="78304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CBE9C99-6244-5C09-2D06-2FDD99426A04}"/>
              </a:ext>
            </a:extLst>
          </p:cNvPr>
          <p:cNvGrpSpPr/>
          <p:nvPr/>
        </p:nvGrpSpPr>
        <p:grpSpPr>
          <a:xfrm>
            <a:off x="4874302" y="3388410"/>
            <a:ext cx="1948070" cy="2785273"/>
            <a:chOff x="4967828" y="2635850"/>
            <a:chExt cx="1948070" cy="2785273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D483411-BB85-7958-84C1-8D431AD6D5D1}"/>
                </a:ext>
              </a:extLst>
            </p:cNvPr>
            <p:cNvSpPr/>
            <p:nvPr/>
          </p:nvSpPr>
          <p:spPr>
            <a:xfrm>
              <a:off x="4967828" y="2635850"/>
              <a:ext cx="1943652" cy="27609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95D85F0-02A4-3D1C-EC4D-61B9FFBC0B1B}"/>
                </a:ext>
              </a:extLst>
            </p:cNvPr>
            <p:cNvSpPr/>
            <p:nvPr/>
          </p:nvSpPr>
          <p:spPr>
            <a:xfrm>
              <a:off x="4972246" y="506331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experience-service</a:t>
              </a:r>
              <a:endParaRPr lang="ko-KR" altLang="en-US" sz="12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D44DBE-BFBE-820D-ADEF-B32D5D67D19A}"/>
                </a:ext>
              </a:extLst>
            </p:cNvPr>
            <p:cNvSpPr txBox="1"/>
            <p:nvPr/>
          </p:nvSpPr>
          <p:spPr>
            <a:xfrm>
              <a:off x="5124647" y="3260066"/>
              <a:ext cx="1490571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err="1">
                  <a:ea typeface="맑은 고딕"/>
                </a:rPr>
                <a:t>ProgramController</a:t>
              </a:r>
              <a:endParaRPr lang="ko-KR" altLang="en-US" sz="12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60FA5F-E43B-199D-E41C-BEE9C24D1437}"/>
                </a:ext>
              </a:extLst>
            </p:cNvPr>
            <p:cNvSpPr txBox="1"/>
            <p:nvPr/>
          </p:nvSpPr>
          <p:spPr>
            <a:xfrm>
              <a:off x="5129446" y="4137499"/>
              <a:ext cx="1417985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 err="1">
                  <a:ea typeface="맑은 고딕"/>
                </a:rPr>
                <a:t>ReserveController</a:t>
              </a:r>
              <a:endParaRPr lang="ko-KR" altLang="en-US" sz="12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210E2D-0ADC-38CA-5026-21EF3D2FC1AC}"/>
                </a:ext>
              </a:extLst>
            </p:cNvPr>
            <p:cNvSpPr txBox="1"/>
            <p:nvPr/>
          </p:nvSpPr>
          <p:spPr>
            <a:xfrm rot="5400000">
              <a:off x="5832543" y="4526209"/>
              <a:ext cx="38098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ko-KR" altLang="en-US" sz="2400">
                  <a:ea typeface="맑은 고딕"/>
                </a:rPr>
                <a:t>...</a:t>
              </a:r>
              <a:endParaRPr lang="en-US" altLang="ko-KR" sz="2400">
                <a:ea typeface="맑은 고딕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4C9EF6D-9238-B838-ACEE-9568871D1B2F}"/>
              </a:ext>
            </a:extLst>
          </p:cNvPr>
          <p:cNvGrpSpPr/>
          <p:nvPr/>
        </p:nvGrpSpPr>
        <p:grpSpPr>
          <a:xfrm>
            <a:off x="7497271" y="5488741"/>
            <a:ext cx="1648506" cy="587513"/>
            <a:chOff x="8189024" y="5009322"/>
            <a:chExt cx="1648506" cy="587513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EFC52E1-3278-1E28-2DEA-847D9D6AB0B5}"/>
                </a:ext>
              </a:extLst>
            </p:cNvPr>
            <p:cNvSpPr txBox="1"/>
            <p:nvPr/>
          </p:nvSpPr>
          <p:spPr>
            <a:xfrm>
              <a:off x="8637213" y="5118412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Kafka</a:t>
              </a:r>
              <a:endParaRPr lang="ko-KR" altLang="en-US"/>
            </a:p>
          </p:txBody>
        </p:sp>
        <p:sp>
          <p:nvSpPr>
            <p:cNvPr id="60" name="원통형 59">
              <a:extLst>
                <a:ext uri="{FF2B5EF4-FFF2-40B4-BE49-F238E27FC236}">
                  <a16:creationId xmlns:a16="http://schemas.microsoft.com/office/drawing/2014/main" id="{E8B9661E-D0A3-D903-15F2-D3382DD0DA69}"/>
                </a:ext>
              </a:extLst>
            </p:cNvPr>
            <p:cNvSpPr/>
            <p:nvPr/>
          </p:nvSpPr>
          <p:spPr>
            <a:xfrm>
              <a:off x="8189024" y="5009322"/>
              <a:ext cx="1648506" cy="587513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EAE2BC3-E6D0-CBDD-62B9-1A9B12E107EB}"/>
              </a:ext>
            </a:extLst>
          </p:cNvPr>
          <p:cNvGrpSpPr/>
          <p:nvPr/>
        </p:nvGrpSpPr>
        <p:grpSpPr>
          <a:xfrm>
            <a:off x="9530721" y="5238512"/>
            <a:ext cx="1514611" cy="1075316"/>
            <a:chOff x="7755020" y="4600482"/>
            <a:chExt cx="1514611" cy="1075316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A06C5D8-92E7-D103-63C8-F8EB24EED021}"/>
                </a:ext>
              </a:extLst>
            </p:cNvPr>
            <p:cNvGrpSpPr/>
            <p:nvPr/>
          </p:nvGrpSpPr>
          <p:grpSpPr>
            <a:xfrm>
              <a:off x="7832956" y="4606790"/>
              <a:ext cx="1358739" cy="1069008"/>
              <a:chOff x="2654852" y="1413565"/>
              <a:chExt cx="1358739" cy="1069008"/>
            </a:xfrm>
          </p:grpSpPr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EF6ADBC5-B4DA-98C1-E1C0-962131B33D7A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358739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BFF74287-C889-92A1-AD7C-FC418977E851}"/>
                  </a:ext>
                </a:extLst>
              </p:cNvPr>
              <p:cNvSpPr/>
              <p:nvPr/>
            </p:nvSpPr>
            <p:spPr>
              <a:xfrm>
                <a:off x="2659270" y="2124766"/>
                <a:ext cx="1354321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err="1"/>
                  <a:t>noti</a:t>
                </a:r>
                <a:r>
                  <a:rPr lang="en-US" altLang="ko-KR" sz="1200"/>
                  <a:t>-service</a:t>
                </a:r>
                <a:endParaRPr lang="ko-KR" altLang="en-US" sz="120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9931220-B1B8-13ED-CE24-CA3122E723CE}"/>
                </a:ext>
              </a:extLst>
            </p:cNvPr>
            <p:cNvSpPr txBox="1"/>
            <p:nvPr/>
          </p:nvSpPr>
          <p:spPr>
            <a:xfrm>
              <a:off x="7755020" y="4600482"/>
              <a:ext cx="15146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/>
                <a:t>알림서비스</a:t>
              </a:r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E82FF3B-604E-4D0A-10A5-EB5F9C4E9EF5}"/>
              </a:ext>
            </a:extLst>
          </p:cNvPr>
          <p:cNvCxnSpPr>
            <a:cxnSpLocks/>
            <a:stCxn id="60" idx="4"/>
            <a:endCxn id="71" idx="1"/>
          </p:cNvCxnSpPr>
          <p:nvPr/>
        </p:nvCxnSpPr>
        <p:spPr>
          <a:xfrm flipV="1">
            <a:off x="9145777" y="5772699"/>
            <a:ext cx="462880" cy="97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0BCC47C-393D-D345-8CFD-01FFF4257FBC}"/>
              </a:ext>
            </a:extLst>
          </p:cNvPr>
          <p:cNvGrpSpPr/>
          <p:nvPr/>
        </p:nvGrpSpPr>
        <p:grpSpPr>
          <a:xfrm>
            <a:off x="10437217" y="1604286"/>
            <a:ext cx="1362738" cy="2412665"/>
            <a:chOff x="10441751" y="2455378"/>
            <a:chExt cx="1362738" cy="2412665"/>
          </a:xfrm>
        </p:grpSpPr>
        <p:sp>
          <p:nvSpPr>
            <p:cNvPr id="19" name="원통형 18">
              <a:extLst>
                <a:ext uri="{FF2B5EF4-FFF2-40B4-BE49-F238E27FC236}">
                  <a16:creationId xmlns:a16="http://schemas.microsoft.com/office/drawing/2014/main" id="{153792B2-CCAD-640D-0BF8-FC794FF03607}"/>
                </a:ext>
              </a:extLst>
            </p:cNvPr>
            <p:cNvSpPr/>
            <p:nvPr/>
          </p:nvSpPr>
          <p:spPr>
            <a:xfrm>
              <a:off x="10441751" y="2455378"/>
              <a:ext cx="1362738" cy="241266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EB269C-66AD-E684-36CB-3FFA380D40F2}"/>
                </a:ext>
              </a:extLst>
            </p:cNvPr>
            <p:cNvSpPr txBox="1"/>
            <p:nvPr/>
          </p:nvSpPr>
          <p:spPr>
            <a:xfrm rot="5400000">
              <a:off x="10063967" y="3593977"/>
              <a:ext cx="117060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</a:rPr>
                <a:t>Master-Slave</a:t>
              </a:r>
              <a:endParaRPr lang="en-US" altLang="ko-KR">
                <a:solidFill>
                  <a:schemeClr val="bg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6A81E4C-2709-28EA-22A5-CF3138906B05}"/>
                </a:ext>
              </a:extLst>
            </p:cNvPr>
            <p:cNvSpPr txBox="1"/>
            <p:nvPr/>
          </p:nvSpPr>
          <p:spPr>
            <a:xfrm>
              <a:off x="10552397" y="4471847"/>
              <a:ext cx="1148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solidFill>
                    <a:schemeClr val="bg1"/>
                  </a:solidFill>
                </a:rPr>
                <a:t>Database</a:t>
              </a:r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211B22-07B5-9B0B-9979-4E0AF7BF403B}"/>
                </a:ext>
              </a:extLst>
            </p:cNvPr>
            <p:cNvSpPr txBox="1"/>
            <p:nvPr/>
          </p:nvSpPr>
          <p:spPr>
            <a:xfrm rot="5400000">
              <a:off x="10272942" y="3593977"/>
              <a:ext cx="117060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1200">
                  <a:solidFill>
                    <a:schemeClr val="bg1"/>
                  </a:solidFill>
                </a:rPr>
                <a:t>Write - Read</a:t>
              </a:r>
              <a:endParaRPr lang="en-US" altLang="ko-KR">
                <a:solidFill>
                  <a:schemeClr val="bg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3ED7623-9CBF-4C45-AF95-614746F6A9B4}"/>
              </a:ext>
            </a:extLst>
          </p:cNvPr>
          <p:cNvSpPr txBox="1"/>
          <p:nvPr/>
        </p:nvSpPr>
        <p:spPr>
          <a:xfrm>
            <a:off x="9692154" y="5448467"/>
            <a:ext cx="11961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err="1"/>
              <a:t>kafka</a:t>
            </a:r>
            <a:r>
              <a:rPr kumimoji="1" lang="en-US" altLang="ko-KR" sz="1100"/>
              <a:t> consumer</a:t>
            </a:r>
          </a:p>
          <a:p>
            <a:r>
              <a:rPr kumimoji="1" lang="en-US" altLang="ko-KR" sz="1100"/>
              <a:t>alarm API</a:t>
            </a:r>
            <a:endParaRPr kumimoji="1" lang="ko-KR" altLang="en-US" sz="110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A7D5AD4-5D64-0F44-9614-70F356ABB03E}"/>
              </a:ext>
            </a:extLst>
          </p:cNvPr>
          <p:cNvGrpSpPr/>
          <p:nvPr/>
        </p:nvGrpSpPr>
        <p:grpSpPr>
          <a:xfrm>
            <a:off x="1589908" y="995141"/>
            <a:ext cx="1935913" cy="821057"/>
            <a:chOff x="2667265" y="2233813"/>
            <a:chExt cx="1935913" cy="686600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8C08433-4D2D-6940-A7A0-C56C0AA81993}"/>
                </a:ext>
              </a:extLst>
            </p:cNvPr>
            <p:cNvSpPr/>
            <p:nvPr/>
          </p:nvSpPr>
          <p:spPr>
            <a:xfrm>
              <a:off x="2673551" y="2233813"/>
              <a:ext cx="1929627" cy="68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E31DB65-2B37-5D43-B589-B2A0A45DA598}"/>
                </a:ext>
              </a:extLst>
            </p:cNvPr>
            <p:cNvSpPr/>
            <p:nvPr/>
          </p:nvSpPr>
          <p:spPr>
            <a:xfrm>
              <a:off x="2667265" y="2651989"/>
              <a:ext cx="1930982" cy="26842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auth-service</a:t>
              </a:r>
              <a:endParaRPr lang="ko-KR" altLang="en-US"/>
            </a:p>
          </p:txBody>
        </p:sp>
      </p:grp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8A51786D-3706-AB41-A0AD-0084CA164F63}"/>
              </a:ext>
            </a:extLst>
          </p:cNvPr>
          <p:cNvCxnSpPr>
            <a:stCxn id="7" idx="6"/>
            <a:endCxn id="95" idx="2"/>
          </p:cNvCxnSpPr>
          <p:nvPr/>
        </p:nvCxnSpPr>
        <p:spPr>
          <a:xfrm flipV="1">
            <a:off x="1404229" y="1816198"/>
            <a:ext cx="1151170" cy="118002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[E] 106">
            <a:extLst>
              <a:ext uri="{FF2B5EF4-FFF2-40B4-BE49-F238E27FC236}">
                <a16:creationId xmlns:a16="http://schemas.microsoft.com/office/drawing/2014/main" id="{D7870896-F5E0-3848-8A8B-6CDA33A62481}"/>
              </a:ext>
            </a:extLst>
          </p:cNvPr>
          <p:cNvCxnSpPr>
            <a:stCxn id="94" idx="3"/>
            <a:endCxn id="19" idx="1"/>
          </p:cNvCxnSpPr>
          <p:nvPr/>
        </p:nvCxnSpPr>
        <p:spPr>
          <a:xfrm>
            <a:off x="3525821" y="1402422"/>
            <a:ext cx="7592765" cy="20186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0FCA6DF-7156-294C-A7A0-79DFF443AC7E}"/>
              </a:ext>
            </a:extLst>
          </p:cNvPr>
          <p:cNvSpPr txBox="1"/>
          <p:nvPr/>
        </p:nvSpPr>
        <p:spPr>
          <a:xfrm rot="18914963">
            <a:off x="1400853" y="2180657"/>
            <a:ext cx="88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인증</a:t>
            </a:r>
            <a:r>
              <a:rPr lang="en-US" altLang="ko-KR" sz="1200"/>
              <a:t>/</a:t>
            </a:r>
            <a:r>
              <a:rPr lang="ko-KR" altLang="en-US" sz="1200"/>
              <a:t>인가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9D857BFD-9CB5-9E4D-8992-7B435D52F0F6}"/>
              </a:ext>
            </a:extLst>
          </p:cNvPr>
          <p:cNvCxnSpPr>
            <a:stCxn id="55" idx="3"/>
            <a:endCxn id="60" idx="2"/>
          </p:cNvCxnSpPr>
          <p:nvPr/>
        </p:nvCxnSpPr>
        <p:spPr>
          <a:xfrm>
            <a:off x="6453905" y="5028559"/>
            <a:ext cx="1043366" cy="75393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[E] 130">
            <a:extLst>
              <a:ext uri="{FF2B5EF4-FFF2-40B4-BE49-F238E27FC236}">
                <a16:creationId xmlns:a16="http://schemas.microsoft.com/office/drawing/2014/main" id="{0CCC12AF-8801-7445-A105-6618D1EF101E}"/>
              </a:ext>
            </a:extLst>
          </p:cNvPr>
          <p:cNvCxnSpPr>
            <a:stCxn id="55" idx="3"/>
            <a:endCxn id="19" idx="3"/>
          </p:cNvCxnSpPr>
          <p:nvPr/>
        </p:nvCxnSpPr>
        <p:spPr>
          <a:xfrm flipV="1">
            <a:off x="6453905" y="4016951"/>
            <a:ext cx="4664681" cy="101160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8EEA587-430A-6348-A173-3A340BE528F0}"/>
              </a:ext>
            </a:extLst>
          </p:cNvPr>
          <p:cNvSpPr txBox="1"/>
          <p:nvPr/>
        </p:nvSpPr>
        <p:spPr>
          <a:xfrm>
            <a:off x="5618738" y="1104632"/>
            <a:ext cx="1558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/>
              <a:t>user/password </a:t>
            </a:r>
            <a:r>
              <a:rPr kumimoji="1" lang="ko-KR" altLang="en-US" sz="1200"/>
              <a:t>인증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57A6F01-A821-B44C-ABB5-23794F8786E9}"/>
              </a:ext>
            </a:extLst>
          </p:cNvPr>
          <p:cNvSpPr txBox="1"/>
          <p:nvPr/>
        </p:nvSpPr>
        <p:spPr>
          <a:xfrm>
            <a:off x="7962193" y="47394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err="1"/>
              <a:t>예약저장</a:t>
            </a:r>
            <a:endParaRPr kumimoji="1" lang="ko-KR" altLang="en-US" sz="120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0C09A53-0991-C341-83BE-D710CD754203}"/>
              </a:ext>
            </a:extLst>
          </p:cNvPr>
          <p:cNvSpPr txBox="1"/>
          <p:nvPr/>
        </p:nvSpPr>
        <p:spPr>
          <a:xfrm rot="2046934">
            <a:off x="6881084" y="521895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/>
              <a:t>알림</a:t>
            </a:r>
          </a:p>
        </p:txBody>
      </p:sp>
    </p:spTree>
    <p:extLst>
      <p:ext uri="{BB962C8B-B14F-4D97-AF65-F5344CB8AC3E}">
        <p14:creationId xmlns:p14="http://schemas.microsoft.com/office/powerpoint/2010/main" val="99725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3BBE-22C3-0BB1-D0B5-A435F85C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BFA19F-B4E7-0274-D07B-870A79586A84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2. </a:t>
            </a:r>
            <a:r>
              <a:rPr lang="ko-KR" altLang="en-US" b="1" spc="-100">
                <a:latin typeface="+mn-ea"/>
              </a:rPr>
              <a:t>마이크로서비스 구성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안</a:t>
            </a:r>
            <a:r>
              <a:rPr lang="en-US" altLang="ko-KR" b="1" spc="-100">
                <a:latin typeface="+mn-ea"/>
              </a:rPr>
              <a:t>) (1/3, </a:t>
            </a:r>
            <a:r>
              <a:rPr lang="ko-KR" altLang="en-US" b="1" spc="-100">
                <a:latin typeface="+mn-ea"/>
              </a:rPr>
              <a:t>평생학습플랫폼 </a:t>
            </a:r>
            <a:r>
              <a:rPr lang="ko-KR" altLang="en-US" b="1" spc="-100" err="1">
                <a:latin typeface="+mn-ea"/>
              </a:rPr>
              <a:t>서비스분리</a:t>
            </a:r>
            <a:r>
              <a:rPr lang="ko-KR" altLang="en-US" b="1" spc="-100">
                <a:latin typeface="+mn-ea"/>
              </a:rPr>
              <a:t> 결과</a:t>
            </a:r>
            <a:r>
              <a:rPr lang="en-US" altLang="ko-KR" b="1" spc="-100">
                <a:latin typeface="+mn-ea"/>
              </a:rPr>
              <a:t>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E286C14-45CC-14F4-4CAE-BEC1D1EBA79A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▣ 상세내용 </a:t>
            </a:r>
            <a:r>
              <a:rPr lang="ko-KR" altLang="en-US" sz="1200" err="1"/>
              <a:t>엑셀참조</a:t>
            </a:r>
            <a:endParaRPr lang="ko-KR" altLang="en-US" sz="120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F1925DC-B9B6-2248-82B4-380D3B3A6891}"/>
              </a:ext>
            </a:extLst>
          </p:cNvPr>
          <p:cNvGrpSpPr/>
          <p:nvPr/>
        </p:nvGrpSpPr>
        <p:grpSpPr>
          <a:xfrm>
            <a:off x="1300062" y="680279"/>
            <a:ext cx="6808531" cy="5680857"/>
            <a:chOff x="1142418" y="680279"/>
            <a:chExt cx="6808531" cy="5680857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AF61756-66F7-1144-B2F7-4A12C0EA6EA8}"/>
                </a:ext>
              </a:extLst>
            </p:cNvPr>
            <p:cNvGrpSpPr/>
            <p:nvPr/>
          </p:nvGrpSpPr>
          <p:grpSpPr>
            <a:xfrm>
              <a:off x="3443222" y="1543615"/>
              <a:ext cx="1986441" cy="1507582"/>
              <a:chOff x="3443222" y="1543615"/>
              <a:chExt cx="1986441" cy="1507582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46CA272-1F7D-A73C-CE92-D4BFD778E54A}"/>
                  </a:ext>
                </a:extLst>
              </p:cNvPr>
              <p:cNvSpPr/>
              <p:nvPr/>
            </p:nvSpPr>
            <p:spPr>
              <a:xfrm>
                <a:off x="3451422" y="1548190"/>
                <a:ext cx="1943652" cy="129762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477EB40-EE38-0B98-2A67-862FDD238BFA}"/>
                  </a:ext>
                </a:extLst>
              </p:cNvPr>
              <p:cNvSpPr/>
              <p:nvPr/>
            </p:nvSpPr>
            <p:spPr>
              <a:xfrm>
                <a:off x="3455840" y="2693390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portal-service</a:t>
                </a:r>
                <a:endParaRPr lang="ko-KR" altLang="en-US" sz="12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CEDFD51-B247-213F-D6C7-694C98685D58}"/>
                  </a:ext>
                </a:extLst>
              </p:cNvPr>
              <p:cNvSpPr txBox="1"/>
              <p:nvPr/>
            </p:nvSpPr>
            <p:spPr>
              <a:xfrm>
                <a:off x="3840153" y="1543615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/>
                  <a:t>포털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68735B1-2361-DFA2-D060-483EA0E288A5}"/>
                  </a:ext>
                </a:extLst>
              </p:cNvPr>
              <p:cNvSpPr txBox="1"/>
              <p:nvPr/>
            </p:nvSpPr>
            <p:spPr>
              <a:xfrm>
                <a:off x="3443222" y="1769016"/>
                <a:ext cx="19864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회원정보조회</a:t>
                </a:r>
                <a:r>
                  <a:rPr lang="en-US" altLang="ko-KR" sz="900"/>
                  <a:t>,</a:t>
                </a:r>
                <a:r>
                  <a:rPr lang="ko-KR" altLang="en-US" sz="900"/>
                  <a:t> 수정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이용가이드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문해교육센터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소식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사업안내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공지사항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입찰공고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고객의 소리</a:t>
                </a:r>
                <a:r>
                  <a:rPr lang="en-US" altLang="ko-KR" sz="900"/>
                  <a:t>, </a:t>
                </a:r>
                <a:r>
                  <a:rPr lang="ko-KR" altLang="en-US" sz="900"/>
                  <a:t>교육자료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자주묻는질문</a:t>
                </a:r>
                <a:r>
                  <a:rPr lang="en-US" altLang="ko-KR" sz="900"/>
                  <a:t>(FAQ), </a:t>
                </a:r>
                <a:r>
                  <a:rPr lang="ko-KR" altLang="en-US" sz="900"/>
                  <a:t>행사갤러리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0AF0001-FDB8-A144-B767-0B6404EA4164}"/>
                </a:ext>
              </a:extLst>
            </p:cNvPr>
            <p:cNvGrpSpPr/>
            <p:nvPr/>
          </p:nvGrpSpPr>
          <p:grpSpPr>
            <a:xfrm>
              <a:off x="3443222" y="3362674"/>
              <a:ext cx="2018501" cy="1072229"/>
              <a:chOff x="3443222" y="3362674"/>
              <a:chExt cx="2018501" cy="107222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9DEEE4-5CB3-A05F-EA6C-84352F7FB178}"/>
                  </a:ext>
                </a:extLst>
              </p:cNvPr>
              <p:cNvSpPr txBox="1"/>
              <p:nvPr/>
            </p:nvSpPr>
            <p:spPr>
              <a:xfrm>
                <a:off x="3850088" y="3362674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/>
                  <a:t>강좌관리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33EACDB4-0A1F-5516-7133-FA5380321AC6}"/>
                  </a:ext>
                </a:extLst>
              </p:cNvPr>
              <p:cNvGrpSpPr/>
              <p:nvPr/>
            </p:nvGrpSpPr>
            <p:grpSpPr>
              <a:xfrm>
                <a:off x="3451422" y="3365895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86A5941E-5DCE-DBDB-D069-9B18449CED9A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51FD0333-3C70-0499-1B62-D7BC05D4F2F6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/>
                    <a:t>course-service</a:t>
                  </a:r>
                  <a:endParaRPr lang="ko-KR" altLang="en-US" sz="1200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8A2E86-0FAE-3A2B-75C7-B5EA52B42CD8}"/>
                  </a:ext>
                </a:extLst>
              </p:cNvPr>
              <p:cNvSpPr txBox="1"/>
              <p:nvPr/>
            </p:nvSpPr>
            <p:spPr>
              <a:xfrm>
                <a:off x="3443222" y="3566300"/>
                <a:ext cx="2018501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err="1"/>
                  <a:t>기관관리자</a:t>
                </a:r>
                <a:r>
                  <a:rPr lang="ko-KR" altLang="en-US" sz="900"/>
                  <a:t> </a:t>
                </a:r>
                <a:r>
                  <a:rPr lang="ko-KR" altLang="en-US" sz="900" err="1"/>
                  <a:t>회차</a:t>
                </a:r>
                <a:r>
                  <a:rPr lang="ko-KR" altLang="en-US" sz="900"/>
                  <a:t> 및 </a:t>
                </a:r>
                <a:r>
                  <a:rPr lang="ko-KR" altLang="en-US" sz="900" err="1"/>
                  <a:t>강좌관리</a:t>
                </a:r>
                <a:r>
                  <a:rPr lang="ko-KR" altLang="en-US" sz="900"/>
                  <a:t> 등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err="1"/>
                  <a:t>온라인강좌</a:t>
                </a:r>
                <a:r>
                  <a:rPr lang="ko-KR" altLang="en-US" sz="900"/>
                  <a:t>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강사 강좌 관리 등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81EAD4D2-BE43-FA45-A0B2-7A96A409DFF1}"/>
                </a:ext>
              </a:extLst>
            </p:cNvPr>
            <p:cNvGrpSpPr/>
            <p:nvPr/>
          </p:nvGrpSpPr>
          <p:grpSpPr>
            <a:xfrm>
              <a:off x="5732172" y="3365547"/>
              <a:ext cx="1950457" cy="1072229"/>
              <a:chOff x="5732172" y="3365547"/>
              <a:chExt cx="1950457" cy="1072229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B52E4872-7EE9-0ACD-DAAA-8636E2ABA3B6}"/>
                  </a:ext>
                </a:extLst>
              </p:cNvPr>
              <p:cNvGrpSpPr/>
              <p:nvPr/>
            </p:nvGrpSpPr>
            <p:grpSpPr>
              <a:xfrm>
                <a:off x="5734559" y="3365547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EF3D0517-1002-56DA-E899-77A6F720ECD0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C7B15C47-C3C0-F51C-14B5-F9C476BC528B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42D32767-A1FA-41ED-80F4-9AE26F412BBB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lecture-service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9A20089-4C63-D32D-0072-E535CD994A68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수강관리</a:t>
                  </a: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942F19-815E-981F-D04F-343CFEB86EC6}"/>
                  </a:ext>
                </a:extLst>
              </p:cNvPr>
              <p:cNvSpPr txBox="1"/>
              <p:nvPr/>
            </p:nvSpPr>
            <p:spPr>
              <a:xfrm>
                <a:off x="5732172" y="3572502"/>
                <a:ext cx="1787669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수강과목 조회 및 수강신청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수강신청결과 조회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err="1"/>
                  <a:t>수강내역</a:t>
                </a:r>
                <a:r>
                  <a:rPr lang="ko-KR" altLang="en-US" sz="900"/>
                  <a:t> 및 수료증 조회 등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67FA34C-C7DC-9844-AA45-72053B706B0A}"/>
                </a:ext>
              </a:extLst>
            </p:cNvPr>
            <p:cNvGrpSpPr/>
            <p:nvPr/>
          </p:nvGrpSpPr>
          <p:grpSpPr>
            <a:xfrm>
              <a:off x="5719567" y="1547753"/>
              <a:ext cx="1963947" cy="1507657"/>
              <a:chOff x="5719567" y="1547753"/>
              <a:chExt cx="1963947" cy="1507657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7BB3956-7A78-0314-18C5-DE8EF7144710}"/>
                  </a:ext>
                </a:extLst>
              </p:cNvPr>
              <p:cNvGrpSpPr/>
              <p:nvPr/>
            </p:nvGrpSpPr>
            <p:grpSpPr>
              <a:xfrm>
                <a:off x="5723986" y="1547753"/>
                <a:ext cx="1959528" cy="1507657"/>
                <a:chOff x="5565912" y="3496431"/>
                <a:chExt cx="1953782" cy="1072229"/>
              </a:xfrm>
            </p:grpSpPr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8659D931-B2BE-1A7E-FC17-F32C25861B7B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53782" cy="1069008"/>
                  <a:chOff x="2654852" y="1413565"/>
                  <a:chExt cx="1953782" cy="1069008"/>
                </a:xfrm>
              </p:grpSpPr>
              <p:sp>
                <p:nvSpPr>
                  <p:cNvPr id="35" name="직사각형 34">
                    <a:extLst>
                      <a:ext uri="{FF2B5EF4-FFF2-40B4-BE49-F238E27FC236}">
                        <a16:creationId xmlns:a16="http://schemas.microsoft.com/office/drawing/2014/main" id="{6C738977-0846-6EF2-F716-50A3A0A89CBD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8F68B3C0-5337-6E4C-A823-A0F77AA7086D}"/>
                      </a:ext>
                    </a:extLst>
                  </p:cNvPr>
                  <p:cNvSpPr/>
                  <p:nvPr/>
                </p:nvSpPr>
                <p:spPr>
                  <a:xfrm>
                    <a:off x="2659270" y="2222557"/>
                    <a:ext cx="1949364" cy="260016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err="1"/>
                      <a:t>inst</a:t>
                    </a:r>
                    <a:r>
                      <a:rPr lang="en-US" altLang="ko-KR" sz="1200"/>
                      <a:t>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C15CF29-41AF-B304-21A9-8FFD301437FA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 err="1"/>
                    <a:t>기관관리</a:t>
                  </a:r>
                  <a:endParaRPr lang="ko-KR" altLang="en-US" sz="1200" b="1"/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829A8D5-D256-CBA8-173E-D84D5DAD13FD}"/>
                  </a:ext>
                </a:extLst>
              </p:cNvPr>
              <p:cNvSpPr txBox="1"/>
              <p:nvPr/>
            </p:nvSpPr>
            <p:spPr>
              <a:xfrm>
                <a:off x="5719567" y="1774295"/>
                <a:ext cx="1787669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err="1"/>
                  <a:t>기관관리</a:t>
                </a:r>
                <a:r>
                  <a:rPr lang="en-US" altLang="ko-KR" sz="900"/>
                  <a:t>, </a:t>
                </a:r>
                <a:r>
                  <a:rPr lang="ko-KR" altLang="en-US" sz="900" err="1"/>
                  <a:t>기관담당자</a:t>
                </a:r>
                <a:r>
                  <a:rPr lang="ko-KR" altLang="en-US" sz="900"/>
                  <a:t>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기관 강사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기관 대관 및 </a:t>
                </a:r>
                <a:r>
                  <a:rPr lang="ko-KR" altLang="en-US" sz="900" err="1"/>
                  <a:t>공유공간</a:t>
                </a:r>
                <a:r>
                  <a:rPr lang="ko-KR" altLang="en-US" sz="900"/>
                  <a:t> 관리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BB3AEF30-029A-DAB0-7F9C-ECF755F6E962}"/>
                </a:ext>
              </a:extLst>
            </p:cNvPr>
            <p:cNvGrpSpPr/>
            <p:nvPr/>
          </p:nvGrpSpPr>
          <p:grpSpPr>
            <a:xfrm>
              <a:off x="1142418" y="680279"/>
              <a:ext cx="6808531" cy="5680857"/>
              <a:chOff x="2763954" y="680279"/>
              <a:chExt cx="6808531" cy="5680857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AFAA1031-819A-2DBF-D697-4181CF280660}"/>
                  </a:ext>
                </a:extLst>
              </p:cNvPr>
              <p:cNvSpPr/>
              <p:nvPr/>
            </p:nvSpPr>
            <p:spPr>
              <a:xfrm>
                <a:off x="2763954" y="680279"/>
                <a:ext cx="6808531" cy="564788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981500E5-8A8A-1B5E-EB2B-4E06D34950DE}"/>
                  </a:ext>
                </a:extLst>
              </p:cNvPr>
              <p:cNvGrpSpPr/>
              <p:nvPr/>
            </p:nvGrpSpPr>
            <p:grpSpPr>
              <a:xfrm>
                <a:off x="2763954" y="5991804"/>
                <a:ext cx="6808531" cy="369332"/>
                <a:chOff x="-4028882" y="6075612"/>
                <a:chExt cx="6808531" cy="369332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9C4081AF-A3C2-5184-33FD-30085E77D6A6}"/>
                    </a:ext>
                  </a:extLst>
                </p:cNvPr>
                <p:cNvSpPr/>
                <p:nvPr/>
              </p:nvSpPr>
              <p:spPr>
                <a:xfrm>
                  <a:off x="-4028882" y="6092100"/>
                  <a:ext cx="6808531" cy="3363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BABE615-B95A-0181-7BBD-81851A8CF8DC}"/>
                    </a:ext>
                  </a:extLst>
                </p:cNvPr>
                <p:cNvSpPr txBox="1"/>
                <p:nvPr/>
              </p:nvSpPr>
              <p:spPr>
                <a:xfrm>
                  <a:off x="-2056211" y="6075612"/>
                  <a:ext cx="28631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>
                      <a:solidFill>
                        <a:schemeClr val="bg1"/>
                      </a:solidFill>
                    </a:rPr>
                    <a:t>코어 도메인</a:t>
                  </a:r>
                </a:p>
              </p:txBody>
            </p:sp>
          </p:grp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E8F1E34-2822-8549-80F6-4A78C3EDD2BC}"/>
                </a:ext>
              </a:extLst>
            </p:cNvPr>
            <p:cNvGrpSpPr/>
            <p:nvPr/>
          </p:nvGrpSpPr>
          <p:grpSpPr>
            <a:xfrm>
              <a:off x="1303443" y="1550462"/>
              <a:ext cx="2034014" cy="2890185"/>
              <a:chOff x="1303443" y="1550462"/>
              <a:chExt cx="2034014" cy="2890185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6F453A6D-4AD6-75D9-07F2-F121CFC0F7DB}"/>
                  </a:ext>
                </a:extLst>
              </p:cNvPr>
              <p:cNvGrpSpPr/>
              <p:nvPr/>
            </p:nvGrpSpPr>
            <p:grpSpPr>
              <a:xfrm>
                <a:off x="1303443" y="1555036"/>
                <a:ext cx="2034014" cy="2885611"/>
                <a:chOff x="2654852" y="1413565"/>
                <a:chExt cx="1948070" cy="1069008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97E5FFFB-95F9-0F2F-5284-42DAFF5501A3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6F40D30-760A-D26E-50D1-CC40B3131D03}"/>
                    </a:ext>
                  </a:extLst>
                </p:cNvPr>
                <p:cNvSpPr/>
                <p:nvPr/>
              </p:nvSpPr>
              <p:spPr>
                <a:xfrm>
                  <a:off x="2659270" y="2351736"/>
                  <a:ext cx="1943652" cy="1308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/>
                    <a:t>admin-service</a:t>
                  </a:r>
                  <a:endParaRPr lang="ko-KR" altLang="en-US" sz="1200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0AC4DE-D0BE-71A6-CB33-4A5F4C6F83A1}"/>
                  </a:ext>
                </a:extLst>
              </p:cNvPr>
              <p:cNvSpPr txBox="1"/>
              <p:nvPr/>
            </p:nvSpPr>
            <p:spPr>
              <a:xfrm>
                <a:off x="1692174" y="1550462"/>
                <a:ext cx="11706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b="1"/>
                  <a:t>공통관리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1E39AF-52E9-818D-179E-A869EB45E73C}"/>
                  </a:ext>
                </a:extLst>
              </p:cNvPr>
              <p:cNvSpPr txBox="1"/>
              <p:nvPr/>
            </p:nvSpPr>
            <p:spPr>
              <a:xfrm>
                <a:off x="1463979" y="1791274"/>
                <a:ext cx="167225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900"/>
                  <a:t>CMS</a:t>
                </a:r>
                <a:r>
                  <a:rPr lang="ko-KR" altLang="en-US" sz="900"/>
                  <a:t> 홈페이지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기관 및 기관 담당자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온라인 </a:t>
                </a:r>
                <a:r>
                  <a:rPr lang="en-US" altLang="ko-KR" sz="900"/>
                  <a:t>PG</a:t>
                </a:r>
                <a:r>
                  <a:rPr lang="ko-KR" altLang="en-US" sz="900"/>
                  <a:t>사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회원 및 관리자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관리자 접속아이피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감면서비스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조직도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접속 통계 조회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개인정보 로그 조회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메시지 템플릿 조회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/>
                  <a:t>기타 부대기능 관리</a:t>
                </a:r>
                <a:endParaRPr lang="en-US" altLang="ko-KR" sz="9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900"/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82646E7C-C5E8-B640-A10B-5A5B99AEF038}"/>
              </a:ext>
            </a:extLst>
          </p:cNvPr>
          <p:cNvGrpSpPr/>
          <p:nvPr/>
        </p:nvGrpSpPr>
        <p:grpSpPr>
          <a:xfrm>
            <a:off x="8237326" y="680279"/>
            <a:ext cx="2303364" cy="5680857"/>
            <a:chOff x="8237326" y="680279"/>
            <a:chExt cx="2303364" cy="5680857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C6B149EF-FFFA-E543-933A-3EDBEBA95D37}"/>
                </a:ext>
              </a:extLst>
            </p:cNvPr>
            <p:cNvGrpSpPr/>
            <p:nvPr/>
          </p:nvGrpSpPr>
          <p:grpSpPr>
            <a:xfrm>
              <a:off x="8414973" y="1118673"/>
              <a:ext cx="1948070" cy="1069008"/>
              <a:chOff x="409710" y="1299633"/>
              <a:chExt cx="1948070" cy="1069008"/>
            </a:xfrm>
          </p:grpSpPr>
          <p:grpSp>
            <p:nvGrpSpPr>
              <p:cNvPr id="126" name="그룹 7">
                <a:extLst>
                  <a:ext uri="{FF2B5EF4-FFF2-40B4-BE49-F238E27FC236}">
                    <a16:creationId xmlns:a16="http://schemas.microsoft.com/office/drawing/2014/main" id="{4CD4DF46-46F2-A149-8804-39022608EF0D}"/>
                  </a:ext>
                </a:extLst>
              </p:cNvPr>
              <p:cNvGrpSpPr/>
              <p:nvPr/>
            </p:nvGrpSpPr>
            <p:grpSpPr>
              <a:xfrm>
                <a:off x="409710" y="1299633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128" name="직사각형 4">
                  <a:extLst>
                    <a:ext uri="{FF2B5EF4-FFF2-40B4-BE49-F238E27FC236}">
                      <a16:creationId xmlns:a16="http://schemas.microsoft.com/office/drawing/2014/main" id="{842DD09E-E3BF-9648-AD54-78BE6A40074C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9" name="직사각형 5">
                  <a:extLst>
                    <a:ext uri="{FF2B5EF4-FFF2-40B4-BE49-F238E27FC236}">
                      <a16:creationId xmlns:a16="http://schemas.microsoft.com/office/drawing/2014/main" id="{1A224F64-AC12-284A-9BC6-C69EA37AC06B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altLang="ko-KR" sz="1200">
                      <a:ea typeface="맑은 고딕"/>
                    </a:rPr>
                    <a:t>auth-service</a:t>
                  </a:r>
                  <a:endParaRPr lang="ko-KR" altLang="en-US"/>
                </a:p>
              </p:txBody>
            </p:sp>
          </p:grp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723173E4-A74E-D847-8031-DC232BAD38EF}"/>
                  </a:ext>
                </a:extLst>
              </p:cNvPr>
              <p:cNvSpPr txBox="1"/>
              <p:nvPr/>
            </p:nvSpPr>
            <p:spPr>
              <a:xfrm>
                <a:off x="761620" y="1364666"/>
                <a:ext cx="1244251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/>
                  <a:t>인증</a:t>
                </a:r>
                <a:r>
                  <a:rPr lang="en-US" altLang="ko-KR" sz="1050"/>
                  <a:t>/</a:t>
                </a:r>
                <a:r>
                  <a:rPr lang="ko-KR" altLang="en-US" sz="1050"/>
                  <a:t>토큰발행</a:t>
                </a:r>
                <a:endParaRPr lang="en-US" altLang="ko-KR" sz="105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50"/>
                  <a:t>id/pass </a:t>
                </a:r>
                <a:r>
                  <a:rPr lang="ko-KR" altLang="en-US" sz="1050"/>
                  <a:t>로그인</a:t>
                </a:r>
                <a:endParaRPr lang="en-US" altLang="ko-KR" sz="105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err="1"/>
                  <a:t>소셜로그인</a:t>
                </a:r>
                <a:endParaRPr lang="ko-KR" altLang="en-US" sz="1050"/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7F9B42C2-20ED-164D-B966-98C29C24081A}"/>
                </a:ext>
              </a:extLst>
            </p:cNvPr>
            <p:cNvGrpSpPr/>
            <p:nvPr/>
          </p:nvGrpSpPr>
          <p:grpSpPr>
            <a:xfrm>
              <a:off x="8237326" y="680279"/>
              <a:ext cx="2303364" cy="5680857"/>
              <a:chOff x="9694270" y="680279"/>
              <a:chExt cx="2303364" cy="5680857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C378796D-FB28-6944-8585-4CEF05F4BA41}"/>
                  </a:ext>
                </a:extLst>
              </p:cNvPr>
              <p:cNvSpPr/>
              <p:nvPr/>
            </p:nvSpPr>
            <p:spPr>
              <a:xfrm>
                <a:off x="9697753" y="680279"/>
                <a:ext cx="2278834" cy="5647882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20DDBF30-EF9D-1344-9612-B9E5CC092C35}"/>
                  </a:ext>
                </a:extLst>
              </p:cNvPr>
              <p:cNvGrpSpPr/>
              <p:nvPr/>
            </p:nvGrpSpPr>
            <p:grpSpPr>
              <a:xfrm>
                <a:off x="9694270" y="5991804"/>
                <a:ext cx="2303364" cy="369332"/>
                <a:chOff x="220559" y="6347131"/>
                <a:chExt cx="2262764" cy="369332"/>
              </a:xfrm>
            </p:grpSpPr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35B1878C-32A3-9B42-9028-9315481793B2}"/>
                    </a:ext>
                  </a:extLst>
                </p:cNvPr>
                <p:cNvSpPr/>
                <p:nvPr/>
              </p:nvSpPr>
              <p:spPr>
                <a:xfrm>
                  <a:off x="220559" y="6372453"/>
                  <a:ext cx="2262764" cy="336357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F0F48DA0-E083-4744-A5AF-A88675C9BE1A}"/>
                    </a:ext>
                  </a:extLst>
                </p:cNvPr>
                <p:cNvSpPr txBox="1"/>
                <p:nvPr/>
              </p:nvSpPr>
              <p:spPr>
                <a:xfrm>
                  <a:off x="694959" y="6347131"/>
                  <a:ext cx="14364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solidFill>
                        <a:schemeClr val="bg1"/>
                      </a:solidFill>
                    </a:rPr>
                    <a:t>지원 도메인</a:t>
                  </a:r>
                </a:p>
              </p:txBody>
            </p:sp>
          </p:grp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76B71B2-8445-8549-AB29-F886CCD86EDC}"/>
                </a:ext>
              </a:extLst>
            </p:cNvPr>
            <p:cNvGrpSpPr/>
            <p:nvPr/>
          </p:nvGrpSpPr>
          <p:grpSpPr>
            <a:xfrm>
              <a:off x="8414973" y="2711846"/>
              <a:ext cx="1948070" cy="1072229"/>
              <a:chOff x="9871917" y="2860811"/>
              <a:chExt cx="1948070" cy="1072229"/>
            </a:xfrm>
          </p:grpSpPr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122C366F-EF45-5847-9DC2-1208C845A6D7}"/>
                  </a:ext>
                </a:extLst>
              </p:cNvPr>
              <p:cNvGrpSpPr/>
              <p:nvPr/>
            </p:nvGrpSpPr>
            <p:grpSpPr>
              <a:xfrm>
                <a:off x="9871917" y="286081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E54C6189-EA8C-3E45-90B6-DEBA743B0503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A29679BC-3F27-274C-8825-48B5E8FE342E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21" name="직사각형 120">
                    <a:extLst>
                      <a:ext uri="{FF2B5EF4-FFF2-40B4-BE49-F238E27FC236}">
                        <a16:creationId xmlns:a16="http://schemas.microsoft.com/office/drawing/2014/main" id="{8D4B7D5A-93BA-3449-9FE2-9DE61BEBFB60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alarm-service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40B25FA-F49A-7E4A-A848-53BF8E692E94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알림 서비스</a:t>
                  </a:r>
                </a:p>
              </p:txBody>
            </p: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0616313-EA15-F34C-95DE-98D8A4019968}"/>
                  </a:ext>
                </a:extLst>
              </p:cNvPr>
              <p:cNvSpPr txBox="1"/>
              <p:nvPr/>
            </p:nvSpPr>
            <p:spPr>
              <a:xfrm>
                <a:off x="10240658" y="3092549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/>
                  <a:t>Kafka</a:t>
                </a:r>
                <a:r>
                  <a:rPr lang="ko-KR" altLang="en-US"/>
                  <a:t> </a:t>
                </a:r>
                <a:r>
                  <a:rPr lang="en-US" altLang="ko-KR"/>
                  <a:t>Consumer</a:t>
                </a:r>
              </a:p>
              <a:p>
                <a:r>
                  <a:rPr lang="en-US" altLang="ko-KR"/>
                  <a:t>Alarm API</a:t>
                </a:r>
                <a:endParaRPr lang="ko-KR" altLang="en-US"/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6B47755F-9FDE-2647-8C49-B2797001539B}"/>
                </a:ext>
              </a:extLst>
            </p:cNvPr>
            <p:cNvGrpSpPr/>
            <p:nvPr/>
          </p:nvGrpSpPr>
          <p:grpSpPr>
            <a:xfrm>
              <a:off x="8419391" y="4308241"/>
              <a:ext cx="1948070" cy="1072229"/>
              <a:chOff x="9876335" y="4308241"/>
              <a:chExt cx="1948070" cy="1072229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38C513F4-4DF5-9843-9E56-9D6672D22564}"/>
                  </a:ext>
                </a:extLst>
              </p:cNvPr>
              <p:cNvGrpSpPr/>
              <p:nvPr/>
            </p:nvGrpSpPr>
            <p:grpSpPr>
              <a:xfrm>
                <a:off x="9876335" y="4308241"/>
                <a:ext cx="1948070" cy="1072229"/>
                <a:chOff x="5565912" y="3496431"/>
                <a:chExt cx="1948070" cy="1072229"/>
              </a:xfrm>
            </p:grpSpPr>
            <p:grpSp>
              <p:nvGrpSpPr>
                <p:cNvPr id="112" name="그룹 111">
                  <a:extLst>
                    <a:ext uri="{FF2B5EF4-FFF2-40B4-BE49-F238E27FC236}">
                      <a16:creationId xmlns:a16="http://schemas.microsoft.com/office/drawing/2014/main" id="{A6C1FF5B-8CDB-6047-BE48-8207EAEB1352}"/>
                    </a:ext>
                  </a:extLst>
                </p:cNvPr>
                <p:cNvGrpSpPr/>
                <p:nvPr/>
              </p:nvGrpSpPr>
              <p:grpSpPr>
                <a:xfrm>
                  <a:off x="5565912" y="3499652"/>
                  <a:ext cx="1948070" cy="1069008"/>
                  <a:chOff x="2654852" y="1413565"/>
                  <a:chExt cx="1948070" cy="1069008"/>
                </a:xfrm>
              </p:grpSpPr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AC5B37CF-E617-0741-B725-A394A5A9256D}"/>
                      </a:ext>
                    </a:extLst>
                  </p:cNvPr>
                  <p:cNvSpPr/>
                  <p:nvPr/>
                </p:nvSpPr>
                <p:spPr>
                  <a:xfrm>
                    <a:off x="2654852" y="141356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E3A01711-9700-684F-8E31-85B3B2954BE8}"/>
                      </a:ext>
                    </a:extLst>
                  </p:cNvPr>
                  <p:cNvSpPr/>
                  <p:nvPr/>
                </p:nvSpPr>
                <p:spPr>
                  <a:xfrm>
                    <a:off x="2659270" y="2124766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stats-service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B598FA0-6125-F74C-A7CE-9B0E74948A38}"/>
                    </a:ext>
                  </a:extLst>
                </p:cNvPr>
                <p:cNvSpPr txBox="1"/>
                <p:nvPr/>
              </p:nvSpPr>
              <p:spPr>
                <a:xfrm>
                  <a:off x="5943597" y="3496431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서비스 통계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E4A420B-4301-7347-A746-078BF9C86122}"/>
                  </a:ext>
                </a:extLst>
              </p:cNvPr>
              <p:cNvSpPr txBox="1"/>
              <p:nvPr/>
            </p:nvSpPr>
            <p:spPr>
              <a:xfrm>
                <a:off x="10245076" y="4531123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/>
                  <a:t>Kafka</a:t>
                </a:r>
                <a:r>
                  <a:rPr lang="ko-KR" altLang="en-US"/>
                  <a:t> </a:t>
                </a:r>
                <a:r>
                  <a:rPr lang="en-US" altLang="ko-KR"/>
                  <a:t>Consumer</a:t>
                </a:r>
              </a:p>
              <a:p>
                <a:r>
                  <a:rPr lang="en-US" altLang="ko-KR"/>
                  <a:t>Query response</a:t>
                </a:r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74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36E8-FD16-8A37-C83C-21C08F1E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7DED0D-0FB7-7750-B40F-0798EA58D625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lIns="91440" tIns="45720" rIns="91440" bIns="45720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맑은 고딕"/>
                <a:ea typeface="맑은 고딕"/>
              </a:rPr>
              <a:t>2. </a:t>
            </a:r>
            <a:r>
              <a:rPr lang="ko-KR" altLang="en-US" b="1" spc="-100" err="1">
                <a:latin typeface="맑은 고딕"/>
                <a:ea typeface="맑은 고딕"/>
              </a:rPr>
              <a:t>마이크로서비스</a:t>
            </a:r>
            <a:r>
              <a:rPr lang="ko-KR" altLang="en-US" b="1" spc="-100">
                <a:latin typeface="맑은 고딕"/>
                <a:ea typeface="맑은 고딕"/>
              </a:rPr>
              <a:t> 구성</a:t>
            </a:r>
            <a:r>
              <a:rPr lang="en-US" altLang="ko-KR" b="1" spc="-100">
                <a:latin typeface="맑은 고딕"/>
                <a:ea typeface="맑은 고딕"/>
              </a:rPr>
              <a:t>(</a:t>
            </a:r>
            <a:r>
              <a:rPr lang="ko-KR" altLang="en-US" b="1" spc="-100">
                <a:latin typeface="맑은 고딕"/>
                <a:ea typeface="맑은 고딕"/>
              </a:rPr>
              <a:t>안</a:t>
            </a:r>
            <a:r>
              <a:rPr lang="en-US" altLang="ko-KR" b="1" spc="-100">
                <a:latin typeface="맑은 고딕"/>
                <a:ea typeface="맑은 고딕"/>
              </a:rPr>
              <a:t>) (2/3, </a:t>
            </a:r>
            <a:r>
              <a:rPr lang="ko-KR" altLang="en-US" b="1" spc="-100">
                <a:latin typeface="맑은 고딕"/>
                <a:ea typeface="맑은 고딕"/>
              </a:rPr>
              <a:t>통합예약시스템 서비스분리 결과</a:t>
            </a:r>
            <a:r>
              <a:rPr lang="en-US" altLang="ko-KR" b="1" spc="-100">
                <a:latin typeface="맑은 고딕"/>
                <a:ea typeface="맑은 고딕"/>
              </a:rPr>
              <a:t>)</a:t>
            </a:r>
            <a:endParaRPr lang="ko-KR" altLang="en-US" b="1" spc="-100">
              <a:latin typeface="맑은 고딕"/>
              <a:ea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F99C3CB-C857-7456-3C37-293C767ABEE5}"/>
              </a:ext>
            </a:extLst>
          </p:cNvPr>
          <p:cNvGrpSpPr/>
          <p:nvPr/>
        </p:nvGrpSpPr>
        <p:grpSpPr>
          <a:xfrm>
            <a:off x="3722560" y="2137772"/>
            <a:ext cx="1948070" cy="1540638"/>
            <a:chOff x="2654852" y="1413565"/>
            <a:chExt cx="1948070" cy="106900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2FD4CC7-2DE2-F53A-8AC0-CE6BA9869CA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6DF33F7-9344-27F1-EC30-E099DB77166F}"/>
                </a:ext>
              </a:extLst>
            </p:cNvPr>
            <p:cNvSpPr/>
            <p:nvPr/>
          </p:nvSpPr>
          <p:spPr>
            <a:xfrm>
              <a:off x="2659270" y="2233396"/>
              <a:ext cx="1943652" cy="2491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altLang="ko-KR" sz="1200">
                  <a:ea typeface="맑은 고딕"/>
                </a:rPr>
                <a:t>expr-service</a:t>
              </a:r>
              <a:endParaRPr lang="ko-KR" altLang="en-US" sz="120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ED6990B-E8E5-D44A-22DE-8CD43CC931EE}"/>
              </a:ext>
            </a:extLst>
          </p:cNvPr>
          <p:cNvGrpSpPr/>
          <p:nvPr/>
        </p:nvGrpSpPr>
        <p:grpSpPr>
          <a:xfrm>
            <a:off x="6008743" y="808562"/>
            <a:ext cx="1948070" cy="1069008"/>
            <a:chOff x="2654852" y="1413565"/>
            <a:chExt cx="1948070" cy="1069008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03DBA37-8F5A-3795-ED46-E9567BB20BB3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6C290C8-912F-1CAE-2DB7-AA58E6C43925}"/>
                </a:ext>
              </a:extLst>
            </p:cNvPr>
            <p:cNvSpPr/>
            <p:nvPr/>
          </p:nvSpPr>
          <p:spPr>
            <a:xfrm>
              <a:off x="2659270" y="212476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play-service</a:t>
              </a:r>
              <a:endParaRPr lang="ko-KR" altLang="en-US" sz="120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B8AA11D-A241-CF9C-C59D-211C464A0D90}"/>
              </a:ext>
            </a:extLst>
          </p:cNvPr>
          <p:cNvGrpSpPr/>
          <p:nvPr/>
        </p:nvGrpSpPr>
        <p:grpSpPr>
          <a:xfrm>
            <a:off x="1468035" y="792798"/>
            <a:ext cx="2034014" cy="2885611"/>
            <a:chOff x="2654852" y="1413565"/>
            <a:chExt cx="1948070" cy="106900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9E1922B-4F49-BCD4-2E11-236BB280A2F7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95418B7-5BDA-432E-71C3-20166F5728D6}"/>
                </a:ext>
              </a:extLst>
            </p:cNvPr>
            <p:cNvSpPr/>
            <p:nvPr/>
          </p:nvSpPr>
          <p:spPr>
            <a:xfrm>
              <a:off x="2659270" y="2351736"/>
              <a:ext cx="1943652" cy="1308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err="1"/>
                <a:t>mngr</a:t>
              </a:r>
              <a:r>
                <a:rPr lang="en-US" altLang="ko-KR" sz="1200"/>
                <a:t>-service</a:t>
              </a:r>
              <a:endParaRPr lang="ko-KR" altLang="en-US" sz="120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1857F15-1355-E851-EE4C-2CCD9203C0BC}"/>
              </a:ext>
            </a:extLst>
          </p:cNvPr>
          <p:cNvGrpSpPr/>
          <p:nvPr/>
        </p:nvGrpSpPr>
        <p:grpSpPr>
          <a:xfrm>
            <a:off x="3714360" y="4188031"/>
            <a:ext cx="1948070" cy="1653333"/>
            <a:chOff x="5565912" y="3496431"/>
            <a:chExt cx="1948070" cy="1072229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EB007B-961B-D1FC-5EDE-C98C93EF0354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3139135-145A-5114-5D76-DD870D6732E0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A1AFA58-B0A5-135B-50E9-AEED4A7E2C0F}"/>
                  </a:ext>
                </a:extLst>
              </p:cNvPr>
              <p:cNvSpPr/>
              <p:nvPr/>
            </p:nvSpPr>
            <p:spPr>
              <a:xfrm>
                <a:off x="2659270" y="2249680"/>
                <a:ext cx="1943652" cy="23289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err="1"/>
                  <a:t>lect</a:t>
                </a:r>
                <a:r>
                  <a:rPr lang="en-US" altLang="ko-KR" sz="1200"/>
                  <a:t>-service</a:t>
                </a:r>
                <a:endParaRPr lang="ko-KR" altLang="en-US" sz="12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2D8B6E-D3A5-722B-E1D7-AB91F6A7B513}"/>
                </a:ext>
              </a:extLst>
            </p:cNvPr>
            <p:cNvSpPr txBox="1"/>
            <p:nvPr/>
          </p:nvSpPr>
          <p:spPr>
            <a:xfrm>
              <a:off x="5764848" y="3496431"/>
              <a:ext cx="1528108" cy="179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교육</a:t>
              </a:r>
              <a:r>
                <a:rPr lang="en-US" altLang="ko-KR" sz="1200" b="1"/>
                <a:t>/</a:t>
              </a:r>
              <a:r>
                <a:rPr lang="ko-KR" altLang="en-US" sz="1200" b="1"/>
                <a:t>강좌 예약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8495EF4-2F43-A64C-C83B-16DB9EFAD677}"/>
              </a:ext>
            </a:extLst>
          </p:cNvPr>
          <p:cNvSpPr txBox="1"/>
          <p:nvPr/>
        </p:nvSpPr>
        <p:spPr>
          <a:xfrm>
            <a:off x="3990062" y="2134552"/>
            <a:ext cx="1432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견학</a:t>
            </a:r>
            <a:r>
              <a:rPr lang="en-US" altLang="ko-KR" sz="1200" b="1"/>
              <a:t>/</a:t>
            </a:r>
            <a:r>
              <a:rPr lang="ko-KR" altLang="en-US" sz="1200" b="1"/>
              <a:t>체험 예약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F603343-7A12-A026-EDE3-74E8F76239B0}"/>
              </a:ext>
            </a:extLst>
          </p:cNvPr>
          <p:cNvGrpSpPr/>
          <p:nvPr/>
        </p:nvGrpSpPr>
        <p:grpSpPr>
          <a:xfrm>
            <a:off x="5995123" y="2134552"/>
            <a:ext cx="1948070" cy="1543858"/>
            <a:chOff x="5565912" y="3496431"/>
            <a:chExt cx="1948070" cy="1072229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1C727AF-D765-7FFA-0583-F5715EC53F3F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A38C7AF-DC70-D94F-BB20-3EC81E3F66AB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E033EF74-0456-C360-21AE-98DEE883BACA}"/>
                  </a:ext>
                </a:extLst>
              </p:cNvPr>
              <p:cNvSpPr/>
              <p:nvPr/>
            </p:nvSpPr>
            <p:spPr>
              <a:xfrm>
                <a:off x="2659270" y="2226067"/>
                <a:ext cx="1943652" cy="25650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spfc-service</a:t>
                </a:r>
                <a:endParaRPr lang="ko-KR" altLang="en-US" sz="12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82A235-0BB4-5CF6-FC92-F3CBCAF01391}"/>
                </a:ext>
              </a:extLst>
            </p:cNvPr>
            <p:cNvSpPr txBox="1"/>
            <p:nvPr/>
          </p:nvSpPr>
          <p:spPr>
            <a:xfrm>
              <a:off x="5943597" y="3496431"/>
              <a:ext cx="1170609" cy="192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체육시설 예약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1117C4D-2385-F30C-84AA-2447E1F9F893}"/>
              </a:ext>
            </a:extLst>
          </p:cNvPr>
          <p:cNvGrpSpPr/>
          <p:nvPr/>
        </p:nvGrpSpPr>
        <p:grpSpPr>
          <a:xfrm>
            <a:off x="6004325" y="4148870"/>
            <a:ext cx="1948070" cy="1705789"/>
            <a:chOff x="5565912" y="3496431"/>
            <a:chExt cx="1948070" cy="1072229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DB6D5B6B-226B-70C0-02EB-8D431D660520}"/>
                </a:ext>
              </a:extLst>
            </p:cNvPr>
            <p:cNvGrpSpPr/>
            <p:nvPr/>
          </p:nvGrpSpPr>
          <p:grpSpPr>
            <a:xfrm>
              <a:off x="5565912" y="3499652"/>
              <a:ext cx="1948070" cy="1069008"/>
              <a:chOff x="2654852" y="1413565"/>
              <a:chExt cx="1948070" cy="1069008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49CA9193-98F8-AB55-3792-FD53DC111651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105575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E62FB744-AC13-A6BB-78BE-F9A901CBA0E6}"/>
                  </a:ext>
                </a:extLst>
              </p:cNvPr>
              <p:cNvSpPr/>
              <p:nvPr/>
            </p:nvSpPr>
            <p:spPr>
              <a:xfrm>
                <a:off x="2659270" y="2248485"/>
                <a:ext cx="1943652" cy="2340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camp-service</a:t>
                </a:r>
                <a:endParaRPr lang="ko-KR" altLang="en-US" sz="120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763B59C-3826-D75C-162F-FB0764CA6F0F}"/>
                </a:ext>
              </a:extLst>
            </p:cNvPr>
            <p:cNvSpPr txBox="1"/>
            <p:nvPr/>
          </p:nvSpPr>
          <p:spPr>
            <a:xfrm>
              <a:off x="5943597" y="3496431"/>
              <a:ext cx="1170609" cy="174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캠핑장 예약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2226879-6483-50FD-94E0-73B965ABA0B2}"/>
              </a:ext>
            </a:extLst>
          </p:cNvPr>
          <p:cNvSpPr txBox="1"/>
          <p:nvPr/>
        </p:nvSpPr>
        <p:spPr>
          <a:xfrm>
            <a:off x="6311907" y="808306"/>
            <a:ext cx="1337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공연</a:t>
            </a:r>
            <a:r>
              <a:rPr lang="en-US" altLang="ko-KR" sz="1200" b="1"/>
              <a:t>/</a:t>
            </a:r>
            <a:r>
              <a:rPr lang="ko-KR" altLang="en-US" sz="1200" b="1"/>
              <a:t>전시 예약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DE4A66-C014-A835-B01B-ED56EBF32ABF}"/>
              </a:ext>
            </a:extLst>
          </p:cNvPr>
          <p:cNvSpPr txBox="1"/>
          <p:nvPr/>
        </p:nvSpPr>
        <p:spPr>
          <a:xfrm>
            <a:off x="1856766" y="788224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통합예약 관리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A4EE8FF-339A-0C5F-BB6F-D119C750FEA3}"/>
              </a:ext>
            </a:extLst>
          </p:cNvPr>
          <p:cNvGrpSpPr/>
          <p:nvPr/>
        </p:nvGrpSpPr>
        <p:grpSpPr>
          <a:xfrm>
            <a:off x="3740598" y="792799"/>
            <a:ext cx="1948070" cy="1069008"/>
            <a:chOff x="2654852" y="1413565"/>
            <a:chExt cx="1948070" cy="1069008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F7F915D1-F5CE-2461-34F9-34129944BEB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76A62DF-1E7B-04B3-3A42-94B5A3563692}"/>
                </a:ext>
              </a:extLst>
            </p:cNvPr>
            <p:cNvSpPr/>
            <p:nvPr/>
          </p:nvSpPr>
          <p:spPr>
            <a:xfrm>
              <a:off x="2659270" y="2124766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err="1"/>
                <a:t>mmbr</a:t>
              </a:r>
              <a:r>
                <a:rPr lang="en-US" altLang="ko-KR" sz="1200"/>
                <a:t>-service</a:t>
              </a:r>
              <a:endParaRPr lang="ko-KR" altLang="en-US" sz="120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DD74BF6-CB83-30E7-C1C9-1861700960E7}"/>
              </a:ext>
            </a:extLst>
          </p:cNvPr>
          <p:cNvSpPr txBox="1"/>
          <p:nvPr/>
        </p:nvSpPr>
        <p:spPr>
          <a:xfrm>
            <a:off x="4125092" y="788224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회원 관리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AC855D-4246-E0E8-3BF8-56532C60BE85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▣ 상세내용 </a:t>
            </a:r>
            <a:r>
              <a:rPr lang="ko-KR" altLang="en-US" sz="1200" err="1"/>
              <a:t>엑셀참조</a:t>
            </a:r>
            <a:endParaRPr lang="ko-KR" altLang="en-US" sz="12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D0CCE3-809E-26C2-F924-9F0C3C99C57D}"/>
              </a:ext>
            </a:extLst>
          </p:cNvPr>
          <p:cNvSpPr txBox="1"/>
          <p:nvPr/>
        </p:nvSpPr>
        <p:spPr>
          <a:xfrm>
            <a:off x="4125092" y="1013405"/>
            <a:ext cx="105028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회원정보조회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회원정보수정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err="1"/>
              <a:t>아이디찾기</a:t>
            </a:r>
            <a:endParaRPr lang="ko-KR" altLang="en-US" sz="9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08E34B-CD99-78F1-800C-A593FBFC8ED4}"/>
              </a:ext>
            </a:extLst>
          </p:cNvPr>
          <p:cNvSpPr txBox="1"/>
          <p:nvPr/>
        </p:nvSpPr>
        <p:spPr>
          <a:xfrm>
            <a:off x="3714360" y="2338178"/>
            <a:ext cx="190308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견학체험 조회 및 예약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프로그램 및 분류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예약목록 조회 및 상태관리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공휴일 등 부대기능 관리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견학 체험 통계 조회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BFFFF3-7852-FAC6-D7F3-B96EDEC8BBE2}"/>
              </a:ext>
            </a:extLst>
          </p:cNvPr>
          <p:cNvSpPr txBox="1"/>
          <p:nvPr/>
        </p:nvSpPr>
        <p:spPr>
          <a:xfrm>
            <a:off x="3711973" y="4394987"/>
            <a:ext cx="1903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교육강좌 조회 및 예약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강습 프로그램 및 분류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예약 관리 및 결제</a:t>
            </a:r>
            <a:r>
              <a:rPr lang="en-US" altLang="ko-KR" sz="900"/>
              <a:t>,</a:t>
            </a:r>
            <a:r>
              <a:rPr lang="ko-KR" altLang="en-US" sz="900"/>
              <a:t>환불 처리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기수 및 추첨 관리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0514643-7841-A2C0-8603-9C3F5CC83375}"/>
              </a:ext>
            </a:extLst>
          </p:cNvPr>
          <p:cNvGrpSpPr/>
          <p:nvPr/>
        </p:nvGrpSpPr>
        <p:grpSpPr>
          <a:xfrm>
            <a:off x="1508427" y="4188031"/>
            <a:ext cx="1948070" cy="1660220"/>
            <a:chOff x="2654852" y="1413565"/>
            <a:chExt cx="1948070" cy="1069007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125487E-A479-63B1-0D8A-6228CD5A4C06}"/>
                </a:ext>
              </a:extLst>
            </p:cNvPr>
            <p:cNvSpPr/>
            <p:nvPr/>
          </p:nvSpPr>
          <p:spPr>
            <a:xfrm>
              <a:off x="2654852" y="1413565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8559579-FEBF-659E-86DD-1CB525E412F6}"/>
                </a:ext>
              </a:extLst>
            </p:cNvPr>
            <p:cNvSpPr/>
            <p:nvPr/>
          </p:nvSpPr>
          <p:spPr>
            <a:xfrm>
              <a:off x="2659270" y="2242782"/>
              <a:ext cx="1943652" cy="23979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err="1"/>
                <a:t>cmmn</a:t>
              </a:r>
              <a:r>
                <a:rPr lang="en-US" altLang="ko-KR" sz="1200"/>
                <a:t>-service</a:t>
              </a:r>
              <a:endParaRPr lang="ko-KR" altLang="en-US" sz="120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A46F59A-14A9-29CF-316C-CCECD95C7A0F}"/>
              </a:ext>
            </a:extLst>
          </p:cNvPr>
          <p:cNvSpPr txBox="1"/>
          <p:nvPr/>
        </p:nvSpPr>
        <p:spPr>
          <a:xfrm>
            <a:off x="1845719" y="4204458"/>
            <a:ext cx="1170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공통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39D7102-ACC2-D9A3-7523-F3D1539D947A}"/>
              </a:ext>
            </a:extLst>
          </p:cNvPr>
          <p:cNvGrpSpPr/>
          <p:nvPr/>
        </p:nvGrpSpPr>
        <p:grpSpPr>
          <a:xfrm>
            <a:off x="1307010" y="680279"/>
            <a:ext cx="6808531" cy="5680857"/>
            <a:chOff x="2763954" y="680279"/>
            <a:chExt cx="6808531" cy="5680857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F88F9AE-FC47-DE96-5087-CCB3C965D480}"/>
                </a:ext>
              </a:extLst>
            </p:cNvPr>
            <p:cNvSpPr/>
            <p:nvPr/>
          </p:nvSpPr>
          <p:spPr>
            <a:xfrm>
              <a:off x="2763954" y="680279"/>
              <a:ext cx="6808531" cy="564788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4B67BC20-3D8B-E019-5148-5CFB72E194CE}"/>
                </a:ext>
              </a:extLst>
            </p:cNvPr>
            <p:cNvGrpSpPr/>
            <p:nvPr/>
          </p:nvGrpSpPr>
          <p:grpSpPr>
            <a:xfrm>
              <a:off x="2763954" y="5991804"/>
              <a:ext cx="6808531" cy="369332"/>
              <a:chOff x="-4028882" y="6075612"/>
              <a:chExt cx="6808531" cy="369332"/>
            </a:xfrm>
          </p:grpSpPr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0319CC2B-1EB0-4797-77F6-9A50C5E56959}"/>
                  </a:ext>
                </a:extLst>
              </p:cNvPr>
              <p:cNvSpPr/>
              <p:nvPr/>
            </p:nvSpPr>
            <p:spPr>
              <a:xfrm>
                <a:off x="-4028882" y="6092100"/>
                <a:ext cx="6808531" cy="3363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90CA47A-7800-B7B5-F85F-E5901FCC50CA}"/>
                  </a:ext>
                </a:extLst>
              </p:cNvPr>
              <p:cNvSpPr txBox="1"/>
              <p:nvPr/>
            </p:nvSpPr>
            <p:spPr>
              <a:xfrm>
                <a:off x="-2056211" y="6075612"/>
                <a:ext cx="2863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>
                    <a:solidFill>
                      <a:schemeClr val="bg1"/>
                    </a:solidFill>
                  </a:rPr>
                  <a:t>코어 도메인</a:t>
                </a: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A88ED4D1-A68E-1EB0-56AA-25E413997413}"/>
              </a:ext>
            </a:extLst>
          </p:cNvPr>
          <p:cNvSpPr txBox="1"/>
          <p:nvPr/>
        </p:nvSpPr>
        <p:spPr>
          <a:xfrm>
            <a:off x="6037899" y="2339532"/>
            <a:ext cx="1903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체육시설 조회 및 예약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시설분류 및 시설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예약 목록 조회 및 상태관리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공휴일 등 부대기능 관리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1D8D9B-D330-A591-B7E3-5F406D4A4E88}"/>
              </a:ext>
            </a:extLst>
          </p:cNvPr>
          <p:cNvSpPr txBox="1"/>
          <p:nvPr/>
        </p:nvSpPr>
        <p:spPr>
          <a:xfrm>
            <a:off x="6064277" y="4352576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캠핑장 조회 및 예약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프로그램 관리 및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시설 분류 및 시설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공휴일 등 부대기능 관리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72677D-BA20-0223-D463-C09BB9ED1DC9}"/>
              </a:ext>
            </a:extLst>
          </p:cNvPr>
          <p:cNvSpPr txBox="1"/>
          <p:nvPr/>
        </p:nvSpPr>
        <p:spPr>
          <a:xfrm>
            <a:off x="6166858" y="106132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공연전시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프로그램 및 분류 관리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16D08-39AA-BF71-3BD0-899FF9AEC491}"/>
              </a:ext>
            </a:extLst>
          </p:cNvPr>
          <p:cNvSpPr txBox="1"/>
          <p:nvPr/>
        </p:nvSpPr>
        <p:spPr>
          <a:xfrm>
            <a:off x="1523835" y="4481457"/>
            <a:ext cx="18886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게시판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사용자 마이페이지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관리자 게시판 생성 및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관리</a:t>
            </a:r>
            <a:r>
              <a:rPr lang="en-US" altLang="ko-KR" sz="900"/>
              <a:t>;</a:t>
            </a:r>
            <a:r>
              <a:rPr lang="ko-KR" altLang="en-US" sz="900"/>
              <a:t>자 유지보수 게시판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관리자 기타 부대기능 관리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482931-CCAB-E7A6-D6EA-E76E0AD2E7D4}"/>
              </a:ext>
            </a:extLst>
          </p:cNvPr>
          <p:cNvSpPr txBox="1"/>
          <p:nvPr/>
        </p:nvSpPr>
        <p:spPr>
          <a:xfrm>
            <a:off x="1628571" y="1029036"/>
            <a:ext cx="1672253" cy="18928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900"/>
              <a:t>CMS</a:t>
            </a:r>
            <a:r>
              <a:rPr lang="ko-KR" altLang="en-US" sz="900"/>
              <a:t> 홈페이지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기관 및 기관 담당자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온라인 </a:t>
            </a:r>
            <a:r>
              <a:rPr lang="en-US" altLang="ko-KR" sz="900"/>
              <a:t>PG</a:t>
            </a:r>
            <a:r>
              <a:rPr lang="ko-KR" altLang="en-US" sz="900"/>
              <a:t>사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회원 및 관리자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관리자 접속아이피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감면서비스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조직도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접속 통계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개인정보 로그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메시지 템플릿 조회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기타 부대기능 관리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>
                <a:ea typeface="맑은 고딕"/>
              </a:rPr>
              <a:t>영업일보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9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3090DA8-EFCE-B341-A5B1-A692AA5941E4}"/>
              </a:ext>
            </a:extLst>
          </p:cNvPr>
          <p:cNvGrpSpPr/>
          <p:nvPr/>
        </p:nvGrpSpPr>
        <p:grpSpPr>
          <a:xfrm>
            <a:off x="8237326" y="680279"/>
            <a:ext cx="2303364" cy="5680857"/>
            <a:chOff x="8237326" y="680279"/>
            <a:chExt cx="2303364" cy="568085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2E1765C-9F0D-0844-9BCC-41A05B7A4BA8}"/>
                </a:ext>
              </a:extLst>
            </p:cNvPr>
            <p:cNvGrpSpPr/>
            <p:nvPr/>
          </p:nvGrpSpPr>
          <p:grpSpPr>
            <a:xfrm>
              <a:off x="8414973" y="1118673"/>
              <a:ext cx="1948070" cy="1069008"/>
              <a:chOff x="409710" y="1299633"/>
              <a:chExt cx="1948070" cy="1069008"/>
            </a:xfrm>
          </p:grpSpPr>
          <p:grpSp>
            <p:nvGrpSpPr>
              <p:cNvPr id="70" name="그룹 7">
                <a:extLst>
                  <a:ext uri="{FF2B5EF4-FFF2-40B4-BE49-F238E27FC236}">
                    <a16:creationId xmlns:a16="http://schemas.microsoft.com/office/drawing/2014/main" id="{B504CBAB-AC2A-D0F3-11AB-0EA13A176CE3}"/>
                  </a:ext>
                </a:extLst>
              </p:cNvPr>
              <p:cNvGrpSpPr/>
              <p:nvPr/>
            </p:nvGrpSpPr>
            <p:grpSpPr>
              <a:xfrm>
                <a:off x="409710" y="1299633"/>
                <a:ext cx="1948070" cy="1069008"/>
                <a:chOff x="2654852" y="1413565"/>
                <a:chExt cx="1948070" cy="1069008"/>
              </a:xfrm>
            </p:grpSpPr>
            <p:sp>
              <p:nvSpPr>
                <p:cNvPr id="71" name="직사각형 4">
                  <a:extLst>
                    <a:ext uri="{FF2B5EF4-FFF2-40B4-BE49-F238E27FC236}">
                      <a16:creationId xmlns:a16="http://schemas.microsoft.com/office/drawing/2014/main" id="{0314D6EB-2297-EF4C-8F21-137E1DE528A2}"/>
                    </a:ext>
                  </a:extLst>
                </p:cNvPr>
                <p:cNvSpPr/>
                <p:nvPr/>
              </p:nvSpPr>
              <p:spPr>
                <a:xfrm>
                  <a:off x="2654852" y="1413565"/>
                  <a:ext cx="1943652" cy="105575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직사각형 5">
                  <a:extLst>
                    <a:ext uri="{FF2B5EF4-FFF2-40B4-BE49-F238E27FC236}">
                      <a16:creationId xmlns:a16="http://schemas.microsoft.com/office/drawing/2014/main" id="{8D57627C-CBC5-7F5D-41E2-DC4CB3356A1A}"/>
                    </a:ext>
                  </a:extLst>
                </p:cNvPr>
                <p:cNvSpPr/>
                <p:nvPr/>
              </p:nvSpPr>
              <p:spPr>
                <a:xfrm>
                  <a:off x="2659270" y="2124766"/>
                  <a:ext cx="1943652" cy="35780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altLang="ko-KR" sz="1200">
                      <a:ea typeface="맑은 고딕"/>
                    </a:rPr>
                    <a:t>auth-service</a:t>
                  </a:r>
                  <a:endParaRPr lang="ko-KR" altLang="en-US" sz="1200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6BDF979-889D-06F0-D880-A93FC0C1F872}"/>
                  </a:ext>
                </a:extLst>
              </p:cNvPr>
              <p:cNvSpPr txBox="1"/>
              <p:nvPr/>
            </p:nvSpPr>
            <p:spPr>
              <a:xfrm>
                <a:off x="761620" y="1364666"/>
                <a:ext cx="1244251" cy="5770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/>
                  <a:t>인증</a:t>
                </a:r>
                <a:r>
                  <a:rPr lang="en-US" altLang="ko-KR" sz="1050"/>
                  <a:t>/</a:t>
                </a:r>
                <a:r>
                  <a:rPr lang="ko-KR" altLang="en-US" sz="1050"/>
                  <a:t>토큰발행</a:t>
                </a:r>
                <a:endParaRPr lang="en-US" altLang="ko-KR" sz="105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50"/>
                  <a:t>id/pass </a:t>
                </a:r>
                <a:r>
                  <a:rPr lang="ko-KR" altLang="en-US" sz="1050"/>
                  <a:t>로그인</a:t>
                </a:r>
                <a:endParaRPr lang="en-US" altLang="ko-KR" sz="105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50" err="1"/>
                  <a:t>소셜로그인</a:t>
                </a:r>
                <a:endParaRPr lang="ko-KR" altLang="en-US" sz="1050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A290BA2D-96AE-9A03-15D5-E0162E5ACAA2}"/>
                </a:ext>
              </a:extLst>
            </p:cNvPr>
            <p:cNvGrpSpPr/>
            <p:nvPr/>
          </p:nvGrpSpPr>
          <p:grpSpPr>
            <a:xfrm>
              <a:off x="8237326" y="680279"/>
              <a:ext cx="2303364" cy="5680857"/>
              <a:chOff x="9694270" y="680279"/>
              <a:chExt cx="2303364" cy="5680857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AD4CBE0B-1277-E24F-DAF1-4DB4A4C1007C}"/>
                  </a:ext>
                </a:extLst>
              </p:cNvPr>
              <p:cNvSpPr/>
              <p:nvPr/>
            </p:nvSpPr>
            <p:spPr>
              <a:xfrm>
                <a:off x="9697753" y="680279"/>
                <a:ext cx="2278834" cy="5647882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7BCDA1F2-BFDC-2130-F39B-06BE915ED9F2}"/>
                  </a:ext>
                </a:extLst>
              </p:cNvPr>
              <p:cNvGrpSpPr/>
              <p:nvPr/>
            </p:nvGrpSpPr>
            <p:grpSpPr>
              <a:xfrm>
                <a:off x="9694270" y="5991804"/>
                <a:ext cx="2303364" cy="369332"/>
                <a:chOff x="220559" y="6347131"/>
                <a:chExt cx="2262764" cy="369332"/>
              </a:xfrm>
            </p:grpSpPr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82724241-82C0-DF4D-B24E-E67A7C53916C}"/>
                    </a:ext>
                  </a:extLst>
                </p:cNvPr>
                <p:cNvSpPr/>
                <p:nvPr/>
              </p:nvSpPr>
              <p:spPr>
                <a:xfrm>
                  <a:off x="220559" y="6372453"/>
                  <a:ext cx="2262764" cy="336357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D056BEF-13A2-2599-11D9-F361D79C2488}"/>
                    </a:ext>
                  </a:extLst>
                </p:cNvPr>
                <p:cNvSpPr txBox="1"/>
                <p:nvPr/>
              </p:nvSpPr>
              <p:spPr>
                <a:xfrm>
                  <a:off x="694959" y="6347131"/>
                  <a:ext cx="14364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solidFill>
                        <a:schemeClr val="bg1"/>
                      </a:solidFill>
                    </a:rPr>
                    <a:t>지원 도메인</a:t>
                  </a:r>
                </a:p>
              </p:txBody>
            </p:sp>
          </p:grp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5FCC9325-4A4F-A74F-BE24-653C335A071A}"/>
                </a:ext>
              </a:extLst>
            </p:cNvPr>
            <p:cNvGrpSpPr/>
            <p:nvPr/>
          </p:nvGrpSpPr>
          <p:grpSpPr>
            <a:xfrm>
              <a:off x="8414973" y="2820613"/>
              <a:ext cx="1948070" cy="1072229"/>
              <a:chOff x="9871917" y="1547219"/>
              <a:chExt cx="1948070" cy="1072229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63858544-DF12-AC45-B5F2-FC411B5192F3}"/>
                  </a:ext>
                </a:extLst>
              </p:cNvPr>
              <p:cNvGrpSpPr/>
              <p:nvPr/>
            </p:nvGrpSpPr>
            <p:grpSpPr>
              <a:xfrm>
                <a:off x="9871917" y="1547219"/>
                <a:ext cx="1948070" cy="1072229"/>
                <a:chOff x="5565912" y="2182839"/>
                <a:chExt cx="1948070" cy="1072229"/>
              </a:xfrm>
            </p:grpSpPr>
            <p:grpSp>
              <p:nvGrpSpPr>
                <p:cNvPr id="107" name="그룹 106">
                  <a:extLst>
                    <a:ext uri="{FF2B5EF4-FFF2-40B4-BE49-F238E27FC236}">
                      <a16:creationId xmlns:a16="http://schemas.microsoft.com/office/drawing/2014/main" id="{7939FF05-1625-0540-8E8E-2B0349EE13FA}"/>
                    </a:ext>
                  </a:extLst>
                </p:cNvPr>
                <p:cNvGrpSpPr/>
                <p:nvPr/>
              </p:nvGrpSpPr>
              <p:grpSpPr>
                <a:xfrm>
                  <a:off x="5565912" y="2199042"/>
                  <a:ext cx="1948070" cy="1056026"/>
                  <a:chOff x="2654852" y="112955"/>
                  <a:chExt cx="1948070" cy="1056026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F40CE7C9-ECA5-DA4E-A4EA-E4C02B5742F9}"/>
                      </a:ext>
                    </a:extLst>
                  </p:cNvPr>
                  <p:cNvSpPr/>
                  <p:nvPr/>
                </p:nvSpPr>
                <p:spPr>
                  <a:xfrm>
                    <a:off x="2654852" y="112955"/>
                    <a:ext cx="1943652" cy="105575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10" name="직사각형 109">
                    <a:extLst>
                      <a:ext uri="{FF2B5EF4-FFF2-40B4-BE49-F238E27FC236}">
                        <a16:creationId xmlns:a16="http://schemas.microsoft.com/office/drawing/2014/main" id="{1AC8656F-071B-2B41-97E7-3FC9F9CFFFAF}"/>
                      </a:ext>
                    </a:extLst>
                  </p:cNvPr>
                  <p:cNvSpPr/>
                  <p:nvPr/>
                </p:nvSpPr>
                <p:spPr>
                  <a:xfrm>
                    <a:off x="2659270" y="811174"/>
                    <a:ext cx="1943652" cy="35780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/>
                      <a:t>alarm-service</a:t>
                    </a:r>
                    <a:endParaRPr lang="ko-KR" altLang="en-US" sz="1200"/>
                  </a:p>
                </p:txBody>
              </p:sp>
            </p:grp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340180F4-910F-5742-8650-389553BAA882}"/>
                    </a:ext>
                  </a:extLst>
                </p:cNvPr>
                <p:cNvSpPr txBox="1"/>
                <p:nvPr/>
              </p:nvSpPr>
              <p:spPr>
                <a:xfrm>
                  <a:off x="5943597" y="2182839"/>
                  <a:ext cx="11706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b="1"/>
                    <a:t>알림 서비스</a:t>
                  </a:r>
                </a:p>
              </p:txBody>
            </p: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1915010-26E3-FB4C-9C17-36CD0D0DA567}"/>
                  </a:ext>
                </a:extLst>
              </p:cNvPr>
              <p:cNvSpPr txBox="1"/>
              <p:nvPr/>
            </p:nvSpPr>
            <p:spPr>
              <a:xfrm>
                <a:off x="10240658" y="1778957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171450" indent="-171450">
                  <a:buFont typeface="Arial" panose="020B0604020202020204" pitchFamily="34" charset="0"/>
                  <a:buChar char="•"/>
                  <a:defRPr sz="900"/>
                </a:lvl1pPr>
              </a:lstStyle>
              <a:p>
                <a:r>
                  <a:rPr lang="en-US" altLang="ko-KR"/>
                  <a:t>Kafka</a:t>
                </a:r>
                <a:r>
                  <a:rPr lang="ko-KR" altLang="en-US"/>
                  <a:t> </a:t>
                </a:r>
                <a:r>
                  <a:rPr lang="en-US" altLang="ko-KR"/>
                  <a:t>Consumer</a:t>
                </a:r>
              </a:p>
              <a:p>
                <a:r>
                  <a:rPr lang="en-US" altLang="ko-KR"/>
                  <a:t>Alarm API</a:t>
                </a:r>
                <a:endParaRPr lang="ko-KR" altLang="en-US"/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8EDE8D-C018-E454-A853-6247FD54CFE1}"/>
              </a:ext>
            </a:extLst>
          </p:cNvPr>
          <p:cNvGrpSpPr/>
          <p:nvPr/>
        </p:nvGrpSpPr>
        <p:grpSpPr>
          <a:xfrm>
            <a:off x="8414973" y="4596227"/>
            <a:ext cx="1948070" cy="1072229"/>
            <a:chOff x="10036703" y="2717353"/>
            <a:chExt cx="1948070" cy="107222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89ADC9E-744A-5BAA-F190-0C8CF393BFF1}"/>
                </a:ext>
              </a:extLst>
            </p:cNvPr>
            <p:cNvSpPr/>
            <p:nvPr/>
          </p:nvSpPr>
          <p:spPr>
            <a:xfrm>
              <a:off x="10036703" y="2720574"/>
              <a:ext cx="1943652" cy="10557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808D883-D298-BA15-1738-10F23C305154}"/>
                </a:ext>
              </a:extLst>
            </p:cNvPr>
            <p:cNvSpPr/>
            <p:nvPr/>
          </p:nvSpPr>
          <p:spPr>
            <a:xfrm>
              <a:off x="10041121" y="3431775"/>
              <a:ext cx="1943652" cy="3578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stats-service</a:t>
              </a:r>
              <a:endParaRPr lang="ko-KR" altLang="en-US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6E079F-4EFD-26A5-B718-AF934C088242}"/>
                </a:ext>
              </a:extLst>
            </p:cNvPr>
            <p:cNvSpPr txBox="1"/>
            <p:nvPr/>
          </p:nvSpPr>
          <p:spPr>
            <a:xfrm>
              <a:off x="10414388" y="2717353"/>
              <a:ext cx="11706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서비스 통계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C56D36-99F7-2A06-9E32-923687F185EF}"/>
                </a:ext>
              </a:extLst>
            </p:cNvPr>
            <p:cNvSpPr txBox="1"/>
            <p:nvPr/>
          </p:nvSpPr>
          <p:spPr>
            <a:xfrm>
              <a:off x="10405444" y="2940235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171450" indent="-171450">
                <a:buFont typeface="Arial" panose="020B0604020202020204" pitchFamily="34" charset="0"/>
                <a:buChar char="•"/>
                <a:defRPr sz="900"/>
              </a:lvl1pPr>
            </a:lstStyle>
            <a:p>
              <a:r>
                <a:rPr lang="en-US" altLang="ko-KR"/>
                <a:t>Kafka</a:t>
              </a:r>
              <a:r>
                <a:rPr lang="ko-KR" altLang="en-US"/>
                <a:t> </a:t>
              </a:r>
              <a:r>
                <a:rPr lang="en-US" altLang="ko-KR"/>
                <a:t>Consumer</a:t>
              </a:r>
            </a:p>
            <a:p>
              <a:r>
                <a:rPr lang="en-US" altLang="ko-KR"/>
                <a:t>Query response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446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FDA2-8A4B-1BB1-169F-C6A208BC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88C3B6-3651-08D0-E83A-F910493048D7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2. </a:t>
            </a:r>
            <a:r>
              <a:rPr lang="ko-KR" altLang="en-US" b="1" spc="-100">
                <a:latin typeface="+mn-ea"/>
              </a:rPr>
              <a:t>마이크로서비스 구성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안</a:t>
            </a:r>
            <a:r>
              <a:rPr lang="en-US" altLang="ko-KR" b="1" spc="-100">
                <a:latin typeface="+mn-ea"/>
              </a:rPr>
              <a:t>) (3/3, </a:t>
            </a:r>
            <a:r>
              <a:rPr lang="ko-KR" altLang="en-US" b="1" spc="-100">
                <a:latin typeface="+mn-ea"/>
              </a:rPr>
              <a:t>도서관 문화강좌 서비스분리 결과</a:t>
            </a:r>
            <a:r>
              <a:rPr lang="en-US" altLang="ko-KR" b="1" spc="-100">
                <a:latin typeface="+mn-ea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AF39540-CE7F-0D4E-BF27-CEFF0FAEBCCA}"/>
              </a:ext>
            </a:extLst>
          </p:cNvPr>
          <p:cNvGrpSpPr/>
          <p:nvPr/>
        </p:nvGrpSpPr>
        <p:grpSpPr>
          <a:xfrm>
            <a:off x="2667367" y="1543615"/>
            <a:ext cx="1956270" cy="2293447"/>
            <a:chOff x="2667367" y="1543615"/>
            <a:chExt cx="1956270" cy="2293447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388A901-C1CC-D0C6-8E8D-6F06DC1F85A4}"/>
                </a:ext>
              </a:extLst>
            </p:cNvPr>
            <p:cNvGrpSpPr/>
            <p:nvPr/>
          </p:nvGrpSpPr>
          <p:grpSpPr>
            <a:xfrm>
              <a:off x="2675567" y="1548190"/>
              <a:ext cx="1948070" cy="2288872"/>
              <a:chOff x="2654852" y="1413565"/>
              <a:chExt cx="1948070" cy="2288872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BD13557-44A1-5D1A-07A0-E270FA2F895B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22888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BFB4462-2020-A6CC-01B2-ECB587D7E3C4}"/>
                  </a:ext>
                </a:extLst>
              </p:cNvPr>
              <p:cNvSpPr/>
              <p:nvPr/>
            </p:nvSpPr>
            <p:spPr>
              <a:xfrm>
                <a:off x="2659270" y="3342110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lecture-service</a:t>
                </a:r>
                <a:endParaRPr lang="ko-KR" altLang="en-US" sz="120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DFDDCE-D354-6E21-857C-EC73B3D93CCC}"/>
                </a:ext>
              </a:extLst>
            </p:cNvPr>
            <p:cNvSpPr txBox="1"/>
            <p:nvPr/>
          </p:nvSpPr>
          <p:spPr>
            <a:xfrm>
              <a:off x="2857434" y="1543615"/>
              <a:ext cx="15843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문화강좌 정보관리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315D0A4-7C68-D623-788B-D92F8AB2F813}"/>
                </a:ext>
              </a:extLst>
            </p:cNvPr>
            <p:cNvSpPr txBox="1"/>
            <p:nvPr/>
          </p:nvSpPr>
          <p:spPr>
            <a:xfrm>
              <a:off x="2667367" y="1769016"/>
              <a:ext cx="1617751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강사관리</a:t>
              </a:r>
              <a:r>
                <a:rPr lang="en-US" altLang="ko-KR" sz="900"/>
                <a:t>,</a:t>
              </a:r>
              <a:r>
                <a:rPr lang="ko-KR" altLang="en-US" sz="900"/>
                <a:t> 해시태그 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강좌주제</a:t>
              </a:r>
              <a:r>
                <a:rPr lang="en-US" altLang="ko-KR" sz="900"/>
                <a:t>, </a:t>
              </a:r>
              <a:r>
                <a:rPr lang="ko-KR" altLang="en-US" sz="900"/>
                <a:t>강좌분류 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카테고리 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강좌관리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수강생관리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출석부관리</a:t>
              </a:r>
              <a:endParaRPr lang="en-US" altLang="ko-KR" sz="9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블랙리스트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768DF27-E38D-C94D-8B29-4599F61922E5}"/>
              </a:ext>
            </a:extLst>
          </p:cNvPr>
          <p:cNvGrpSpPr/>
          <p:nvPr/>
        </p:nvGrpSpPr>
        <p:grpSpPr>
          <a:xfrm>
            <a:off x="4943712" y="1543615"/>
            <a:ext cx="1952488" cy="2290927"/>
            <a:chOff x="4943712" y="1543615"/>
            <a:chExt cx="1952488" cy="229092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BE312C2-DB8C-57C4-81D0-C3744112D823}"/>
                </a:ext>
              </a:extLst>
            </p:cNvPr>
            <p:cNvGrpSpPr/>
            <p:nvPr/>
          </p:nvGrpSpPr>
          <p:grpSpPr>
            <a:xfrm>
              <a:off x="4948130" y="1548190"/>
              <a:ext cx="1948070" cy="2286352"/>
              <a:chOff x="2654852" y="1413565"/>
              <a:chExt cx="1948070" cy="2286352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47F6010-C893-ABA0-428A-F9D6B79CD446}"/>
                  </a:ext>
                </a:extLst>
              </p:cNvPr>
              <p:cNvSpPr/>
              <p:nvPr/>
            </p:nvSpPr>
            <p:spPr>
              <a:xfrm>
                <a:off x="2654852" y="1413565"/>
                <a:ext cx="1943652" cy="228635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C594EF5-028F-375E-E478-B37C420C34EC}"/>
                  </a:ext>
                </a:extLst>
              </p:cNvPr>
              <p:cNvSpPr/>
              <p:nvPr/>
            </p:nvSpPr>
            <p:spPr>
              <a:xfrm>
                <a:off x="2659270" y="3342109"/>
                <a:ext cx="1943652" cy="3578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apply-service</a:t>
                </a:r>
                <a:endParaRPr lang="ko-KR" altLang="en-US" sz="120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5611A9-AC7F-7064-8C71-12DA28F87FD3}"/>
                </a:ext>
              </a:extLst>
            </p:cNvPr>
            <p:cNvSpPr txBox="1"/>
            <p:nvPr/>
          </p:nvSpPr>
          <p:spPr>
            <a:xfrm>
              <a:off x="5332624" y="1543615"/>
              <a:ext cx="11706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/>
                <a:t>문화강좌 신청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9A2730-1F9B-9F87-4AF2-8573760D8021}"/>
                </a:ext>
              </a:extLst>
            </p:cNvPr>
            <p:cNvSpPr txBox="1"/>
            <p:nvPr/>
          </p:nvSpPr>
          <p:spPr>
            <a:xfrm>
              <a:off x="4943712" y="1769016"/>
              <a:ext cx="10903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900"/>
                <a:t>문화강좌 신청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B558EC8-AD2F-C70D-974E-90380C8F0B98}"/>
              </a:ext>
            </a:extLst>
          </p:cNvPr>
          <p:cNvGrpSpPr/>
          <p:nvPr/>
        </p:nvGrpSpPr>
        <p:grpSpPr>
          <a:xfrm>
            <a:off x="1300914" y="680279"/>
            <a:ext cx="6808531" cy="5680857"/>
            <a:chOff x="2763954" y="680279"/>
            <a:chExt cx="6808531" cy="568085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6170FBA-BB6E-98EB-4F43-189A5B669364}"/>
                </a:ext>
              </a:extLst>
            </p:cNvPr>
            <p:cNvSpPr/>
            <p:nvPr/>
          </p:nvSpPr>
          <p:spPr>
            <a:xfrm>
              <a:off x="2763954" y="680279"/>
              <a:ext cx="6808531" cy="564788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F7FFB9E-6E3E-8602-42F3-0EC8CDD43929}"/>
                </a:ext>
              </a:extLst>
            </p:cNvPr>
            <p:cNvGrpSpPr/>
            <p:nvPr/>
          </p:nvGrpSpPr>
          <p:grpSpPr>
            <a:xfrm>
              <a:off x="2763954" y="5991804"/>
              <a:ext cx="6808531" cy="369332"/>
              <a:chOff x="-4028882" y="6075612"/>
              <a:chExt cx="6808531" cy="369332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5FED5D83-35B1-1DC6-9678-B4D2AF6110B1}"/>
                  </a:ext>
                </a:extLst>
              </p:cNvPr>
              <p:cNvSpPr/>
              <p:nvPr/>
            </p:nvSpPr>
            <p:spPr>
              <a:xfrm>
                <a:off x="-4028882" y="6092100"/>
                <a:ext cx="6808531" cy="3363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08A419-8412-A6C2-24E9-6CE3F0401195}"/>
                  </a:ext>
                </a:extLst>
              </p:cNvPr>
              <p:cNvSpPr txBox="1"/>
              <p:nvPr/>
            </p:nvSpPr>
            <p:spPr>
              <a:xfrm>
                <a:off x="-2056211" y="6075612"/>
                <a:ext cx="2863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>
                    <a:solidFill>
                      <a:schemeClr val="bg1"/>
                    </a:solidFill>
                  </a:rPr>
                  <a:t>코어 도메인</a:t>
                </a:r>
              </a:p>
            </p:txBody>
          </p:sp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5443647-0689-BE09-25BA-7EEE8DB0C89F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▣ 상세내용 </a:t>
            </a:r>
            <a:r>
              <a:rPr lang="ko-KR" altLang="en-US" sz="1200" err="1"/>
              <a:t>엑셀참조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2470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EA5E-B37D-8179-68BC-88CB52D1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06434A-16E7-BFCD-E3F5-1AA994747757}"/>
              </a:ext>
            </a:extLst>
          </p:cNvPr>
          <p:cNvSpPr/>
          <p:nvPr/>
        </p:nvSpPr>
        <p:spPr bwMode="gray">
          <a:xfrm>
            <a:off x="776176" y="22034"/>
            <a:ext cx="7026202" cy="369332"/>
          </a:xfrm>
          <a:prstGeom prst="rect">
            <a:avLst/>
          </a:prstGeom>
          <a:noFill/>
        </p:spPr>
        <p:txBody>
          <a:bodyPr wrap="square" rtlCol="0" fromWordArt="1" anchor="ctr" anchorCtr="0">
            <a:spAutoFit/>
            <a:scene3d>
              <a:camera prst="orthographicFront"/>
              <a:lightRig rig="threePt" dir="t"/>
            </a:scene3d>
            <a:sp3d contourW="50800">
              <a:contourClr>
                <a:schemeClr val="bg1"/>
              </a:contourClr>
            </a:sp3d>
          </a:bodyPr>
          <a:lstStyle/>
          <a:p>
            <a:pPr algn="just"/>
            <a:r>
              <a:rPr lang="en-US" altLang="ko-KR" b="1" spc="-100">
                <a:latin typeface="+mn-ea"/>
              </a:rPr>
              <a:t>2. </a:t>
            </a:r>
            <a:r>
              <a:rPr lang="ko-KR" altLang="en-US" b="1" spc="-100">
                <a:latin typeface="+mn-ea"/>
              </a:rPr>
              <a:t>마이크로서비스 구성</a:t>
            </a:r>
            <a:r>
              <a:rPr lang="en-US" altLang="ko-KR" b="1" spc="-100">
                <a:latin typeface="+mn-ea"/>
              </a:rPr>
              <a:t>(</a:t>
            </a:r>
            <a:r>
              <a:rPr lang="ko-KR" altLang="en-US" b="1" spc="-100">
                <a:latin typeface="+mn-ea"/>
              </a:rPr>
              <a:t>안</a:t>
            </a:r>
            <a:r>
              <a:rPr lang="en-US" altLang="ko-KR" b="1" spc="-100">
                <a:latin typeface="+mn-ea"/>
              </a:rPr>
              <a:t>) (3/3, </a:t>
            </a:r>
            <a:r>
              <a:rPr lang="ko-KR" altLang="en-US" b="1" spc="-100">
                <a:latin typeface="+mn-ea"/>
              </a:rPr>
              <a:t>도서관 문화강좌 서비스분리 결과</a:t>
            </a:r>
            <a:r>
              <a:rPr lang="en-US" altLang="ko-KR" b="1" spc="-100">
                <a:latin typeface="+mn-ea"/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5F7F0D-F45B-5059-327E-96C8431C15F6}"/>
              </a:ext>
            </a:extLst>
          </p:cNvPr>
          <p:cNvSpPr/>
          <p:nvPr/>
        </p:nvSpPr>
        <p:spPr>
          <a:xfrm>
            <a:off x="4586788" y="1456419"/>
            <a:ext cx="1943652" cy="357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대구시 담당 주무관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1B3E62-8EB4-0843-1C09-80403B26FBAB}"/>
              </a:ext>
            </a:extLst>
          </p:cNvPr>
          <p:cNvSpPr txBox="1"/>
          <p:nvPr/>
        </p:nvSpPr>
        <p:spPr>
          <a:xfrm>
            <a:off x="10318969" y="68200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▣ 상세내용 </a:t>
            </a:r>
            <a:r>
              <a:rPr lang="ko-KR" altLang="en-US" sz="1200" err="1"/>
              <a:t>엑셀참조</a:t>
            </a:r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3E899B-ABA2-DEFD-A781-2AF72BB3CFE3}"/>
              </a:ext>
            </a:extLst>
          </p:cNvPr>
          <p:cNvSpPr/>
          <p:nvPr/>
        </p:nvSpPr>
        <p:spPr>
          <a:xfrm>
            <a:off x="6003895" y="2365563"/>
            <a:ext cx="1943652" cy="357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통합예약 운영 </a:t>
            </a:r>
            <a:r>
              <a:rPr lang="en-US" altLang="ko-KR" sz="1200" dirty="0"/>
              <a:t>PM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A599F9-0007-4127-BCB0-687A71F3E84D}"/>
              </a:ext>
            </a:extLst>
          </p:cNvPr>
          <p:cNvSpPr/>
          <p:nvPr/>
        </p:nvSpPr>
        <p:spPr>
          <a:xfrm>
            <a:off x="3317451" y="2365563"/>
            <a:ext cx="1943652" cy="357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평생학습플랫폼 운영 </a:t>
            </a:r>
            <a:r>
              <a:rPr lang="en-US" altLang="ko-KR" sz="1200" dirty="0"/>
              <a:t>PM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3241B2-FCC9-E3DF-8671-F6905565C639}"/>
              </a:ext>
            </a:extLst>
          </p:cNvPr>
          <p:cNvSpPr/>
          <p:nvPr/>
        </p:nvSpPr>
        <p:spPr>
          <a:xfrm>
            <a:off x="3317451" y="3274707"/>
            <a:ext cx="1943652" cy="357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기능 담당자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54B638-1CD3-863B-8B6C-50EB6AA3FB3B}"/>
              </a:ext>
            </a:extLst>
          </p:cNvPr>
          <p:cNvSpPr/>
          <p:nvPr/>
        </p:nvSpPr>
        <p:spPr>
          <a:xfrm>
            <a:off x="6003895" y="3274707"/>
            <a:ext cx="1943652" cy="357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기능 담당자</a:t>
            </a:r>
            <a:endParaRPr lang="ko-KR" altLang="en-US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B92702A-71FC-203A-669C-278E001B7A18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4289277" y="2723370"/>
            <a:ext cx="0" cy="55133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7017484-F63F-25A8-1EA3-B52E3E7A7DA3}"/>
              </a:ext>
            </a:extLst>
          </p:cNvPr>
          <p:cNvCxnSpPr>
            <a:cxnSpLocks/>
            <a:stCxn id="6" idx="0"/>
            <a:endCxn id="25" idx="2"/>
          </p:cNvCxnSpPr>
          <p:nvPr/>
        </p:nvCxnSpPr>
        <p:spPr>
          <a:xfrm flipV="1">
            <a:off x="4289277" y="1814226"/>
            <a:ext cx="1269337" cy="55133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EF9BBDE-B606-8D5C-2B14-0142A742861F}"/>
              </a:ext>
            </a:extLst>
          </p:cNvPr>
          <p:cNvCxnSpPr>
            <a:cxnSpLocks/>
            <a:stCxn id="25" idx="2"/>
            <a:endCxn id="5" idx="0"/>
          </p:cNvCxnSpPr>
          <p:nvPr/>
        </p:nvCxnSpPr>
        <p:spPr>
          <a:xfrm>
            <a:off x="5558614" y="1814226"/>
            <a:ext cx="1417107" cy="551337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DBDC4D6-8519-92F6-B115-B15F5FD1356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975721" y="2723370"/>
            <a:ext cx="0" cy="551337"/>
          </a:xfrm>
          <a:prstGeom prst="straightConnector1">
            <a:avLst/>
          </a:prstGeom>
          <a:ln w="158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1F5C4B8-69B9-0F06-B5F4-6AB70D80BFB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261103" y="3453611"/>
            <a:ext cx="742792" cy="0"/>
          </a:xfrm>
          <a:prstGeom prst="straightConnector1">
            <a:avLst/>
          </a:prstGeom>
          <a:ln w="15875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BFAAD37-BECA-D38C-6532-17A20259ADF5}"/>
              </a:ext>
            </a:extLst>
          </p:cNvPr>
          <p:cNvSpPr txBox="1"/>
          <p:nvPr/>
        </p:nvSpPr>
        <p:spPr>
          <a:xfrm>
            <a:off x="2964875" y="2845149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이슈 상승전파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102CB6-4945-3A48-4E67-E3285A45BD54}"/>
              </a:ext>
            </a:extLst>
          </p:cNvPr>
          <p:cNvSpPr txBox="1"/>
          <p:nvPr/>
        </p:nvSpPr>
        <p:spPr>
          <a:xfrm>
            <a:off x="3627076" y="1896584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이슈 보고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82B1C6-F79F-604C-E934-D72423B3C0CF}"/>
              </a:ext>
            </a:extLst>
          </p:cNvPr>
          <p:cNvSpPr txBox="1"/>
          <p:nvPr/>
        </p:nvSpPr>
        <p:spPr>
          <a:xfrm>
            <a:off x="6477976" y="1896584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이슈 공유 및 전파</a:t>
            </a:r>
            <a:endParaRPr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FC8963-53A0-A92C-C612-3812C5328B53}"/>
              </a:ext>
            </a:extLst>
          </p:cNvPr>
          <p:cNvSpPr txBox="1"/>
          <p:nvPr/>
        </p:nvSpPr>
        <p:spPr>
          <a:xfrm>
            <a:off x="7045534" y="2845456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변경작업 지시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44D112-D301-48B3-A8BB-CC9E0C8D46C4}"/>
              </a:ext>
            </a:extLst>
          </p:cNvPr>
          <p:cNvSpPr txBox="1"/>
          <p:nvPr/>
        </p:nvSpPr>
        <p:spPr>
          <a:xfrm>
            <a:off x="5360629" y="31594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소통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7750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CF02069-5036-4D84-8A69-7B90AA5780E7}"/>
              </a:ext>
            </a:extLst>
          </p:cNvPr>
          <p:cNvSpPr txBox="1"/>
          <p:nvPr/>
        </p:nvSpPr>
        <p:spPr>
          <a:xfrm>
            <a:off x="654723" y="1611308"/>
            <a:ext cx="2681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+mj-ea"/>
                <a:ea typeface="+mj-ea"/>
              </a:rPr>
              <a:t>감사합니다</a:t>
            </a:r>
            <a:r>
              <a:rPr lang="en-US" altLang="ko-KR" sz="2400">
                <a:latin typeface="+mj-ea"/>
                <a:ea typeface="+mj-ea"/>
              </a:rPr>
              <a:t>.</a:t>
            </a:r>
            <a:endParaRPr lang="ko-KR" altLang="en-US" sz="24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99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009E428B282564CAB17E01278BF934D" ma:contentTypeVersion="13" ma:contentTypeDescription="새 문서를 만듭니다." ma:contentTypeScope="" ma:versionID="e1248535654e9ef7ff6209993c616e69">
  <xsd:schema xmlns:xsd="http://www.w3.org/2001/XMLSchema" xmlns:xs="http://www.w3.org/2001/XMLSchema" xmlns:p="http://schemas.microsoft.com/office/2006/metadata/properties" xmlns:ns2="2f56bb24-42cc-434d-8e7b-2a3aeb66564a" xmlns:ns3="7fb24669-dbcd-4eea-bea6-9da7b7a1991e" targetNamespace="http://schemas.microsoft.com/office/2006/metadata/properties" ma:root="true" ma:fieldsID="c4e5a1093ee7c97e514e9f418732c7e5" ns2:_="" ns3:_="">
    <xsd:import namespace="2f56bb24-42cc-434d-8e7b-2a3aeb66564a"/>
    <xsd:import namespace="7fb24669-dbcd-4eea-bea6-9da7b7a19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_xcd94__xad11__xd6c8_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6bb24-42cc-434d-8e7b-2a3aeb665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c5cb5012-973f-4625-9ec8-647c2508dc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xcd94__xad11__xd6c8_" ma:index="15" nillable="true" ma:displayName=" " ma:format="Dropdown" ma:internalName="_xcd94__xad11__xd6c8_">
      <xsd:simpleType>
        <xsd:restriction base="dms:Text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24669-dbcd-4eea-bea6-9da7b7a1991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6ed6479-5dc8-4701-bfa8-136b0422a1be}" ma:internalName="TaxCatchAll" ma:showField="CatchAllData" ma:web="7fb24669-dbcd-4eea-bea6-9da7b7a19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56bb24-42cc-434d-8e7b-2a3aeb66564a">
      <Terms xmlns="http://schemas.microsoft.com/office/infopath/2007/PartnerControls"/>
    </lcf76f155ced4ddcb4097134ff3c332f>
    <TaxCatchAll xmlns="7fb24669-dbcd-4eea-bea6-9da7b7a1991e" xsi:nil="true"/>
    <_xcd94__xad11__xd6c8_ xmlns="2f56bb24-42cc-434d-8e7b-2a3aeb66564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B9733D-E2F0-4CC7-ACAB-4552947D0826}">
  <ds:schemaRefs>
    <ds:schemaRef ds:uri="2f56bb24-42cc-434d-8e7b-2a3aeb66564a"/>
    <ds:schemaRef ds:uri="7fb24669-dbcd-4eea-bea6-9da7b7a199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F1D1A40-520E-43C6-B916-F10DB3CB9BD5}">
  <ds:schemaRefs>
    <ds:schemaRef ds:uri="2f56bb24-42cc-434d-8e7b-2a3aeb66564a"/>
    <ds:schemaRef ds:uri="7fb24669-dbcd-4eea-bea6-9da7b7a199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5EEDDB-79F5-46F4-ABDE-101474C438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709</Words>
  <Application>Microsoft Office PowerPoint</Application>
  <PresentationFormat>와이드스크린</PresentationFormat>
  <Paragraphs>233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퓨전소프트</dc:creator>
  <cp:lastModifiedBy>상민 이</cp:lastModifiedBy>
  <cp:revision>3</cp:revision>
  <dcterms:created xsi:type="dcterms:W3CDTF">2021-07-01T00:31:45Z</dcterms:created>
  <dcterms:modified xsi:type="dcterms:W3CDTF">2026-01-22T05:54:50Z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0x010100F009E428B282564CAB17E01278BF934D</vt:lpwstr>
  </property>
  <property fmtid="{D5CDD505-2E9C-101B-9397-08002B2CF9AE}" pid="3" name="MediaServiceImageTags">
    <vt:lpwstr/>
  </property>
</Properties>
</file>