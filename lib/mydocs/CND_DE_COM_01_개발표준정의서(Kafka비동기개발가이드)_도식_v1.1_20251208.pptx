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49" d="100"/>
          <a:sy n="149" d="100"/>
        </p:scale>
        <p:origin x="692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62FE19-00DB-336A-3D7A-6FB369F46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D05CA3C-2CFC-2BDD-075B-494D5B27C9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CA37C6-C0B3-49CE-DCE4-373308ED8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56D62-4AFE-418E-B97E-5980CB9FACA0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E26434-B34A-CBAE-69D2-2241EBB28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AD323A-6B77-7185-36B6-4E8C83574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1CFC-C9D2-4D0B-BF88-2D08FD32A3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184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754333-4C63-52AE-1E69-5FB5DF3A3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3CE482-9197-3ADC-917E-96AC08B14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663823-6FB1-243F-3E81-264841CAC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56D62-4AFE-418E-B97E-5980CB9FACA0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9F295C-C06E-DA28-3F57-973385BC2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F77DBB-BB52-A128-4760-DFF7C0F8E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1CFC-C9D2-4D0B-BF88-2D08FD32A3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4534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A4C967-5254-B028-D4BB-FFBCE4E7D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C91DEC9-BD0C-6FE9-D8F7-A246822B0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83E324-AB23-2402-FD71-1CADB680C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56D62-4AFE-418E-B97E-5980CB9FACA0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147BCB-5CAD-2027-5EA5-29F74691F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6309FE-754A-AF18-2ABB-37BD6B172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1CFC-C9D2-4D0B-BF88-2D08FD32A3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755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73D361-118F-F338-7F9A-CA18562D5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E8DAE2-0FC4-37A8-3558-CCD975135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EF0B2D3-59B9-9F02-DE70-B34B00B0CB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DB425F5-5B83-1110-2DF6-1C33F2E2C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56D62-4AFE-418E-B97E-5980CB9FACA0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02F04D7-D0B9-A84B-9C27-D42B9D5B0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4CA5450-EBD4-1583-E07C-D4E28545F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1CFC-C9D2-4D0B-BF88-2D08FD32A3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3755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8EA27D-170F-5F87-DA14-D6CD8AE5A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0932F30-E7D2-253E-BD6C-C6132E19D6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F04B8D3-7860-C28F-3A55-4EC40DFC43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51CB401-AFB2-CA92-525E-2AB05FB6BE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216532E-28EB-F1F9-33F4-617C618E28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85A76FA-1547-76A5-AC54-024EF9B95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56D62-4AFE-418E-B97E-5980CB9FACA0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33362A9-0E97-B72E-0553-F0AD62CE0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05742CB-3D2C-D68D-E478-19C418538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1CFC-C9D2-4D0B-BF88-2D08FD32A3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9478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C8E395-5D02-A55F-2C29-612C20C0F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2C72D17-E25F-14B6-8265-0BF34D6BD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56D62-4AFE-418E-B97E-5980CB9FACA0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2DB0FC3-A4F8-0272-F2FF-1AF0F41E9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E1FF30B-08CC-2209-D89C-A3D35FCFA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1CFC-C9D2-4D0B-BF88-2D08FD32A3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1519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8A89008-C9AB-73B0-0EDC-624F3E3B1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56D62-4AFE-418E-B97E-5980CB9FACA0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36B5902-7362-4A36-3FE5-6F0CE88D3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FA61A2-7E7D-8382-FB86-1049C8CA2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1CFC-C9D2-4D0B-BF88-2D08FD32A3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7514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689161-C0E4-0754-D20F-8330DDD3A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7EF8DF-2951-1CF2-B1A4-55C8BA266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2784BB-EBC1-D50E-BDCC-28B9DB7117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FE4F312-314E-3E52-C87C-DC08A756C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56D62-4AFE-418E-B97E-5980CB9FACA0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367680D-8710-3A9E-7CA8-6ABA5559C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F6D364-2047-4E00-A8B7-C34147D3B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1CFC-C9D2-4D0B-BF88-2D08FD32A3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4259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DBC708-5349-4285-B715-2164E1B98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50066D6-3405-370B-D3F3-7F65DEFEE0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91EDCB9-373B-7E2D-A172-BE621B95B4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14F94A5-3CC2-F925-1624-777A8A8F6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56D62-4AFE-418E-B97E-5980CB9FACA0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32F5EF-591E-5A6F-2C01-4221CE2C6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ACAA24B-A6DA-5E1A-F39E-D090E29B8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1CFC-C9D2-4D0B-BF88-2D08FD32A3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5747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8AB3D5-AE60-0FDD-2C80-549C38A6D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26DCACF-D1A6-796D-9C72-2DB0B9F7D4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505FFC-8EDF-45F1-9FB1-6A094A66B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56D62-4AFE-418E-B97E-5980CB9FACA0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9497A5-96DD-9ADD-0AE7-C8077E846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6B9897-C24F-2E8E-01CA-E3301E3C6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1CFC-C9D2-4D0B-BF88-2D08FD32A3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3816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F889A74-4819-CB78-B8EE-07B84363CA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8C3CCD2-1B00-EF26-50E8-76F14FB671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ACC491-8D66-DC39-0FBD-6AE7269DE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56D62-4AFE-418E-B97E-5980CB9FACA0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C35AE6-FB90-72C5-C10A-0E89926A3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2605A8-40DA-9A47-F213-B39D53749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1CFC-C9D2-4D0B-BF88-2D08FD32A3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0006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42F1C3E-BC7E-364E-1DFD-1167480A1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DE1B85-ACB3-E4CF-B194-8D9813C031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5A6EF2-898F-B899-6504-110E9E30D1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256D62-4AFE-418E-B97E-5980CB9FACA0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544726-8F32-48AF-87D4-14945F1A73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CDBCFB-A2FB-FB76-1C53-7F1CCDDBD8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F01CFC-C9D2-4D0B-BF88-2D08FD32A3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0137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0664CCB-7EA3-E686-36C3-DE5CB633D30F}"/>
              </a:ext>
            </a:extLst>
          </p:cNvPr>
          <p:cNvSpPr/>
          <p:nvPr/>
        </p:nvSpPr>
        <p:spPr>
          <a:xfrm>
            <a:off x="1660048" y="198499"/>
            <a:ext cx="9898358" cy="62724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136D08B-6F66-62A6-6CAA-8365A210BB62}"/>
              </a:ext>
            </a:extLst>
          </p:cNvPr>
          <p:cNvSpPr/>
          <p:nvPr/>
        </p:nvSpPr>
        <p:spPr>
          <a:xfrm>
            <a:off x="1840291" y="489604"/>
            <a:ext cx="1161365" cy="54723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200" b="1">
                <a:solidFill>
                  <a:schemeClr val="tx1"/>
                </a:solidFill>
              </a:rPr>
              <a:t>보안</a:t>
            </a:r>
            <a:r>
              <a:rPr lang="en-US" altLang="ko-KR" sz="1200" b="1">
                <a:solidFill>
                  <a:schemeClr val="tx1"/>
                </a:solidFill>
              </a:rPr>
              <a:t> VPC</a:t>
            </a:r>
            <a:endParaRPr lang="ko-KR" altLang="en-US" sz="1200" b="1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055D3F2-955E-CE6D-EDD7-53523D015249}"/>
              </a:ext>
            </a:extLst>
          </p:cNvPr>
          <p:cNvSpPr/>
          <p:nvPr/>
        </p:nvSpPr>
        <p:spPr>
          <a:xfrm>
            <a:off x="3453680" y="489604"/>
            <a:ext cx="1161365" cy="11465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200" b="1">
                <a:solidFill>
                  <a:schemeClr val="tx1"/>
                </a:solidFill>
              </a:rPr>
              <a:t>Front</a:t>
            </a:r>
            <a:r>
              <a:rPr lang="ko-KR" altLang="en-US" sz="1200" b="1">
                <a:solidFill>
                  <a:schemeClr val="tx1"/>
                </a:solidFill>
              </a:rPr>
              <a:t> </a:t>
            </a:r>
            <a:r>
              <a:rPr lang="en-US" altLang="ko-KR" sz="1200" b="1">
                <a:solidFill>
                  <a:schemeClr val="tx1"/>
                </a:solidFill>
              </a:rPr>
              <a:t>k8s</a:t>
            </a:r>
            <a:endParaRPr lang="ko-KR" altLang="en-US" sz="1200" b="1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0DA1FD9-8C48-6D38-36A5-109269910AF1}"/>
              </a:ext>
            </a:extLst>
          </p:cNvPr>
          <p:cNvSpPr/>
          <p:nvPr/>
        </p:nvSpPr>
        <p:spPr>
          <a:xfrm>
            <a:off x="4884628" y="489604"/>
            <a:ext cx="194212" cy="5685684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4FEA30D-8F16-6237-9697-5341F1FD08DE}"/>
              </a:ext>
            </a:extLst>
          </p:cNvPr>
          <p:cNvSpPr/>
          <p:nvPr/>
        </p:nvSpPr>
        <p:spPr>
          <a:xfrm>
            <a:off x="9387803" y="489604"/>
            <a:ext cx="1706880" cy="13051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200" b="1">
                <a:solidFill>
                  <a:schemeClr val="tx1"/>
                </a:solidFill>
              </a:rPr>
              <a:t>DB</a:t>
            </a:r>
            <a:endParaRPr lang="ko-KR" altLang="en-US" sz="1200" b="1">
              <a:solidFill>
                <a:schemeClr val="tx1"/>
              </a:solidFill>
            </a:endParaRPr>
          </a:p>
        </p:txBody>
      </p:sp>
      <p:sp>
        <p:nvSpPr>
          <p:cNvPr id="17" name="순서도: 자기 디스크 16">
            <a:extLst>
              <a:ext uri="{FF2B5EF4-FFF2-40B4-BE49-F238E27FC236}">
                <a16:creationId xmlns:a16="http://schemas.microsoft.com/office/drawing/2014/main" id="{320B5E1E-AD90-2578-0453-D51EE3C0A13C}"/>
              </a:ext>
            </a:extLst>
          </p:cNvPr>
          <p:cNvSpPr/>
          <p:nvPr/>
        </p:nvSpPr>
        <p:spPr>
          <a:xfrm>
            <a:off x="9784043" y="961258"/>
            <a:ext cx="914400" cy="612648"/>
          </a:xfrm>
          <a:prstGeom prst="flowChartMagneticDisk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904A449-65E4-C800-62D6-16FFB666C43F}"/>
              </a:ext>
            </a:extLst>
          </p:cNvPr>
          <p:cNvSpPr/>
          <p:nvPr/>
        </p:nvSpPr>
        <p:spPr>
          <a:xfrm>
            <a:off x="9387803" y="2077113"/>
            <a:ext cx="1706880" cy="24837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200" b="1">
                <a:solidFill>
                  <a:schemeClr val="tx1"/>
                </a:solidFill>
              </a:rPr>
              <a:t>Kafka</a:t>
            </a:r>
            <a:endParaRPr lang="ko-KR" altLang="en-US" sz="1200" b="1">
              <a:solidFill>
                <a:schemeClr val="tx1"/>
              </a:solidFill>
            </a:endParaRPr>
          </a:p>
        </p:txBody>
      </p:sp>
      <p:sp>
        <p:nvSpPr>
          <p:cNvPr id="19" name="순서도: 자기 디스크 18">
            <a:extLst>
              <a:ext uri="{FF2B5EF4-FFF2-40B4-BE49-F238E27FC236}">
                <a16:creationId xmlns:a16="http://schemas.microsoft.com/office/drawing/2014/main" id="{E596876B-9D2F-4E97-4579-BA0DFF7DF831}"/>
              </a:ext>
            </a:extLst>
          </p:cNvPr>
          <p:cNvSpPr/>
          <p:nvPr/>
        </p:nvSpPr>
        <p:spPr>
          <a:xfrm>
            <a:off x="9784043" y="2505171"/>
            <a:ext cx="914400" cy="612648"/>
          </a:xfrm>
          <a:prstGeom prst="flowChartMagneticDisk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순서도: 자기 디스크 19">
            <a:extLst>
              <a:ext uri="{FF2B5EF4-FFF2-40B4-BE49-F238E27FC236}">
                <a16:creationId xmlns:a16="http://schemas.microsoft.com/office/drawing/2014/main" id="{CB612A26-2AA4-A40B-061C-51761C9EFCB7}"/>
              </a:ext>
            </a:extLst>
          </p:cNvPr>
          <p:cNvSpPr/>
          <p:nvPr/>
        </p:nvSpPr>
        <p:spPr>
          <a:xfrm>
            <a:off x="9784043" y="3572689"/>
            <a:ext cx="914400" cy="612648"/>
          </a:xfrm>
          <a:prstGeom prst="flowChartMagneticDisk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1941066-72FA-6F53-3F81-E2B6EE501CEB}"/>
              </a:ext>
            </a:extLst>
          </p:cNvPr>
          <p:cNvSpPr/>
          <p:nvPr/>
        </p:nvSpPr>
        <p:spPr>
          <a:xfrm>
            <a:off x="9387803" y="4870118"/>
            <a:ext cx="1706880" cy="7142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200" b="1">
                <a:solidFill>
                  <a:schemeClr val="tx1"/>
                </a:solidFill>
              </a:rPr>
              <a:t>Alarm System</a:t>
            </a:r>
            <a:endParaRPr lang="ko-KR" altLang="en-US" sz="1200" b="1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74ED47C-6828-C870-F89B-BE8920BDBAFB}"/>
              </a:ext>
            </a:extLst>
          </p:cNvPr>
          <p:cNvSpPr/>
          <p:nvPr/>
        </p:nvSpPr>
        <p:spPr>
          <a:xfrm>
            <a:off x="5593922" y="1453741"/>
            <a:ext cx="3170408" cy="4721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200" b="1">
                <a:solidFill>
                  <a:schemeClr val="tx1"/>
                </a:solidFill>
              </a:rPr>
              <a:t>Microservice</a:t>
            </a:r>
            <a:r>
              <a:rPr lang="ko-KR" altLang="en-US" sz="1200" b="1">
                <a:solidFill>
                  <a:schemeClr val="tx1"/>
                </a:solidFill>
              </a:rPr>
              <a:t> </a:t>
            </a:r>
            <a:r>
              <a:rPr lang="en-US" altLang="ko-KR" sz="1200" b="1">
                <a:solidFill>
                  <a:schemeClr val="tx1"/>
                </a:solidFill>
              </a:rPr>
              <a:t>VPC</a:t>
            </a:r>
            <a:endParaRPr lang="ko-KR" altLang="en-US" sz="1200" b="1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2BE7A8-CB9B-64F0-7146-859998586D21}"/>
              </a:ext>
            </a:extLst>
          </p:cNvPr>
          <p:cNvSpPr/>
          <p:nvPr/>
        </p:nvSpPr>
        <p:spPr>
          <a:xfrm>
            <a:off x="5839422" y="1924050"/>
            <a:ext cx="2639158" cy="39931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D347924-435E-0D91-3F9D-DF8D4BA0A1CF}"/>
              </a:ext>
            </a:extLst>
          </p:cNvPr>
          <p:cNvSpPr/>
          <p:nvPr/>
        </p:nvSpPr>
        <p:spPr>
          <a:xfrm>
            <a:off x="5839422" y="5560625"/>
            <a:ext cx="2639158" cy="35657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chemeClr val="bg1"/>
                </a:solidFill>
              </a:rPr>
              <a:t>NKS – NHN K8S Service</a:t>
            </a:r>
            <a:endParaRPr lang="ko-KR" altLang="en-US" sz="1200" b="1">
              <a:solidFill>
                <a:schemeClr val="bg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A1738AD-E035-117F-8729-976F6A98AE94}"/>
              </a:ext>
            </a:extLst>
          </p:cNvPr>
          <p:cNvSpPr/>
          <p:nvPr/>
        </p:nvSpPr>
        <p:spPr>
          <a:xfrm>
            <a:off x="6222620" y="2112852"/>
            <a:ext cx="1872762" cy="356578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메뉴통계 </a:t>
            </a:r>
            <a:r>
              <a:rPr lang="en-US" altLang="ko-KR" sz="1200">
                <a:solidFill>
                  <a:schemeClr val="tx1"/>
                </a:solidFill>
              </a:rPr>
              <a:t>Consumer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288FF0B-D8E5-E1D6-C882-9F371DECFA79}"/>
              </a:ext>
            </a:extLst>
          </p:cNvPr>
          <p:cNvSpPr/>
          <p:nvPr/>
        </p:nvSpPr>
        <p:spPr>
          <a:xfrm>
            <a:off x="6222620" y="2639756"/>
            <a:ext cx="1872762" cy="35657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</a:rPr>
              <a:t>메뉴</a:t>
            </a:r>
            <a:r>
              <a:rPr lang="en-US" altLang="ko-KR" sz="1200">
                <a:solidFill>
                  <a:schemeClr val="bg1"/>
                </a:solidFill>
              </a:rPr>
              <a:t> </a:t>
            </a:r>
            <a:r>
              <a:rPr lang="ko-KR" altLang="en-US" sz="1200">
                <a:solidFill>
                  <a:schemeClr val="bg1"/>
                </a:solidFill>
              </a:rPr>
              <a:t>수집 </a:t>
            </a:r>
            <a:r>
              <a:rPr lang="en-US" altLang="ko-KR" sz="1200">
                <a:solidFill>
                  <a:schemeClr val="bg1"/>
                </a:solidFill>
              </a:rPr>
              <a:t>API</a:t>
            </a:r>
            <a:endParaRPr lang="ko-KR" altLang="en-US" sz="1200">
              <a:solidFill>
                <a:schemeClr val="bg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B573FE3-8EF6-25EC-5751-7A4A897C66B5}"/>
              </a:ext>
            </a:extLst>
          </p:cNvPr>
          <p:cNvSpPr/>
          <p:nvPr/>
        </p:nvSpPr>
        <p:spPr>
          <a:xfrm>
            <a:off x="6222620" y="3807714"/>
            <a:ext cx="1872762" cy="35657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</a:rPr>
              <a:t>예약 </a:t>
            </a:r>
            <a:r>
              <a:rPr lang="en-US" altLang="ko-KR" sz="1200">
                <a:solidFill>
                  <a:schemeClr val="bg1"/>
                </a:solidFill>
              </a:rPr>
              <a:t>API</a:t>
            </a:r>
            <a:endParaRPr lang="ko-KR" altLang="en-US" sz="1200">
              <a:solidFill>
                <a:schemeClr val="bg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741A33A-8F2F-F530-3865-C31DD8569B1A}"/>
              </a:ext>
            </a:extLst>
          </p:cNvPr>
          <p:cNvSpPr/>
          <p:nvPr/>
        </p:nvSpPr>
        <p:spPr>
          <a:xfrm>
            <a:off x="6222620" y="4520780"/>
            <a:ext cx="1872762" cy="35657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</a:rPr>
              <a:t>알림 전송</a:t>
            </a:r>
            <a:r>
              <a:rPr lang="en-US" altLang="ko-KR" sz="1200">
                <a:solidFill>
                  <a:schemeClr val="bg1"/>
                </a:solidFill>
              </a:rPr>
              <a:t> API</a:t>
            </a:r>
            <a:endParaRPr lang="ko-KR" altLang="en-US" sz="1200">
              <a:solidFill>
                <a:schemeClr val="bg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AD36FE3-52B7-387E-320D-91E0269F2B18}"/>
              </a:ext>
            </a:extLst>
          </p:cNvPr>
          <p:cNvSpPr/>
          <p:nvPr/>
        </p:nvSpPr>
        <p:spPr>
          <a:xfrm>
            <a:off x="6222620" y="5047682"/>
            <a:ext cx="1872762" cy="356578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알림 </a:t>
            </a:r>
            <a:r>
              <a:rPr lang="en-US" altLang="ko-KR" sz="1200">
                <a:solidFill>
                  <a:schemeClr val="tx1"/>
                </a:solidFill>
              </a:rPr>
              <a:t>Consumer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43C266C3-641A-FAEE-4357-CDC0FC18866A}"/>
              </a:ext>
            </a:extLst>
          </p:cNvPr>
          <p:cNvSpPr/>
          <p:nvPr/>
        </p:nvSpPr>
        <p:spPr>
          <a:xfrm>
            <a:off x="-49675" y="3574181"/>
            <a:ext cx="800500" cy="80050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4B567E-4E33-D910-4983-790630587875}"/>
              </a:ext>
            </a:extLst>
          </p:cNvPr>
          <p:cNvSpPr txBox="1"/>
          <p:nvPr/>
        </p:nvSpPr>
        <p:spPr>
          <a:xfrm>
            <a:off x="9841133" y="3133957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통계토픽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FFA4DF6-9A2C-D8C5-B8EF-EF6501202A02}"/>
              </a:ext>
            </a:extLst>
          </p:cNvPr>
          <p:cNvSpPr txBox="1"/>
          <p:nvPr/>
        </p:nvSpPr>
        <p:spPr>
          <a:xfrm>
            <a:off x="9841133" y="4220141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알림토픽</a:t>
            </a: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B71B5768-5E74-1FF5-D256-FFEBDFAF7365}"/>
              </a:ext>
            </a:extLst>
          </p:cNvPr>
          <p:cNvCxnSpPr>
            <a:cxnSpLocks/>
            <a:stCxn id="51" idx="6"/>
            <a:endCxn id="12" idx="1"/>
          </p:cNvCxnSpPr>
          <p:nvPr/>
        </p:nvCxnSpPr>
        <p:spPr>
          <a:xfrm flipV="1">
            <a:off x="750825" y="2818045"/>
            <a:ext cx="5471795" cy="264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2AB178B5-C96C-1034-FA62-425431C2E3A6}"/>
              </a:ext>
            </a:extLst>
          </p:cNvPr>
          <p:cNvCxnSpPr>
            <a:cxnSpLocks/>
            <a:stCxn id="22" idx="6"/>
            <a:endCxn id="13" idx="1"/>
          </p:cNvCxnSpPr>
          <p:nvPr/>
        </p:nvCxnSpPr>
        <p:spPr>
          <a:xfrm>
            <a:off x="750825" y="3974431"/>
            <a:ext cx="5471795" cy="115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252484C3-E577-FEDB-DA4F-E8702E2C9E1D}"/>
              </a:ext>
            </a:extLst>
          </p:cNvPr>
          <p:cNvCxnSpPr>
            <a:cxnSpLocks/>
            <a:stCxn id="11" idx="3"/>
            <a:endCxn id="17" idx="2"/>
          </p:cNvCxnSpPr>
          <p:nvPr/>
        </p:nvCxnSpPr>
        <p:spPr>
          <a:xfrm flipV="1">
            <a:off x="8095382" y="1267582"/>
            <a:ext cx="1688661" cy="102355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A2856D21-B3BC-2E46-06D9-37557AE5593A}"/>
              </a:ext>
            </a:extLst>
          </p:cNvPr>
          <p:cNvCxnSpPr>
            <a:cxnSpLocks/>
          </p:cNvCxnSpPr>
          <p:nvPr/>
        </p:nvCxnSpPr>
        <p:spPr>
          <a:xfrm>
            <a:off x="990600" y="3429000"/>
            <a:ext cx="1080135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1" name="타원 50">
            <a:extLst>
              <a:ext uri="{FF2B5EF4-FFF2-40B4-BE49-F238E27FC236}">
                <a16:creationId xmlns:a16="http://schemas.microsoft.com/office/drawing/2014/main" id="{AD6E30AA-BB27-7A97-482C-614EE8F44FF8}"/>
              </a:ext>
            </a:extLst>
          </p:cNvPr>
          <p:cNvSpPr/>
          <p:nvPr/>
        </p:nvSpPr>
        <p:spPr>
          <a:xfrm>
            <a:off x="-49675" y="2444284"/>
            <a:ext cx="800500" cy="80050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FB099735-3F58-FB2E-218E-32AE5A147BCA}"/>
              </a:ext>
            </a:extLst>
          </p:cNvPr>
          <p:cNvCxnSpPr>
            <a:cxnSpLocks/>
            <a:stCxn id="12" idx="3"/>
            <a:endCxn id="19" idx="2"/>
          </p:cNvCxnSpPr>
          <p:nvPr/>
        </p:nvCxnSpPr>
        <p:spPr>
          <a:xfrm flipV="1">
            <a:off x="8095382" y="2811495"/>
            <a:ext cx="1688661" cy="65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3528421E-859A-CFD1-014A-0A3C0A12A20D}"/>
              </a:ext>
            </a:extLst>
          </p:cNvPr>
          <p:cNvSpPr txBox="1"/>
          <p:nvPr/>
        </p:nvSpPr>
        <p:spPr>
          <a:xfrm>
            <a:off x="3333358" y="2464715"/>
            <a:ext cx="10631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① 메뉴 클릭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CD0D8C6-B22E-53DF-59EF-3EF9DD5F9F84}"/>
              </a:ext>
            </a:extLst>
          </p:cNvPr>
          <p:cNvSpPr txBox="1"/>
          <p:nvPr/>
        </p:nvSpPr>
        <p:spPr>
          <a:xfrm>
            <a:off x="8948123" y="2818045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②</a:t>
            </a:r>
          </a:p>
        </p:txBody>
      </p: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3DA7E0F4-BF9C-75C2-1E2B-0B4FA8544809}"/>
              </a:ext>
            </a:extLst>
          </p:cNvPr>
          <p:cNvCxnSpPr>
            <a:cxnSpLocks/>
            <a:stCxn id="11" idx="3"/>
            <a:endCxn id="19" idx="2"/>
          </p:cNvCxnSpPr>
          <p:nvPr/>
        </p:nvCxnSpPr>
        <p:spPr>
          <a:xfrm>
            <a:off x="8095382" y="2291141"/>
            <a:ext cx="1688661" cy="5203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D810D85B-B170-6FCF-66DC-1C7FCE1D3778}"/>
              </a:ext>
            </a:extLst>
          </p:cNvPr>
          <p:cNvSpPr txBox="1"/>
          <p:nvPr/>
        </p:nvSpPr>
        <p:spPr>
          <a:xfrm>
            <a:off x="8948123" y="2322296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③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4108083-6BA2-B657-6C81-88386FDF6CB1}"/>
              </a:ext>
            </a:extLst>
          </p:cNvPr>
          <p:cNvSpPr txBox="1"/>
          <p:nvPr/>
        </p:nvSpPr>
        <p:spPr>
          <a:xfrm>
            <a:off x="8948123" y="1411272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④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61F683A-C1FE-1424-EC73-9A0453DF6D47}"/>
              </a:ext>
            </a:extLst>
          </p:cNvPr>
          <p:cNvSpPr txBox="1"/>
          <p:nvPr/>
        </p:nvSpPr>
        <p:spPr>
          <a:xfrm>
            <a:off x="3514498" y="3601655"/>
            <a:ext cx="7008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① 예약</a:t>
            </a:r>
          </a:p>
        </p:txBody>
      </p: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1F7849D3-ED57-52FC-10EE-5EF8BD824AA9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>
            <a:off x="7159001" y="4164292"/>
            <a:ext cx="0" cy="3564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F93656AE-8848-0052-A3F9-E57826226AD3}"/>
              </a:ext>
            </a:extLst>
          </p:cNvPr>
          <p:cNvSpPr txBox="1"/>
          <p:nvPr/>
        </p:nvSpPr>
        <p:spPr>
          <a:xfrm>
            <a:off x="7203646" y="4173609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②</a:t>
            </a:r>
          </a:p>
        </p:txBody>
      </p: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089EE551-3B83-A253-1739-B88B122C0AB9}"/>
              </a:ext>
            </a:extLst>
          </p:cNvPr>
          <p:cNvCxnSpPr>
            <a:cxnSpLocks/>
            <a:stCxn id="14" idx="3"/>
            <a:endCxn id="20" idx="2"/>
          </p:cNvCxnSpPr>
          <p:nvPr/>
        </p:nvCxnSpPr>
        <p:spPr>
          <a:xfrm flipV="1">
            <a:off x="8095382" y="3879013"/>
            <a:ext cx="1688661" cy="820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0CA82292-F409-D77A-1432-C05EB2C4F23F}"/>
              </a:ext>
            </a:extLst>
          </p:cNvPr>
          <p:cNvCxnSpPr>
            <a:cxnSpLocks/>
            <a:stCxn id="15" idx="3"/>
            <a:endCxn id="20" idx="2"/>
          </p:cNvCxnSpPr>
          <p:nvPr/>
        </p:nvCxnSpPr>
        <p:spPr>
          <a:xfrm flipV="1">
            <a:off x="8095382" y="3879013"/>
            <a:ext cx="1688661" cy="13469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607D9946-5F98-DC6C-9E15-DE42B952E7F2}"/>
              </a:ext>
            </a:extLst>
          </p:cNvPr>
          <p:cNvSpPr txBox="1"/>
          <p:nvPr/>
        </p:nvSpPr>
        <p:spPr>
          <a:xfrm>
            <a:off x="8948123" y="3878654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③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E7B22E9-6FCA-FB5C-E3E6-FCF9CB81BEDB}"/>
              </a:ext>
            </a:extLst>
          </p:cNvPr>
          <p:cNvSpPr txBox="1"/>
          <p:nvPr/>
        </p:nvSpPr>
        <p:spPr>
          <a:xfrm>
            <a:off x="8948123" y="4520780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④</a:t>
            </a:r>
          </a:p>
        </p:txBody>
      </p: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7277F70D-473D-70E3-ACBF-01BECDB4482E}"/>
              </a:ext>
            </a:extLst>
          </p:cNvPr>
          <p:cNvCxnSpPr>
            <a:cxnSpLocks/>
            <a:stCxn id="15" idx="3"/>
            <a:endCxn id="21" idx="1"/>
          </p:cNvCxnSpPr>
          <p:nvPr/>
        </p:nvCxnSpPr>
        <p:spPr>
          <a:xfrm>
            <a:off x="8095382" y="5225971"/>
            <a:ext cx="1292421" cy="12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9EDF3335-DC74-08A1-7143-045EDEB86542}"/>
              </a:ext>
            </a:extLst>
          </p:cNvPr>
          <p:cNvSpPr txBox="1"/>
          <p:nvPr/>
        </p:nvSpPr>
        <p:spPr>
          <a:xfrm>
            <a:off x="8948123" y="5266042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⑤</a:t>
            </a:r>
          </a:p>
        </p:txBody>
      </p:sp>
    </p:spTree>
    <p:extLst>
      <p:ext uri="{BB962C8B-B14F-4D97-AF65-F5344CB8AC3E}">
        <p14:creationId xmlns:p14="http://schemas.microsoft.com/office/powerpoint/2010/main" val="957676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AB6AB-4B63-FE04-3E19-55F68149B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1C9D273-4ECE-9C0A-0A1C-C9D700F3CAA7}"/>
              </a:ext>
            </a:extLst>
          </p:cNvPr>
          <p:cNvSpPr/>
          <p:nvPr/>
        </p:nvSpPr>
        <p:spPr>
          <a:xfrm>
            <a:off x="1660048" y="198499"/>
            <a:ext cx="9898358" cy="62724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C80A368-9941-66D6-F6B9-BDFE18463BF7}"/>
              </a:ext>
            </a:extLst>
          </p:cNvPr>
          <p:cNvSpPr/>
          <p:nvPr/>
        </p:nvSpPr>
        <p:spPr>
          <a:xfrm>
            <a:off x="1840291" y="489604"/>
            <a:ext cx="1161365" cy="54723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200" b="1">
                <a:solidFill>
                  <a:schemeClr val="tx1"/>
                </a:solidFill>
              </a:rPr>
              <a:t>보안</a:t>
            </a:r>
            <a:r>
              <a:rPr lang="en-US" altLang="ko-KR" sz="1200" b="1">
                <a:solidFill>
                  <a:schemeClr val="tx1"/>
                </a:solidFill>
              </a:rPr>
              <a:t> VPC</a:t>
            </a:r>
            <a:endParaRPr lang="ko-KR" altLang="en-US" sz="1200" b="1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FB85328-B476-C3CE-B42C-93503B24F48F}"/>
              </a:ext>
            </a:extLst>
          </p:cNvPr>
          <p:cNvSpPr/>
          <p:nvPr/>
        </p:nvSpPr>
        <p:spPr>
          <a:xfrm>
            <a:off x="3453680" y="489604"/>
            <a:ext cx="1161365" cy="11465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200" b="1">
                <a:solidFill>
                  <a:schemeClr val="tx1"/>
                </a:solidFill>
              </a:rPr>
              <a:t>Front</a:t>
            </a:r>
            <a:r>
              <a:rPr lang="ko-KR" altLang="en-US" sz="1200" b="1">
                <a:solidFill>
                  <a:schemeClr val="tx1"/>
                </a:solidFill>
              </a:rPr>
              <a:t> </a:t>
            </a:r>
            <a:r>
              <a:rPr lang="en-US" altLang="ko-KR" sz="1200" b="1">
                <a:solidFill>
                  <a:schemeClr val="tx1"/>
                </a:solidFill>
              </a:rPr>
              <a:t>k8s</a:t>
            </a:r>
            <a:endParaRPr lang="ko-KR" altLang="en-US" sz="1200" b="1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AC1B5C6-F3D7-8BB3-64F4-E6294E33EC86}"/>
              </a:ext>
            </a:extLst>
          </p:cNvPr>
          <p:cNvSpPr/>
          <p:nvPr/>
        </p:nvSpPr>
        <p:spPr>
          <a:xfrm>
            <a:off x="4884628" y="489604"/>
            <a:ext cx="194212" cy="5685684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FC6A436-53AF-79D8-D43B-C2C1B0EA4D37}"/>
              </a:ext>
            </a:extLst>
          </p:cNvPr>
          <p:cNvSpPr/>
          <p:nvPr/>
        </p:nvSpPr>
        <p:spPr>
          <a:xfrm>
            <a:off x="9387803" y="489604"/>
            <a:ext cx="1706880" cy="13051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200" b="1">
                <a:solidFill>
                  <a:schemeClr val="tx1"/>
                </a:solidFill>
              </a:rPr>
              <a:t>DB</a:t>
            </a:r>
            <a:endParaRPr lang="ko-KR" altLang="en-US" sz="1200" b="1">
              <a:solidFill>
                <a:schemeClr val="tx1"/>
              </a:solidFill>
            </a:endParaRPr>
          </a:p>
        </p:txBody>
      </p:sp>
      <p:sp>
        <p:nvSpPr>
          <p:cNvPr id="17" name="순서도: 자기 디스크 16">
            <a:extLst>
              <a:ext uri="{FF2B5EF4-FFF2-40B4-BE49-F238E27FC236}">
                <a16:creationId xmlns:a16="http://schemas.microsoft.com/office/drawing/2014/main" id="{D42DC807-46A5-A278-E0F5-1A0F7ACF85E8}"/>
              </a:ext>
            </a:extLst>
          </p:cNvPr>
          <p:cNvSpPr/>
          <p:nvPr/>
        </p:nvSpPr>
        <p:spPr>
          <a:xfrm>
            <a:off x="9784043" y="961258"/>
            <a:ext cx="914400" cy="612648"/>
          </a:xfrm>
          <a:prstGeom prst="flowChartMagneticDisk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F4A3EDB-0FEE-5089-3A18-C238C4B169B7}"/>
              </a:ext>
            </a:extLst>
          </p:cNvPr>
          <p:cNvSpPr/>
          <p:nvPr/>
        </p:nvSpPr>
        <p:spPr>
          <a:xfrm>
            <a:off x="9387803" y="2077113"/>
            <a:ext cx="1706880" cy="24837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200" b="1">
                <a:solidFill>
                  <a:schemeClr val="tx1"/>
                </a:solidFill>
              </a:rPr>
              <a:t>Kafka</a:t>
            </a:r>
            <a:endParaRPr lang="ko-KR" altLang="en-US" sz="1200" b="1">
              <a:solidFill>
                <a:schemeClr val="tx1"/>
              </a:solidFill>
            </a:endParaRPr>
          </a:p>
        </p:txBody>
      </p:sp>
      <p:sp>
        <p:nvSpPr>
          <p:cNvPr id="19" name="순서도: 자기 디스크 18">
            <a:extLst>
              <a:ext uri="{FF2B5EF4-FFF2-40B4-BE49-F238E27FC236}">
                <a16:creationId xmlns:a16="http://schemas.microsoft.com/office/drawing/2014/main" id="{0A5AF716-D1FB-EACF-6A12-0E1C14E7C1B5}"/>
              </a:ext>
            </a:extLst>
          </p:cNvPr>
          <p:cNvSpPr/>
          <p:nvPr/>
        </p:nvSpPr>
        <p:spPr>
          <a:xfrm>
            <a:off x="9784043" y="2505171"/>
            <a:ext cx="914400" cy="612648"/>
          </a:xfrm>
          <a:prstGeom prst="flowChartMagneticDisk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순서도: 자기 디스크 19">
            <a:extLst>
              <a:ext uri="{FF2B5EF4-FFF2-40B4-BE49-F238E27FC236}">
                <a16:creationId xmlns:a16="http://schemas.microsoft.com/office/drawing/2014/main" id="{B09A6986-BAE6-24C5-DB0B-64EC0E04494F}"/>
              </a:ext>
            </a:extLst>
          </p:cNvPr>
          <p:cNvSpPr/>
          <p:nvPr/>
        </p:nvSpPr>
        <p:spPr>
          <a:xfrm>
            <a:off x="9784043" y="3572689"/>
            <a:ext cx="914400" cy="612648"/>
          </a:xfrm>
          <a:prstGeom prst="flowChartMagneticDisk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12F16D1-FF7C-8F43-B748-A80B02E87A04}"/>
              </a:ext>
            </a:extLst>
          </p:cNvPr>
          <p:cNvSpPr/>
          <p:nvPr/>
        </p:nvSpPr>
        <p:spPr>
          <a:xfrm>
            <a:off x="9387803" y="4870118"/>
            <a:ext cx="1706880" cy="7142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200" b="1">
                <a:solidFill>
                  <a:schemeClr val="tx1"/>
                </a:solidFill>
              </a:rPr>
              <a:t>Alarm System</a:t>
            </a:r>
            <a:endParaRPr lang="ko-KR" altLang="en-US" sz="1200" b="1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0AB8CDF-9BBD-F724-E1AD-5C98BE5585BD}"/>
              </a:ext>
            </a:extLst>
          </p:cNvPr>
          <p:cNvSpPr/>
          <p:nvPr/>
        </p:nvSpPr>
        <p:spPr>
          <a:xfrm>
            <a:off x="5593922" y="1453741"/>
            <a:ext cx="3170408" cy="4721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200" b="1">
                <a:solidFill>
                  <a:schemeClr val="tx1"/>
                </a:solidFill>
              </a:rPr>
              <a:t>Microservice</a:t>
            </a:r>
            <a:r>
              <a:rPr lang="ko-KR" altLang="en-US" sz="1200" b="1">
                <a:solidFill>
                  <a:schemeClr val="tx1"/>
                </a:solidFill>
              </a:rPr>
              <a:t> </a:t>
            </a:r>
            <a:r>
              <a:rPr lang="en-US" altLang="ko-KR" sz="1200" b="1">
                <a:solidFill>
                  <a:schemeClr val="tx1"/>
                </a:solidFill>
              </a:rPr>
              <a:t>VPC</a:t>
            </a:r>
            <a:endParaRPr lang="ko-KR" altLang="en-US" sz="1200" b="1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3D9612A-F436-8649-5158-D01BAC2BB104}"/>
              </a:ext>
            </a:extLst>
          </p:cNvPr>
          <p:cNvSpPr/>
          <p:nvPr/>
        </p:nvSpPr>
        <p:spPr>
          <a:xfrm>
            <a:off x="5839422" y="1924050"/>
            <a:ext cx="2639158" cy="39931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48B0E5A-F3F7-1D94-BC30-C018BD221FA6}"/>
              </a:ext>
            </a:extLst>
          </p:cNvPr>
          <p:cNvSpPr/>
          <p:nvPr/>
        </p:nvSpPr>
        <p:spPr>
          <a:xfrm>
            <a:off x="5839422" y="5560625"/>
            <a:ext cx="2639158" cy="35657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chemeClr val="bg1"/>
                </a:solidFill>
              </a:rPr>
              <a:t>NKS – NHN K8S Service</a:t>
            </a:r>
            <a:endParaRPr lang="ko-KR" altLang="en-US" sz="1200" b="1">
              <a:solidFill>
                <a:schemeClr val="bg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78D4F7F-9F24-9F0E-4DE2-0056443EEBA2}"/>
              </a:ext>
            </a:extLst>
          </p:cNvPr>
          <p:cNvSpPr/>
          <p:nvPr/>
        </p:nvSpPr>
        <p:spPr>
          <a:xfrm>
            <a:off x="6222620" y="2112852"/>
            <a:ext cx="1872762" cy="356578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메뉴통계 </a:t>
            </a:r>
            <a:r>
              <a:rPr lang="en-US" altLang="ko-KR" sz="1200">
                <a:solidFill>
                  <a:schemeClr val="tx1"/>
                </a:solidFill>
              </a:rPr>
              <a:t>Consumer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00D20A4-2C57-C693-A415-EB651FE9E7EA}"/>
              </a:ext>
            </a:extLst>
          </p:cNvPr>
          <p:cNvSpPr/>
          <p:nvPr/>
        </p:nvSpPr>
        <p:spPr>
          <a:xfrm>
            <a:off x="6222620" y="2639756"/>
            <a:ext cx="1872762" cy="35657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</a:rPr>
              <a:t>메뉴</a:t>
            </a:r>
            <a:r>
              <a:rPr lang="en-US" altLang="ko-KR" sz="1200">
                <a:solidFill>
                  <a:schemeClr val="bg1"/>
                </a:solidFill>
              </a:rPr>
              <a:t> </a:t>
            </a:r>
            <a:r>
              <a:rPr lang="ko-KR" altLang="en-US" sz="1200">
                <a:solidFill>
                  <a:schemeClr val="bg1"/>
                </a:solidFill>
              </a:rPr>
              <a:t>수집 </a:t>
            </a:r>
            <a:r>
              <a:rPr lang="en-US" altLang="ko-KR" sz="1200">
                <a:solidFill>
                  <a:schemeClr val="bg1"/>
                </a:solidFill>
              </a:rPr>
              <a:t>API</a:t>
            </a:r>
            <a:endParaRPr lang="ko-KR" altLang="en-US" sz="1200">
              <a:solidFill>
                <a:schemeClr val="bg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AB6C689-A6A1-881C-5FE5-524DB8DC1614}"/>
              </a:ext>
            </a:extLst>
          </p:cNvPr>
          <p:cNvSpPr/>
          <p:nvPr/>
        </p:nvSpPr>
        <p:spPr>
          <a:xfrm>
            <a:off x="6222620" y="3807714"/>
            <a:ext cx="1872762" cy="35657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</a:rPr>
              <a:t>예약 </a:t>
            </a:r>
            <a:r>
              <a:rPr lang="en-US" altLang="ko-KR" sz="1200">
                <a:solidFill>
                  <a:schemeClr val="bg1"/>
                </a:solidFill>
              </a:rPr>
              <a:t>API</a:t>
            </a:r>
            <a:endParaRPr lang="ko-KR" altLang="en-US" sz="1200">
              <a:solidFill>
                <a:schemeClr val="bg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9687CAC-CA66-4F88-013F-A2DB868EBBD7}"/>
              </a:ext>
            </a:extLst>
          </p:cNvPr>
          <p:cNvSpPr/>
          <p:nvPr/>
        </p:nvSpPr>
        <p:spPr>
          <a:xfrm>
            <a:off x="6222620" y="4520780"/>
            <a:ext cx="1872762" cy="35657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</a:rPr>
              <a:t>알림 전송</a:t>
            </a:r>
            <a:r>
              <a:rPr lang="en-US" altLang="ko-KR" sz="1200">
                <a:solidFill>
                  <a:schemeClr val="bg1"/>
                </a:solidFill>
              </a:rPr>
              <a:t> API</a:t>
            </a:r>
            <a:endParaRPr lang="ko-KR" altLang="en-US" sz="1200">
              <a:solidFill>
                <a:schemeClr val="bg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EEEBA98-AD10-1E27-16FF-5F11295C42E2}"/>
              </a:ext>
            </a:extLst>
          </p:cNvPr>
          <p:cNvSpPr/>
          <p:nvPr/>
        </p:nvSpPr>
        <p:spPr>
          <a:xfrm>
            <a:off x="6222620" y="5047682"/>
            <a:ext cx="1872762" cy="356578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알림 </a:t>
            </a:r>
            <a:r>
              <a:rPr lang="en-US" altLang="ko-KR" sz="1200">
                <a:solidFill>
                  <a:schemeClr val="tx1"/>
                </a:solidFill>
              </a:rPr>
              <a:t>Consumer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D6B5FB11-FB6A-B4FF-F54A-93ED3AF740D6}"/>
              </a:ext>
            </a:extLst>
          </p:cNvPr>
          <p:cNvSpPr/>
          <p:nvPr/>
        </p:nvSpPr>
        <p:spPr>
          <a:xfrm>
            <a:off x="-49675" y="3574181"/>
            <a:ext cx="800500" cy="80050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B62680-5668-3320-A488-7861A41A1553}"/>
              </a:ext>
            </a:extLst>
          </p:cNvPr>
          <p:cNvSpPr txBox="1"/>
          <p:nvPr/>
        </p:nvSpPr>
        <p:spPr>
          <a:xfrm>
            <a:off x="9841133" y="3133957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통계토픽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80A949-2AE5-F64A-0260-44D30C4ADEC2}"/>
              </a:ext>
            </a:extLst>
          </p:cNvPr>
          <p:cNvSpPr txBox="1"/>
          <p:nvPr/>
        </p:nvSpPr>
        <p:spPr>
          <a:xfrm>
            <a:off x="9841133" y="4220141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알림토픽</a:t>
            </a: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3C169AFD-F1AB-2306-D291-7348269B2401}"/>
              </a:ext>
            </a:extLst>
          </p:cNvPr>
          <p:cNvCxnSpPr>
            <a:cxnSpLocks/>
            <a:stCxn id="51" idx="6"/>
            <a:endCxn id="12" idx="1"/>
          </p:cNvCxnSpPr>
          <p:nvPr/>
        </p:nvCxnSpPr>
        <p:spPr>
          <a:xfrm flipV="1">
            <a:off x="750825" y="2818045"/>
            <a:ext cx="5471795" cy="264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CD391CAB-3068-4AF2-F238-4B79654C35D6}"/>
              </a:ext>
            </a:extLst>
          </p:cNvPr>
          <p:cNvCxnSpPr>
            <a:cxnSpLocks/>
            <a:stCxn id="22" idx="6"/>
            <a:endCxn id="13" idx="1"/>
          </p:cNvCxnSpPr>
          <p:nvPr/>
        </p:nvCxnSpPr>
        <p:spPr>
          <a:xfrm>
            <a:off x="750825" y="3974431"/>
            <a:ext cx="5471795" cy="115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D1E06212-9AB1-9D24-88E8-046267329ADC}"/>
              </a:ext>
            </a:extLst>
          </p:cNvPr>
          <p:cNvCxnSpPr>
            <a:cxnSpLocks/>
            <a:stCxn id="11" idx="3"/>
            <a:endCxn id="17" idx="2"/>
          </p:cNvCxnSpPr>
          <p:nvPr/>
        </p:nvCxnSpPr>
        <p:spPr>
          <a:xfrm flipV="1">
            <a:off x="8095382" y="1267582"/>
            <a:ext cx="1688661" cy="102355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C18050A6-B621-520D-2166-3DFDF9E87BD1}"/>
              </a:ext>
            </a:extLst>
          </p:cNvPr>
          <p:cNvCxnSpPr>
            <a:cxnSpLocks/>
          </p:cNvCxnSpPr>
          <p:nvPr/>
        </p:nvCxnSpPr>
        <p:spPr>
          <a:xfrm>
            <a:off x="990600" y="3429000"/>
            <a:ext cx="1080135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1" name="타원 50">
            <a:extLst>
              <a:ext uri="{FF2B5EF4-FFF2-40B4-BE49-F238E27FC236}">
                <a16:creationId xmlns:a16="http://schemas.microsoft.com/office/drawing/2014/main" id="{BD99B2F4-63C0-719B-0B99-2E44D21CD21E}"/>
              </a:ext>
            </a:extLst>
          </p:cNvPr>
          <p:cNvSpPr/>
          <p:nvPr/>
        </p:nvSpPr>
        <p:spPr>
          <a:xfrm>
            <a:off x="-49675" y="2444284"/>
            <a:ext cx="800500" cy="80050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12E1C263-EFFE-8CE3-0B3F-7A2A45C3C7E9}"/>
              </a:ext>
            </a:extLst>
          </p:cNvPr>
          <p:cNvCxnSpPr>
            <a:cxnSpLocks/>
            <a:stCxn id="12" idx="3"/>
            <a:endCxn id="19" idx="2"/>
          </p:cNvCxnSpPr>
          <p:nvPr/>
        </p:nvCxnSpPr>
        <p:spPr>
          <a:xfrm flipV="1">
            <a:off x="8095382" y="2811495"/>
            <a:ext cx="1688661" cy="65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8D22DA19-A510-9535-A8C8-B50CB29DE4A3}"/>
              </a:ext>
            </a:extLst>
          </p:cNvPr>
          <p:cNvSpPr txBox="1"/>
          <p:nvPr/>
        </p:nvSpPr>
        <p:spPr>
          <a:xfrm>
            <a:off x="3333358" y="2464715"/>
            <a:ext cx="10631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① 메뉴 클릭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90E893D-AE02-51DB-4402-F816351AA981}"/>
              </a:ext>
            </a:extLst>
          </p:cNvPr>
          <p:cNvSpPr txBox="1"/>
          <p:nvPr/>
        </p:nvSpPr>
        <p:spPr>
          <a:xfrm>
            <a:off x="8948123" y="2818045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②</a:t>
            </a:r>
          </a:p>
        </p:txBody>
      </p: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243EA15B-6B32-E274-0D28-A32520016AAC}"/>
              </a:ext>
            </a:extLst>
          </p:cNvPr>
          <p:cNvCxnSpPr>
            <a:cxnSpLocks/>
            <a:endCxn id="19" idx="2"/>
          </p:cNvCxnSpPr>
          <p:nvPr/>
        </p:nvCxnSpPr>
        <p:spPr>
          <a:xfrm>
            <a:off x="8095382" y="2464715"/>
            <a:ext cx="1688661" cy="34678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E33AA2D7-CE12-98A8-E426-40DA5FBD30EB}"/>
              </a:ext>
            </a:extLst>
          </p:cNvPr>
          <p:cNvSpPr txBox="1"/>
          <p:nvPr/>
        </p:nvSpPr>
        <p:spPr>
          <a:xfrm>
            <a:off x="8948123" y="2366671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③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F4DE988-8606-F173-F3B2-AD225AB0A572}"/>
              </a:ext>
            </a:extLst>
          </p:cNvPr>
          <p:cNvSpPr txBox="1"/>
          <p:nvPr/>
        </p:nvSpPr>
        <p:spPr>
          <a:xfrm>
            <a:off x="8948123" y="1411272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④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0A14C8E-39FA-A6EB-C850-5F47268C678C}"/>
              </a:ext>
            </a:extLst>
          </p:cNvPr>
          <p:cNvSpPr txBox="1"/>
          <p:nvPr/>
        </p:nvSpPr>
        <p:spPr>
          <a:xfrm>
            <a:off x="3514498" y="3601655"/>
            <a:ext cx="7008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① 예약</a:t>
            </a:r>
          </a:p>
        </p:txBody>
      </p: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A1182894-537A-3851-36E9-D56319E06AE0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>
            <a:off x="7159001" y="4164292"/>
            <a:ext cx="0" cy="3564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BBA62B80-BB07-9134-7D01-659E552CFE4A}"/>
              </a:ext>
            </a:extLst>
          </p:cNvPr>
          <p:cNvSpPr txBox="1"/>
          <p:nvPr/>
        </p:nvSpPr>
        <p:spPr>
          <a:xfrm>
            <a:off x="7203646" y="4173609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②</a:t>
            </a:r>
          </a:p>
        </p:txBody>
      </p: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33A0F258-D213-C21D-6BF8-CC1D3385DC5E}"/>
              </a:ext>
            </a:extLst>
          </p:cNvPr>
          <p:cNvCxnSpPr>
            <a:cxnSpLocks/>
            <a:stCxn id="14" idx="3"/>
            <a:endCxn id="20" idx="2"/>
          </p:cNvCxnSpPr>
          <p:nvPr/>
        </p:nvCxnSpPr>
        <p:spPr>
          <a:xfrm flipV="1">
            <a:off x="8095382" y="3879013"/>
            <a:ext cx="1688661" cy="820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E63FED77-69FC-CC07-3D6A-2AD927DFE8BD}"/>
              </a:ext>
            </a:extLst>
          </p:cNvPr>
          <p:cNvCxnSpPr>
            <a:cxnSpLocks/>
            <a:endCxn id="20" idx="2"/>
          </p:cNvCxnSpPr>
          <p:nvPr/>
        </p:nvCxnSpPr>
        <p:spPr>
          <a:xfrm flipV="1">
            <a:off x="8095382" y="3879013"/>
            <a:ext cx="1688661" cy="121368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68013AA9-60C9-73E3-BFAC-116CC4279E71}"/>
              </a:ext>
            </a:extLst>
          </p:cNvPr>
          <p:cNvSpPr txBox="1"/>
          <p:nvPr/>
        </p:nvSpPr>
        <p:spPr>
          <a:xfrm>
            <a:off x="8948123" y="3878654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③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5209873-F69B-FE33-CE0B-556A8CAC3CC6}"/>
              </a:ext>
            </a:extLst>
          </p:cNvPr>
          <p:cNvSpPr txBox="1"/>
          <p:nvPr/>
        </p:nvSpPr>
        <p:spPr>
          <a:xfrm>
            <a:off x="8948123" y="4441461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④</a:t>
            </a:r>
          </a:p>
        </p:txBody>
      </p: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2564ACA1-23B4-1E6C-9AF6-9BE4A3ACC7E1}"/>
              </a:ext>
            </a:extLst>
          </p:cNvPr>
          <p:cNvCxnSpPr>
            <a:cxnSpLocks/>
            <a:stCxn id="15" idx="3"/>
            <a:endCxn id="21" idx="1"/>
          </p:cNvCxnSpPr>
          <p:nvPr/>
        </p:nvCxnSpPr>
        <p:spPr>
          <a:xfrm>
            <a:off x="8095382" y="5225971"/>
            <a:ext cx="1292421" cy="12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D4D08C1B-5DAA-C5B9-6419-EEE8CD393D36}"/>
              </a:ext>
            </a:extLst>
          </p:cNvPr>
          <p:cNvSpPr txBox="1"/>
          <p:nvPr/>
        </p:nvSpPr>
        <p:spPr>
          <a:xfrm>
            <a:off x="8948123" y="5266042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⑤</a:t>
            </a:r>
          </a:p>
        </p:txBody>
      </p:sp>
    </p:spTree>
    <p:extLst>
      <p:ext uri="{BB962C8B-B14F-4D97-AF65-F5344CB8AC3E}">
        <p14:creationId xmlns:p14="http://schemas.microsoft.com/office/powerpoint/2010/main" val="1842495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D57EB-4794-5F1D-0E7B-47EB5C30D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99030110-6600-D1C3-D3CF-5D1D2CBA86A3}"/>
              </a:ext>
            </a:extLst>
          </p:cNvPr>
          <p:cNvSpPr/>
          <p:nvPr/>
        </p:nvSpPr>
        <p:spPr>
          <a:xfrm>
            <a:off x="9387803" y="2794000"/>
            <a:ext cx="1706880" cy="176451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200" b="1">
                <a:solidFill>
                  <a:schemeClr val="tx1"/>
                </a:solidFill>
              </a:rPr>
              <a:t>Kafka</a:t>
            </a:r>
            <a:endParaRPr lang="ko-KR" altLang="en-US" sz="1200" b="1">
              <a:solidFill>
                <a:schemeClr val="tx1"/>
              </a:solidFill>
            </a:endParaRPr>
          </a:p>
        </p:txBody>
      </p:sp>
      <p:sp>
        <p:nvSpPr>
          <p:cNvPr id="20" name="순서도: 자기 디스크 19">
            <a:extLst>
              <a:ext uri="{FF2B5EF4-FFF2-40B4-BE49-F238E27FC236}">
                <a16:creationId xmlns:a16="http://schemas.microsoft.com/office/drawing/2014/main" id="{8DCF63B7-B52C-8394-CBDF-D2FCFF260DD2}"/>
              </a:ext>
            </a:extLst>
          </p:cNvPr>
          <p:cNvSpPr/>
          <p:nvPr/>
        </p:nvSpPr>
        <p:spPr>
          <a:xfrm>
            <a:off x="9784043" y="3383371"/>
            <a:ext cx="914400" cy="612648"/>
          </a:xfrm>
          <a:prstGeom prst="flowChartMagneticDisk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CEAD381-6873-E034-0B72-C46E8627A18A}"/>
              </a:ext>
            </a:extLst>
          </p:cNvPr>
          <p:cNvSpPr/>
          <p:nvPr/>
        </p:nvSpPr>
        <p:spPr>
          <a:xfrm>
            <a:off x="9387803" y="4870118"/>
            <a:ext cx="1706880" cy="7142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200" b="1">
                <a:solidFill>
                  <a:schemeClr val="tx1"/>
                </a:solidFill>
              </a:rPr>
              <a:t>Alarm System</a:t>
            </a:r>
            <a:endParaRPr lang="ko-KR" altLang="en-US" sz="1200" b="1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FE8D1F1-187C-A954-5B38-C724D26FACDE}"/>
              </a:ext>
            </a:extLst>
          </p:cNvPr>
          <p:cNvSpPr/>
          <p:nvPr/>
        </p:nvSpPr>
        <p:spPr>
          <a:xfrm>
            <a:off x="5839422" y="2794000"/>
            <a:ext cx="2639158" cy="312320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FF2EBA5-D328-A092-E666-2C3888B09324}"/>
              </a:ext>
            </a:extLst>
          </p:cNvPr>
          <p:cNvSpPr/>
          <p:nvPr/>
        </p:nvSpPr>
        <p:spPr>
          <a:xfrm>
            <a:off x="5839422" y="5560625"/>
            <a:ext cx="2639158" cy="35657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chemeClr val="bg1"/>
                </a:solidFill>
              </a:rPr>
              <a:t>NKS – NHN K8S Service</a:t>
            </a:r>
            <a:endParaRPr lang="ko-KR" altLang="en-US" sz="1200" b="1">
              <a:solidFill>
                <a:schemeClr val="bg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7FF9C90-5337-CF20-41C4-986F963D7AEF}"/>
              </a:ext>
            </a:extLst>
          </p:cNvPr>
          <p:cNvSpPr/>
          <p:nvPr/>
        </p:nvSpPr>
        <p:spPr>
          <a:xfrm>
            <a:off x="6222620" y="3008580"/>
            <a:ext cx="1872762" cy="929108"/>
          </a:xfrm>
          <a:prstGeom prst="rect">
            <a:avLst/>
          </a:prstGeom>
          <a:solidFill>
            <a:srgbClr val="0070C0">
              <a:alpha val="50000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bg1"/>
                </a:solidFill>
              </a:rPr>
              <a:t>Camp-Service</a:t>
            </a:r>
          </a:p>
          <a:p>
            <a:pPr algn="ctr"/>
            <a:endParaRPr lang="en-US" altLang="ko-KR" sz="1200">
              <a:solidFill>
                <a:schemeClr val="bg1"/>
              </a:solidFill>
            </a:endParaRPr>
          </a:p>
          <a:p>
            <a:pPr algn="ctr"/>
            <a:endParaRPr lang="en-US" altLang="ko-KR" sz="1200">
              <a:solidFill>
                <a:schemeClr val="bg1"/>
              </a:solidFill>
            </a:endParaRPr>
          </a:p>
          <a:p>
            <a:pPr algn="ctr"/>
            <a:endParaRPr lang="ko-KR" altLang="en-US" sz="1200">
              <a:solidFill>
                <a:schemeClr val="bg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9E51A4A-67AE-834B-10F6-1E4235C3DAA4}"/>
              </a:ext>
            </a:extLst>
          </p:cNvPr>
          <p:cNvSpPr/>
          <p:nvPr/>
        </p:nvSpPr>
        <p:spPr>
          <a:xfrm>
            <a:off x="6222620" y="4349751"/>
            <a:ext cx="1872762" cy="929108"/>
          </a:xfrm>
          <a:prstGeom prst="rect">
            <a:avLst/>
          </a:prstGeom>
          <a:solidFill>
            <a:srgbClr val="0070C0">
              <a:alpha val="50000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bg1"/>
                </a:solidFill>
              </a:rPr>
              <a:t>Alarm-Service</a:t>
            </a:r>
          </a:p>
          <a:p>
            <a:pPr algn="ctr"/>
            <a:endParaRPr lang="en-US" altLang="ko-KR" sz="1200">
              <a:solidFill>
                <a:schemeClr val="bg1"/>
              </a:solidFill>
            </a:endParaRPr>
          </a:p>
          <a:p>
            <a:pPr algn="ctr"/>
            <a:endParaRPr lang="en-US" altLang="ko-KR" sz="1200">
              <a:solidFill>
                <a:schemeClr val="bg1"/>
              </a:solidFill>
            </a:endParaRPr>
          </a:p>
          <a:p>
            <a:pPr algn="ctr"/>
            <a:endParaRPr lang="ko-KR" altLang="en-US" sz="1200">
              <a:solidFill>
                <a:schemeClr val="bg1"/>
              </a:solidFill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6F8BC16C-D104-855C-55E7-53CA94DCAB3A}"/>
              </a:ext>
            </a:extLst>
          </p:cNvPr>
          <p:cNvSpPr/>
          <p:nvPr/>
        </p:nvSpPr>
        <p:spPr>
          <a:xfrm>
            <a:off x="4410456" y="3291313"/>
            <a:ext cx="800500" cy="80050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28A7833-816B-BAC7-E396-1F87CE410BE5}"/>
              </a:ext>
            </a:extLst>
          </p:cNvPr>
          <p:cNvSpPr txBox="1"/>
          <p:nvPr/>
        </p:nvSpPr>
        <p:spPr>
          <a:xfrm>
            <a:off x="9841133" y="4051832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알림토픽</a:t>
            </a: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054CCDEF-85EB-9C0C-5D1A-F525E397B2D2}"/>
              </a:ext>
            </a:extLst>
          </p:cNvPr>
          <p:cNvCxnSpPr>
            <a:cxnSpLocks/>
            <a:stCxn id="22" idx="6"/>
            <a:endCxn id="29" idx="1"/>
          </p:cNvCxnSpPr>
          <p:nvPr/>
        </p:nvCxnSpPr>
        <p:spPr>
          <a:xfrm>
            <a:off x="5210956" y="3691563"/>
            <a:ext cx="13366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E94219FF-C870-EBB3-39B7-F0F84749DE83}"/>
              </a:ext>
            </a:extLst>
          </p:cNvPr>
          <p:cNvSpPr txBox="1"/>
          <p:nvPr/>
        </p:nvSpPr>
        <p:spPr>
          <a:xfrm>
            <a:off x="5487826" y="3383371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②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913A3CD-C3D7-8414-4165-235CEB814A84}"/>
              </a:ext>
            </a:extLst>
          </p:cNvPr>
          <p:cNvSpPr txBox="1"/>
          <p:nvPr/>
        </p:nvSpPr>
        <p:spPr>
          <a:xfrm>
            <a:off x="6989724" y="3261283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>
                <a:solidFill>
                  <a:schemeClr val="bg1"/>
                </a:solidFill>
              </a:rPr>
              <a:t>③</a:t>
            </a:r>
          </a:p>
        </p:txBody>
      </p: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7CC4B7AB-7F3E-3AF3-6BAD-F62F8C629704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>
            <a:off x="7159001" y="3937688"/>
            <a:ext cx="0" cy="4120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985F77A6-A5D7-949B-3C00-CB985E5549B3}"/>
              </a:ext>
            </a:extLst>
          </p:cNvPr>
          <p:cNvCxnSpPr>
            <a:cxnSpLocks/>
            <a:stCxn id="35" idx="3"/>
          </p:cNvCxnSpPr>
          <p:nvPr/>
        </p:nvCxnSpPr>
        <p:spPr>
          <a:xfrm flipV="1">
            <a:off x="7770416" y="3805888"/>
            <a:ext cx="2027743" cy="120877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CE8E6BD4-5063-4734-5500-4A518FEF3961}"/>
              </a:ext>
            </a:extLst>
          </p:cNvPr>
          <p:cNvSpPr txBox="1"/>
          <p:nvPr/>
        </p:nvSpPr>
        <p:spPr>
          <a:xfrm>
            <a:off x="8948123" y="4100933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⑥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D41A5F7-B72E-2EB4-5FDF-0C4ED07B0611}"/>
              </a:ext>
            </a:extLst>
          </p:cNvPr>
          <p:cNvSpPr txBox="1"/>
          <p:nvPr/>
        </p:nvSpPr>
        <p:spPr>
          <a:xfrm>
            <a:off x="8948123" y="3296874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④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95BD7CB-20DA-BE66-1C67-188E838C1DD0}"/>
              </a:ext>
            </a:extLst>
          </p:cNvPr>
          <p:cNvSpPr txBox="1"/>
          <p:nvPr/>
        </p:nvSpPr>
        <p:spPr>
          <a:xfrm>
            <a:off x="10071965" y="3080213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⑤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0876D1D-C478-9F30-2C7F-256BEAC5C410}"/>
              </a:ext>
            </a:extLst>
          </p:cNvPr>
          <p:cNvSpPr/>
          <p:nvPr/>
        </p:nvSpPr>
        <p:spPr>
          <a:xfrm>
            <a:off x="6547587" y="3521871"/>
            <a:ext cx="1222829" cy="3393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</a:rPr>
              <a:t>예약 </a:t>
            </a:r>
            <a:r>
              <a:rPr lang="en-US" altLang="ko-KR" sz="1200" b="1">
                <a:solidFill>
                  <a:schemeClr val="tx1"/>
                </a:solidFill>
              </a:rPr>
              <a:t>API</a:t>
            </a:r>
            <a:endParaRPr lang="ko-KR" altLang="en-US" sz="1200" b="1">
              <a:solidFill>
                <a:schemeClr val="tx1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0F1BB86-E383-9952-EE38-04FCA66EA322}"/>
              </a:ext>
            </a:extLst>
          </p:cNvPr>
          <p:cNvSpPr/>
          <p:nvPr/>
        </p:nvSpPr>
        <p:spPr>
          <a:xfrm>
            <a:off x="6547587" y="4844975"/>
            <a:ext cx="1222829" cy="3393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Alarm-Consumer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(Send Process)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728925E-B4F3-255A-7BAD-83844FE7D16D}"/>
              </a:ext>
            </a:extLst>
          </p:cNvPr>
          <p:cNvSpPr/>
          <p:nvPr/>
        </p:nvSpPr>
        <p:spPr>
          <a:xfrm>
            <a:off x="9629829" y="5158918"/>
            <a:ext cx="1222829" cy="3393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chemeClr val="tx1"/>
                </a:solidFill>
              </a:rPr>
              <a:t>Msg Send API</a:t>
            </a:r>
            <a:endParaRPr lang="ko-KR" altLang="en-US" sz="1200" b="1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69FFF9C-A567-61AA-4ABD-F1444BD4E1DE}"/>
              </a:ext>
            </a:extLst>
          </p:cNvPr>
          <p:cNvSpPr txBox="1"/>
          <p:nvPr/>
        </p:nvSpPr>
        <p:spPr>
          <a:xfrm>
            <a:off x="4641429" y="3020864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①</a:t>
            </a:r>
          </a:p>
        </p:txBody>
      </p:sp>
      <p:cxnSp>
        <p:nvCxnSpPr>
          <p:cNvPr id="50" name="연결선: 꺾임 49">
            <a:extLst>
              <a:ext uri="{FF2B5EF4-FFF2-40B4-BE49-F238E27FC236}">
                <a16:creationId xmlns:a16="http://schemas.microsoft.com/office/drawing/2014/main" id="{9162388A-245E-163E-AC11-766E49A0153D}"/>
              </a:ext>
            </a:extLst>
          </p:cNvPr>
          <p:cNvCxnSpPr>
            <a:cxnSpLocks/>
            <a:stCxn id="29" idx="3"/>
            <a:endCxn id="20" idx="2"/>
          </p:cNvCxnSpPr>
          <p:nvPr/>
        </p:nvCxnSpPr>
        <p:spPr>
          <a:xfrm flipV="1">
            <a:off x="7770416" y="3689695"/>
            <a:ext cx="2013627" cy="186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연결선: 꺾임 54">
            <a:extLst>
              <a:ext uri="{FF2B5EF4-FFF2-40B4-BE49-F238E27FC236}">
                <a16:creationId xmlns:a16="http://schemas.microsoft.com/office/drawing/2014/main" id="{860ADD74-4F6D-8981-ECAD-49DE3BBD1DBE}"/>
              </a:ext>
            </a:extLst>
          </p:cNvPr>
          <p:cNvCxnSpPr>
            <a:cxnSpLocks/>
            <a:stCxn id="35" idx="3"/>
            <a:endCxn id="37" idx="1"/>
          </p:cNvCxnSpPr>
          <p:nvPr/>
        </p:nvCxnSpPr>
        <p:spPr>
          <a:xfrm>
            <a:off x="7770416" y="5014667"/>
            <a:ext cx="1859413" cy="31394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23BBD221-7254-6766-26F4-F7B88118C7B9}"/>
              </a:ext>
            </a:extLst>
          </p:cNvPr>
          <p:cNvSpPr txBox="1"/>
          <p:nvPr/>
        </p:nvSpPr>
        <p:spPr>
          <a:xfrm>
            <a:off x="6989724" y="4574071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>
                <a:solidFill>
                  <a:schemeClr val="bg1"/>
                </a:solidFill>
              </a:rPr>
              <a:t>⑦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16B1980-A403-D591-BA87-FE27962C2362}"/>
              </a:ext>
            </a:extLst>
          </p:cNvPr>
          <p:cNvSpPr txBox="1"/>
          <p:nvPr/>
        </p:nvSpPr>
        <p:spPr>
          <a:xfrm>
            <a:off x="8948123" y="5051611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⑧</a:t>
            </a:r>
          </a:p>
        </p:txBody>
      </p:sp>
      <p:sp>
        <p:nvSpPr>
          <p:cNvPr id="67" name="말풍선: 모서리가 둥근 사각형 66">
            <a:extLst>
              <a:ext uri="{FF2B5EF4-FFF2-40B4-BE49-F238E27FC236}">
                <a16:creationId xmlns:a16="http://schemas.microsoft.com/office/drawing/2014/main" id="{56F20D6B-7431-EB2C-F435-8C3F0614FED0}"/>
              </a:ext>
            </a:extLst>
          </p:cNvPr>
          <p:cNvSpPr/>
          <p:nvPr/>
        </p:nvSpPr>
        <p:spPr>
          <a:xfrm>
            <a:off x="8001000" y="1993900"/>
            <a:ext cx="1206500" cy="420337"/>
          </a:xfrm>
          <a:prstGeom prst="wedgeRoundRectCallout">
            <a:avLst>
              <a:gd name="adj1" fmla="val -72514"/>
              <a:gd name="adj2" fmla="val 311493"/>
              <a:gd name="adj3" fmla="val 16667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chemeClr val="tx1"/>
                </a:solidFill>
              </a:rPr>
              <a:t>Producer</a:t>
            </a:r>
            <a:endParaRPr lang="ko-KR" altLang="en-US" sz="1200" b="1">
              <a:solidFill>
                <a:schemeClr val="tx1"/>
              </a:solidFill>
            </a:endParaRPr>
          </a:p>
        </p:txBody>
      </p:sp>
      <p:sp>
        <p:nvSpPr>
          <p:cNvPr id="68" name="말풍선: 모서리가 둥근 사각형 67">
            <a:extLst>
              <a:ext uri="{FF2B5EF4-FFF2-40B4-BE49-F238E27FC236}">
                <a16:creationId xmlns:a16="http://schemas.microsoft.com/office/drawing/2014/main" id="{4329989F-35C8-E4F8-CA5A-53FAB5042E19}"/>
              </a:ext>
            </a:extLst>
          </p:cNvPr>
          <p:cNvSpPr/>
          <p:nvPr/>
        </p:nvSpPr>
        <p:spPr>
          <a:xfrm>
            <a:off x="8001000" y="6033396"/>
            <a:ext cx="1206500" cy="420337"/>
          </a:xfrm>
          <a:prstGeom prst="wedgeRoundRectCallout">
            <a:avLst>
              <a:gd name="adj1" fmla="val -71147"/>
              <a:gd name="adj2" fmla="val -248107"/>
              <a:gd name="adj3" fmla="val 16667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chemeClr val="tx1"/>
                </a:solidFill>
              </a:rPr>
              <a:t>Consumer</a:t>
            </a:r>
            <a:endParaRPr lang="ko-KR" altLang="en-US" sz="12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6742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34C12-D0AE-6646-63FC-5EF0BD36C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C2C7E844-1E3B-865E-1C38-05D3E6BD71B6}"/>
              </a:ext>
            </a:extLst>
          </p:cNvPr>
          <p:cNvSpPr/>
          <p:nvPr/>
        </p:nvSpPr>
        <p:spPr>
          <a:xfrm>
            <a:off x="9387803" y="2794000"/>
            <a:ext cx="1706880" cy="176451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200" b="1">
                <a:solidFill>
                  <a:schemeClr val="tx1"/>
                </a:solidFill>
              </a:rPr>
              <a:t>Kafka</a:t>
            </a:r>
            <a:endParaRPr lang="ko-KR" altLang="en-US" sz="1200" b="1">
              <a:solidFill>
                <a:schemeClr val="tx1"/>
              </a:solidFill>
            </a:endParaRPr>
          </a:p>
        </p:txBody>
      </p:sp>
      <p:sp>
        <p:nvSpPr>
          <p:cNvPr id="20" name="순서도: 자기 디스크 19">
            <a:extLst>
              <a:ext uri="{FF2B5EF4-FFF2-40B4-BE49-F238E27FC236}">
                <a16:creationId xmlns:a16="http://schemas.microsoft.com/office/drawing/2014/main" id="{C8AD4713-983B-1017-0E14-A869E64E9181}"/>
              </a:ext>
            </a:extLst>
          </p:cNvPr>
          <p:cNvSpPr/>
          <p:nvPr/>
        </p:nvSpPr>
        <p:spPr>
          <a:xfrm>
            <a:off x="9784043" y="3383371"/>
            <a:ext cx="914400" cy="612648"/>
          </a:xfrm>
          <a:prstGeom prst="flowChartMagneticDisk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2788CC3-0328-5A4F-0775-D5B71F01F3E2}"/>
              </a:ext>
            </a:extLst>
          </p:cNvPr>
          <p:cNvSpPr/>
          <p:nvPr/>
        </p:nvSpPr>
        <p:spPr>
          <a:xfrm>
            <a:off x="9387803" y="4870118"/>
            <a:ext cx="1706880" cy="7142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200" b="1">
                <a:solidFill>
                  <a:schemeClr val="tx1"/>
                </a:solidFill>
              </a:rPr>
              <a:t>DB</a:t>
            </a:r>
            <a:endParaRPr lang="ko-KR" altLang="en-US" sz="1200" b="1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4E93851-D4F3-4C7A-2ED1-3EB014887635}"/>
              </a:ext>
            </a:extLst>
          </p:cNvPr>
          <p:cNvSpPr/>
          <p:nvPr/>
        </p:nvSpPr>
        <p:spPr>
          <a:xfrm>
            <a:off x="5839422" y="2794000"/>
            <a:ext cx="2639158" cy="312320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06713CA-25D4-7B20-ED0F-165492679E90}"/>
              </a:ext>
            </a:extLst>
          </p:cNvPr>
          <p:cNvSpPr/>
          <p:nvPr/>
        </p:nvSpPr>
        <p:spPr>
          <a:xfrm>
            <a:off x="5839422" y="5560625"/>
            <a:ext cx="2639158" cy="35657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chemeClr val="bg1"/>
                </a:solidFill>
              </a:rPr>
              <a:t>NKS – NHN K8S Service</a:t>
            </a:r>
            <a:endParaRPr lang="ko-KR" altLang="en-US" sz="1200" b="1">
              <a:solidFill>
                <a:schemeClr val="bg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F9202E4-F074-A808-2091-688C926870E2}"/>
              </a:ext>
            </a:extLst>
          </p:cNvPr>
          <p:cNvSpPr/>
          <p:nvPr/>
        </p:nvSpPr>
        <p:spPr>
          <a:xfrm>
            <a:off x="6222620" y="3008580"/>
            <a:ext cx="1872762" cy="929108"/>
          </a:xfrm>
          <a:prstGeom prst="rect">
            <a:avLst/>
          </a:prstGeom>
          <a:solidFill>
            <a:srgbClr val="0070C0">
              <a:alpha val="50000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bg1"/>
                </a:solidFill>
              </a:rPr>
              <a:t>Common-Service</a:t>
            </a:r>
          </a:p>
          <a:p>
            <a:pPr algn="ctr"/>
            <a:endParaRPr lang="en-US" altLang="ko-KR" sz="1200">
              <a:solidFill>
                <a:schemeClr val="bg1"/>
              </a:solidFill>
            </a:endParaRPr>
          </a:p>
          <a:p>
            <a:pPr algn="ctr"/>
            <a:endParaRPr lang="en-US" altLang="ko-KR" sz="1200">
              <a:solidFill>
                <a:schemeClr val="bg1"/>
              </a:solidFill>
            </a:endParaRPr>
          </a:p>
          <a:p>
            <a:pPr algn="ctr"/>
            <a:endParaRPr lang="ko-KR" altLang="en-US" sz="1200">
              <a:solidFill>
                <a:schemeClr val="bg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933D6DA-2EBE-CD1B-EAE8-42058FBD040C}"/>
              </a:ext>
            </a:extLst>
          </p:cNvPr>
          <p:cNvSpPr/>
          <p:nvPr/>
        </p:nvSpPr>
        <p:spPr>
          <a:xfrm>
            <a:off x="6222620" y="4349751"/>
            <a:ext cx="1872762" cy="929108"/>
          </a:xfrm>
          <a:prstGeom prst="rect">
            <a:avLst/>
          </a:prstGeom>
          <a:solidFill>
            <a:srgbClr val="0070C0">
              <a:alpha val="50000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bg1"/>
                </a:solidFill>
              </a:rPr>
              <a:t>Stats-Service</a:t>
            </a:r>
          </a:p>
          <a:p>
            <a:pPr algn="ctr"/>
            <a:endParaRPr lang="en-US" altLang="ko-KR" sz="1200">
              <a:solidFill>
                <a:schemeClr val="bg1"/>
              </a:solidFill>
            </a:endParaRPr>
          </a:p>
          <a:p>
            <a:pPr algn="ctr"/>
            <a:endParaRPr lang="en-US" altLang="ko-KR" sz="1200">
              <a:solidFill>
                <a:schemeClr val="bg1"/>
              </a:solidFill>
            </a:endParaRPr>
          </a:p>
          <a:p>
            <a:pPr algn="ctr"/>
            <a:endParaRPr lang="ko-KR" altLang="en-US" sz="1200">
              <a:solidFill>
                <a:schemeClr val="bg1"/>
              </a:solidFill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69A199F7-2264-79CD-B2E9-0F2CA01BAB5B}"/>
              </a:ext>
            </a:extLst>
          </p:cNvPr>
          <p:cNvSpPr/>
          <p:nvPr/>
        </p:nvSpPr>
        <p:spPr>
          <a:xfrm>
            <a:off x="4410456" y="3291313"/>
            <a:ext cx="800500" cy="80050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A0B9661-D789-4649-734F-7F946162CFB5}"/>
              </a:ext>
            </a:extLst>
          </p:cNvPr>
          <p:cNvSpPr txBox="1"/>
          <p:nvPr/>
        </p:nvSpPr>
        <p:spPr>
          <a:xfrm>
            <a:off x="9841133" y="4051832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통계토픽</a:t>
            </a: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25B03B52-0895-CE6E-B9B0-1220BE2D7039}"/>
              </a:ext>
            </a:extLst>
          </p:cNvPr>
          <p:cNvCxnSpPr>
            <a:cxnSpLocks/>
            <a:stCxn id="22" idx="6"/>
            <a:endCxn id="29" idx="1"/>
          </p:cNvCxnSpPr>
          <p:nvPr/>
        </p:nvCxnSpPr>
        <p:spPr>
          <a:xfrm>
            <a:off x="5210956" y="3691563"/>
            <a:ext cx="13366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EF89BDE3-9013-24B7-5C9E-BC695E35AB09}"/>
              </a:ext>
            </a:extLst>
          </p:cNvPr>
          <p:cNvSpPr txBox="1"/>
          <p:nvPr/>
        </p:nvSpPr>
        <p:spPr>
          <a:xfrm>
            <a:off x="4779238" y="3020864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②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323E369-DC61-F24E-8C69-77C6AF6489A9}"/>
              </a:ext>
            </a:extLst>
          </p:cNvPr>
          <p:cNvSpPr txBox="1"/>
          <p:nvPr/>
        </p:nvSpPr>
        <p:spPr>
          <a:xfrm>
            <a:off x="5399742" y="3379409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③</a:t>
            </a:r>
          </a:p>
        </p:txBody>
      </p: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7C52B965-E780-D9ED-0CB0-9F79892A4703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>
            <a:off x="7159001" y="3937688"/>
            <a:ext cx="0" cy="4120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18B9C111-7D9D-B60B-C62A-26447C6AD018}"/>
              </a:ext>
            </a:extLst>
          </p:cNvPr>
          <p:cNvCxnSpPr>
            <a:cxnSpLocks/>
            <a:stCxn id="35" idx="3"/>
          </p:cNvCxnSpPr>
          <p:nvPr/>
        </p:nvCxnSpPr>
        <p:spPr>
          <a:xfrm flipV="1">
            <a:off x="7770416" y="3805888"/>
            <a:ext cx="2027743" cy="117243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ED577722-9EF3-685C-0E9F-44EBCA26D6A0}"/>
              </a:ext>
            </a:extLst>
          </p:cNvPr>
          <p:cNvSpPr txBox="1"/>
          <p:nvPr/>
        </p:nvSpPr>
        <p:spPr>
          <a:xfrm>
            <a:off x="8873969" y="3931611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⑥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39A3D94-CE6C-2E0E-8EAC-70686C0ED486}"/>
              </a:ext>
            </a:extLst>
          </p:cNvPr>
          <p:cNvSpPr txBox="1"/>
          <p:nvPr/>
        </p:nvSpPr>
        <p:spPr>
          <a:xfrm>
            <a:off x="8873969" y="3383456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④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F5AA943-BCAA-7BF4-A306-CB8E1A8F5058}"/>
              </a:ext>
            </a:extLst>
          </p:cNvPr>
          <p:cNvSpPr txBox="1"/>
          <p:nvPr/>
        </p:nvSpPr>
        <p:spPr>
          <a:xfrm>
            <a:off x="10071965" y="3080213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⑤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1D47C6A-DAFA-3F71-6CB8-09B2F4FC160D}"/>
              </a:ext>
            </a:extLst>
          </p:cNvPr>
          <p:cNvSpPr/>
          <p:nvPr/>
        </p:nvSpPr>
        <p:spPr>
          <a:xfrm>
            <a:off x="6547587" y="3521871"/>
            <a:ext cx="1222829" cy="3393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spc="-110">
                <a:solidFill>
                  <a:schemeClr val="tx1"/>
                </a:solidFill>
              </a:rPr>
              <a:t>Menu stats-API</a:t>
            </a:r>
            <a:endParaRPr lang="ko-KR" altLang="en-US" sz="1200" b="1" spc="-110">
              <a:solidFill>
                <a:schemeClr val="tx1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D2F7029-4B3F-5CD7-8203-DDFD9F0AD06A}"/>
              </a:ext>
            </a:extLst>
          </p:cNvPr>
          <p:cNvSpPr/>
          <p:nvPr/>
        </p:nvSpPr>
        <p:spPr>
          <a:xfrm>
            <a:off x="6547587" y="4772295"/>
            <a:ext cx="1222829" cy="4120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b="1" dirty="0">
                <a:solidFill>
                  <a:schemeClr val="tx1"/>
                </a:solidFill>
              </a:rPr>
              <a:t>Stats-Consumer</a:t>
            </a:r>
          </a:p>
          <a:p>
            <a:pPr algn="ctr"/>
            <a:r>
              <a:rPr lang="en-US" altLang="ko-KR" sz="1050" b="1" dirty="0">
                <a:solidFill>
                  <a:schemeClr val="tx1"/>
                </a:solidFill>
              </a:rPr>
              <a:t>Save Process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6AD0F4D-61FA-DC92-2936-A22A3CA7850B}"/>
              </a:ext>
            </a:extLst>
          </p:cNvPr>
          <p:cNvSpPr/>
          <p:nvPr/>
        </p:nvSpPr>
        <p:spPr>
          <a:xfrm>
            <a:off x="9629829" y="5158918"/>
            <a:ext cx="1222829" cy="3393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spc="-110">
                <a:solidFill>
                  <a:schemeClr val="tx1"/>
                </a:solidFill>
              </a:rPr>
              <a:t>Insert or Update</a:t>
            </a:r>
            <a:endParaRPr lang="ko-KR" altLang="en-US" sz="1200" b="1" spc="-110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5CF6C98-DBCF-4FAD-B983-3A9670A98CE3}"/>
              </a:ext>
            </a:extLst>
          </p:cNvPr>
          <p:cNvSpPr txBox="1"/>
          <p:nvPr/>
        </p:nvSpPr>
        <p:spPr>
          <a:xfrm>
            <a:off x="4548265" y="3020864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①</a:t>
            </a:r>
          </a:p>
        </p:txBody>
      </p:sp>
      <p:cxnSp>
        <p:nvCxnSpPr>
          <p:cNvPr id="50" name="연결선: 꺾임 49">
            <a:extLst>
              <a:ext uri="{FF2B5EF4-FFF2-40B4-BE49-F238E27FC236}">
                <a16:creationId xmlns:a16="http://schemas.microsoft.com/office/drawing/2014/main" id="{370CDD15-154D-AC92-9301-506C4D6EED11}"/>
              </a:ext>
            </a:extLst>
          </p:cNvPr>
          <p:cNvCxnSpPr>
            <a:cxnSpLocks/>
            <a:stCxn id="29" idx="3"/>
            <a:endCxn id="20" idx="2"/>
          </p:cNvCxnSpPr>
          <p:nvPr/>
        </p:nvCxnSpPr>
        <p:spPr>
          <a:xfrm flipV="1">
            <a:off x="7770416" y="3689695"/>
            <a:ext cx="2013627" cy="186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연결선: 꺾임 54">
            <a:extLst>
              <a:ext uri="{FF2B5EF4-FFF2-40B4-BE49-F238E27FC236}">
                <a16:creationId xmlns:a16="http://schemas.microsoft.com/office/drawing/2014/main" id="{2518F127-F523-BBE0-4044-DBCACB205A2F}"/>
              </a:ext>
            </a:extLst>
          </p:cNvPr>
          <p:cNvCxnSpPr>
            <a:cxnSpLocks/>
            <a:endCxn id="37" idx="1"/>
          </p:cNvCxnSpPr>
          <p:nvPr/>
        </p:nvCxnSpPr>
        <p:spPr>
          <a:xfrm>
            <a:off x="7770416" y="4989226"/>
            <a:ext cx="1859413" cy="33938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D2B21B45-5A34-55AE-FE29-79B50F9A098B}"/>
              </a:ext>
            </a:extLst>
          </p:cNvPr>
          <p:cNvSpPr txBox="1"/>
          <p:nvPr/>
        </p:nvSpPr>
        <p:spPr>
          <a:xfrm>
            <a:off x="8873969" y="5051611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⑦</a:t>
            </a:r>
          </a:p>
        </p:txBody>
      </p:sp>
      <p:sp>
        <p:nvSpPr>
          <p:cNvPr id="67" name="말풍선: 모서리가 둥근 사각형 66">
            <a:extLst>
              <a:ext uri="{FF2B5EF4-FFF2-40B4-BE49-F238E27FC236}">
                <a16:creationId xmlns:a16="http://schemas.microsoft.com/office/drawing/2014/main" id="{8ACE4B74-0659-DC3E-4977-FA10A835720B}"/>
              </a:ext>
            </a:extLst>
          </p:cNvPr>
          <p:cNvSpPr/>
          <p:nvPr/>
        </p:nvSpPr>
        <p:spPr>
          <a:xfrm>
            <a:off x="8001000" y="1993900"/>
            <a:ext cx="1206500" cy="420337"/>
          </a:xfrm>
          <a:prstGeom prst="wedgeRoundRectCallout">
            <a:avLst>
              <a:gd name="adj1" fmla="val -72514"/>
              <a:gd name="adj2" fmla="val 311493"/>
              <a:gd name="adj3" fmla="val 16667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chemeClr val="tx1"/>
                </a:solidFill>
              </a:rPr>
              <a:t>Producer</a:t>
            </a:r>
            <a:endParaRPr lang="ko-KR" altLang="en-US" sz="1200" b="1">
              <a:solidFill>
                <a:schemeClr val="tx1"/>
              </a:solidFill>
            </a:endParaRPr>
          </a:p>
        </p:txBody>
      </p:sp>
      <p:sp>
        <p:nvSpPr>
          <p:cNvPr id="68" name="말풍선: 모서리가 둥근 사각형 67">
            <a:extLst>
              <a:ext uri="{FF2B5EF4-FFF2-40B4-BE49-F238E27FC236}">
                <a16:creationId xmlns:a16="http://schemas.microsoft.com/office/drawing/2014/main" id="{6BAC2CDB-B86B-D0D1-853B-D04C9E35F2F8}"/>
              </a:ext>
            </a:extLst>
          </p:cNvPr>
          <p:cNvSpPr/>
          <p:nvPr/>
        </p:nvSpPr>
        <p:spPr>
          <a:xfrm>
            <a:off x="8001000" y="6033396"/>
            <a:ext cx="1206500" cy="420337"/>
          </a:xfrm>
          <a:prstGeom prst="wedgeRoundRectCallout">
            <a:avLst>
              <a:gd name="adj1" fmla="val -71147"/>
              <a:gd name="adj2" fmla="val -248107"/>
              <a:gd name="adj3" fmla="val 16667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chemeClr val="tx1"/>
                </a:solidFill>
              </a:rPr>
              <a:t>Consumer</a:t>
            </a:r>
            <a:endParaRPr lang="ko-KR" altLang="en-US" sz="12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7223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E1DA9-0F89-E36B-90DB-333E95A08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84C62015-E945-BC6E-3505-B6064AC7A85D}"/>
              </a:ext>
            </a:extLst>
          </p:cNvPr>
          <p:cNvSpPr/>
          <p:nvPr/>
        </p:nvSpPr>
        <p:spPr>
          <a:xfrm>
            <a:off x="9387803" y="2794000"/>
            <a:ext cx="1706880" cy="176451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200" b="1">
                <a:solidFill>
                  <a:schemeClr val="tx1"/>
                </a:solidFill>
              </a:rPr>
              <a:t>Kafka</a:t>
            </a:r>
            <a:endParaRPr lang="ko-KR" altLang="en-US" sz="1200" b="1">
              <a:solidFill>
                <a:schemeClr val="tx1"/>
              </a:solidFill>
            </a:endParaRPr>
          </a:p>
        </p:txBody>
      </p:sp>
      <p:sp>
        <p:nvSpPr>
          <p:cNvPr id="20" name="순서도: 자기 디스크 19">
            <a:extLst>
              <a:ext uri="{FF2B5EF4-FFF2-40B4-BE49-F238E27FC236}">
                <a16:creationId xmlns:a16="http://schemas.microsoft.com/office/drawing/2014/main" id="{3DF1277E-1CAD-DF7A-38C0-CD3601A3D9FE}"/>
              </a:ext>
            </a:extLst>
          </p:cNvPr>
          <p:cNvSpPr/>
          <p:nvPr/>
        </p:nvSpPr>
        <p:spPr>
          <a:xfrm>
            <a:off x="9784043" y="3383371"/>
            <a:ext cx="914400" cy="612648"/>
          </a:xfrm>
          <a:prstGeom prst="flowChartMagneticDisk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BE4C3E9-67DF-EF92-F345-D4CAAEA3AB29}"/>
              </a:ext>
            </a:extLst>
          </p:cNvPr>
          <p:cNvSpPr/>
          <p:nvPr/>
        </p:nvSpPr>
        <p:spPr>
          <a:xfrm>
            <a:off x="9387803" y="4870118"/>
            <a:ext cx="1706880" cy="7142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200" b="1">
                <a:solidFill>
                  <a:schemeClr val="tx1"/>
                </a:solidFill>
              </a:rPr>
              <a:t>DB</a:t>
            </a:r>
            <a:endParaRPr lang="ko-KR" altLang="en-US" sz="1200" b="1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525E6FE-9CF6-BAB4-18DB-3D8E1EEC6CB1}"/>
              </a:ext>
            </a:extLst>
          </p:cNvPr>
          <p:cNvSpPr/>
          <p:nvPr/>
        </p:nvSpPr>
        <p:spPr>
          <a:xfrm>
            <a:off x="5839422" y="2794000"/>
            <a:ext cx="2639158" cy="312320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C950ADF-CBE8-D9CF-D48B-4ED09F51ACCC}"/>
              </a:ext>
            </a:extLst>
          </p:cNvPr>
          <p:cNvSpPr/>
          <p:nvPr/>
        </p:nvSpPr>
        <p:spPr>
          <a:xfrm>
            <a:off x="5839422" y="5560625"/>
            <a:ext cx="2639158" cy="35657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chemeClr val="bg1"/>
                </a:solidFill>
              </a:rPr>
              <a:t>NKS – NHN K8S Service</a:t>
            </a:r>
            <a:endParaRPr lang="ko-KR" altLang="en-US" sz="1200" b="1">
              <a:solidFill>
                <a:schemeClr val="bg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3A664CD-59D2-3286-9E4B-94D561A264FE}"/>
              </a:ext>
            </a:extLst>
          </p:cNvPr>
          <p:cNvSpPr/>
          <p:nvPr/>
        </p:nvSpPr>
        <p:spPr>
          <a:xfrm>
            <a:off x="6222620" y="3008580"/>
            <a:ext cx="1872762" cy="929108"/>
          </a:xfrm>
          <a:prstGeom prst="rect">
            <a:avLst/>
          </a:prstGeom>
          <a:solidFill>
            <a:srgbClr val="0070C0">
              <a:alpha val="50000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bg1"/>
                </a:solidFill>
              </a:rPr>
              <a:t>Some-Service</a:t>
            </a:r>
          </a:p>
          <a:p>
            <a:pPr algn="ctr"/>
            <a:endParaRPr lang="en-US" altLang="ko-KR" sz="1200">
              <a:solidFill>
                <a:schemeClr val="bg1"/>
              </a:solidFill>
            </a:endParaRPr>
          </a:p>
          <a:p>
            <a:pPr algn="ctr"/>
            <a:endParaRPr lang="en-US" altLang="ko-KR" sz="1200">
              <a:solidFill>
                <a:schemeClr val="bg1"/>
              </a:solidFill>
            </a:endParaRPr>
          </a:p>
          <a:p>
            <a:pPr algn="ctr"/>
            <a:endParaRPr lang="ko-KR" altLang="en-US" sz="1200">
              <a:solidFill>
                <a:schemeClr val="bg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8EC929F-D7C0-5C24-EB6D-A0ED8ECC2291}"/>
              </a:ext>
            </a:extLst>
          </p:cNvPr>
          <p:cNvSpPr/>
          <p:nvPr/>
        </p:nvSpPr>
        <p:spPr>
          <a:xfrm>
            <a:off x="6222620" y="4349751"/>
            <a:ext cx="1872762" cy="1061410"/>
          </a:xfrm>
          <a:prstGeom prst="rect">
            <a:avLst/>
          </a:prstGeom>
          <a:solidFill>
            <a:srgbClr val="0070C0">
              <a:alpha val="50000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bg1"/>
                </a:solidFill>
              </a:rPr>
              <a:t>Common-Service</a:t>
            </a:r>
          </a:p>
          <a:p>
            <a:pPr algn="ctr"/>
            <a:endParaRPr lang="en-US" altLang="ko-KR" sz="1200">
              <a:solidFill>
                <a:schemeClr val="bg1"/>
              </a:solidFill>
            </a:endParaRPr>
          </a:p>
          <a:p>
            <a:pPr algn="ctr"/>
            <a:endParaRPr lang="en-US" altLang="ko-KR" sz="1200">
              <a:solidFill>
                <a:schemeClr val="bg1"/>
              </a:solidFill>
            </a:endParaRPr>
          </a:p>
          <a:p>
            <a:pPr algn="ctr"/>
            <a:endParaRPr lang="ko-KR" altLang="en-US" sz="1200">
              <a:solidFill>
                <a:schemeClr val="bg1"/>
              </a:solidFill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F6C0D559-6C2E-F823-4B8C-2F7ED6116F8E}"/>
              </a:ext>
            </a:extLst>
          </p:cNvPr>
          <p:cNvSpPr/>
          <p:nvPr/>
        </p:nvSpPr>
        <p:spPr>
          <a:xfrm>
            <a:off x="4410456" y="3291313"/>
            <a:ext cx="800500" cy="80050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C81C331-000C-E205-362A-416E2705AEFB}"/>
              </a:ext>
            </a:extLst>
          </p:cNvPr>
          <p:cNvSpPr txBox="1"/>
          <p:nvPr/>
        </p:nvSpPr>
        <p:spPr>
          <a:xfrm>
            <a:off x="9841133" y="4051832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통계토픽</a:t>
            </a: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C40EFEF3-C845-4808-410E-5F822C051327}"/>
              </a:ext>
            </a:extLst>
          </p:cNvPr>
          <p:cNvCxnSpPr>
            <a:cxnSpLocks/>
          </p:cNvCxnSpPr>
          <p:nvPr/>
        </p:nvCxnSpPr>
        <p:spPr>
          <a:xfrm>
            <a:off x="5210956" y="3610017"/>
            <a:ext cx="13366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46A70856-67F1-6D07-09DB-009CF902D6E9}"/>
              </a:ext>
            </a:extLst>
          </p:cNvPr>
          <p:cNvSpPr txBox="1"/>
          <p:nvPr/>
        </p:nvSpPr>
        <p:spPr>
          <a:xfrm>
            <a:off x="5399742" y="3297863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②</a:t>
            </a:r>
          </a:p>
        </p:txBody>
      </p: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16C1BE5C-E619-53E2-0BF0-20707C8B7C5E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>
            <a:off x="7159001" y="3937688"/>
            <a:ext cx="0" cy="4120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3BD44681-8B50-D12A-F5C7-71E0BA646F92}"/>
              </a:ext>
            </a:extLst>
          </p:cNvPr>
          <p:cNvCxnSpPr>
            <a:cxnSpLocks/>
            <a:stCxn id="35" idx="3"/>
          </p:cNvCxnSpPr>
          <p:nvPr/>
        </p:nvCxnSpPr>
        <p:spPr>
          <a:xfrm flipV="1">
            <a:off x="7770416" y="3871828"/>
            <a:ext cx="2027743" cy="124816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AFC63F88-68DD-403E-8BB5-A3BC49C968AA}"/>
              </a:ext>
            </a:extLst>
          </p:cNvPr>
          <p:cNvSpPr txBox="1"/>
          <p:nvPr/>
        </p:nvSpPr>
        <p:spPr>
          <a:xfrm>
            <a:off x="8870985" y="4015749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⑥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264AC38-6C68-F26D-8B7A-227F8A17B67F}"/>
              </a:ext>
            </a:extLst>
          </p:cNvPr>
          <p:cNvSpPr txBox="1"/>
          <p:nvPr/>
        </p:nvSpPr>
        <p:spPr>
          <a:xfrm>
            <a:off x="8870985" y="3176496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④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B5D910D-DF6D-3E1D-91DA-00DBBA0FDE6F}"/>
              </a:ext>
            </a:extLst>
          </p:cNvPr>
          <p:cNvSpPr txBox="1"/>
          <p:nvPr/>
        </p:nvSpPr>
        <p:spPr>
          <a:xfrm>
            <a:off x="10071965" y="3080213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⑤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6953584-C76D-312F-A752-D8CCEBDC89D7}"/>
              </a:ext>
            </a:extLst>
          </p:cNvPr>
          <p:cNvSpPr/>
          <p:nvPr/>
        </p:nvSpPr>
        <p:spPr>
          <a:xfrm>
            <a:off x="6547587" y="3521871"/>
            <a:ext cx="1222829" cy="3393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spc="-110">
                <a:solidFill>
                  <a:schemeClr val="tx1"/>
                </a:solidFill>
              </a:rPr>
              <a:t>Some-API</a:t>
            </a:r>
            <a:endParaRPr lang="ko-KR" altLang="en-US" sz="1200" b="1" spc="-110">
              <a:solidFill>
                <a:schemeClr val="tx1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C56B16F-884A-E8FE-D349-39203F1BAC3B}"/>
              </a:ext>
            </a:extLst>
          </p:cNvPr>
          <p:cNvSpPr/>
          <p:nvPr/>
        </p:nvSpPr>
        <p:spPr>
          <a:xfrm>
            <a:off x="6547587" y="4910915"/>
            <a:ext cx="1222829" cy="41815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Api-stats-consumer</a:t>
            </a:r>
          </a:p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(Some Process)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63A2717-5D47-71EF-C5DB-DB578EABA90C}"/>
              </a:ext>
            </a:extLst>
          </p:cNvPr>
          <p:cNvSpPr/>
          <p:nvPr/>
        </p:nvSpPr>
        <p:spPr>
          <a:xfrm>
            <a:off x="9629829" y="5158918"/>
            <a:ext cx="1222829" cy="3393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spc="-110">
                <a:solidFill>
                  <a:schemeClr val="tx1"/>
                </a:solidFill>
              </a:rPr>
              <a:t>Insert or Update</a:t>
            </a:r>
            <a:endParaRPr lang="ko-KR" altLang="en-US" sz="1200" b="1" spc="-110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B875C5C-5AE9-BA51-A154-24AD252F8805}"/>
              </a:ext>
            </a:extLst>
          </p:cNvPr>
          <p:cNvSpPr txBox="1"/>
          <p:nvPr/>
        </p:nvSpPr>
        <p:spPr>
          <a:xfrm>
            <a:off x="4641429" y="3020864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①</a:t>
            </a:r>
          </a:p>
        </p:txBody>
      </p:sp>
      <p:cxnSp>
        <p:nvCxnSpPr>
          <p:cNvPr id="50" name="연결선: 꺾임 49">
            <a:extLst>
              <a:ext uri="{FF2B5EF4-FFF2-40B4-BE49-F238E27FC236}">
                <a16:creationId xmlns:a16="http://schemas.microsoft.com/office/drawing/2014/main" id="{8A5332F9-B970-755F-3B9A-7A8FF5812668}"/>
              </a:ext>
            </a:extLst>
          </p:cNvPr>
          <p:cNvCxnSpPr>
            <a:cxnSpLocks/>
            <a:stCxn id="13" idx="3"/>
            <a:endCxn id="20" idx="2"/>
          </p:cNvCxnSpPr>
          <p:nvPr/>
        </p:nvCxnSpPr>
        <p:spPr>
          <a:xfrm>
            <a:off x="8095382" y="3473134"/>
            <a:ext cx="1688661" cy="21656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연결선: 꺾임 54">
            <a:extLst>
              <a:ext uri="{FF2B5EF4-FFF2-40B4-BE49-F238E27FC236}">
                <a16:creationId xmlns:a16="http://schemas.microsoft.com/office/drawing/2014/main" id="{019D5A32-5E60-F5A0-2FAB-B7891E4BED86}"/>
              </a:ext>
            </a:extLst>
          </p:cNvPr>
          <p:cNvCxnSpPr>
            <a:cxnSpLocks/>
            <a:stCxn id="35" idx="3"/>
            <a:endCxn id="37" idx="1"/>
          </p:cNvCxnSpPr>
          <p:nvPr/>
        </p:nvCxnSpPr>
        <p:spPr>
          <a:xfrm>
            <a:off x="7770416" y="5119994"/>
            <a:ext cx="1859413" cy="20861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C64BC460-68AE-4B92-C614-C56E088F4116}"/>
              </a:ext>
            </a:extLst>
          </p:cNvPr>
          <p:cNvSpPr txBox="1"/>
          <p:nvPr/>
        </p:nvSpPr>
        <p:spPr>
          <a:xfrm>
            <a:off x="8870985" y="5051611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⑧</a:t>
            </a:r>
          </a:p>
        </p:txBody>
      </p:sp>
      <p:sp>
        <p:nvSpPr>
          <p:cNvPr id="67" name="말풍선: 모서리가 둥근 사각형 66">
            <a:extLst>
              <a:ext uri="{FF2B5EF4-FFF2-40B4-BE49-F238E27FC236}">
                <a16:creationId xmlns:a16="http://schemas.microsoft.com/office/drawing/2014/main" id="{43FB6854-6977-E370-B6E5-FD4C604372FB}"/>
              </a:ext>
            </a:extLst>
          </p:cNvPr>
          <p:cNvSpPr/>
          <p:nvPr/>
        </p:nvSpPr>
        <p:spPr>
          <a:xfrm>
            <a:off x="8001000" y="1993900"/>
            <a:ext cx="1206500" cy="420337"/>
          </a:xfrm>
          <a:prstGeom prst="wedgeRoundRectCallout">
            <a:avLst>
              <a:gd name="adj1" fmla="val -72514"/>
              <a:gd name="adj2" fmla="val 311493"/>
              <a:gd name="adj3" fmla="val 16667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chemeClr val="tx1"/>
                </a:solidFill>
              </a:rPr>
              <a:t>Producer</a:t>
            </a:r>
            <a:endParaRPr lang="ko-KR" altLang="en-US" sz="1200" b="1">
              <a:solidFill>
                <a:schemeClr val="tx1"/>
              </a:solidFill>
            </a:endParaRPr>
          </a:p>
        </p:txBody>
      </p:sp>
      <p:sp>
        <p:nvSpPr>
          <p:cNvPr id="68" name="말풍선: 모서리가 둥근 사각형 67">
            <a:extLst>
              <a:ext uri="{FF2B5EF4-FFF2-40B4-BE49-F238E27FC236}">
                <a16:creationId xmlns:a16="http://schemas.microsoft.com/office/drawing/2014/main" id="{240AEDB3-18FA-B47D-DFED-90EA43AC7AA1}"/>
              </a:ext>
            </a:extLst>
          </p:cNvPr>
          <p:cNvSpPr/>
          <p:nvPr/>
        </p:nvSpPr>
        <p:spPr>
          <a:xfrm>
            <a:off x="8001000" y="6033396"/>
            <a:ext cx="1206500" cy="420337"/>
          </a:xfrm>
          <a:prstGeom prst="wedgeRoundRectCallout">
            <a:avLst>
              <a:gd name="adj1" fmla="val -71147"/>
              <a:gd name="adj2" fmla="val -248107"/>
              <a:gd name="adj3" fmla="val 16667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chemeClr val="tx1"/>
                </a:solidFill>
              </a:rPr>
              <a:t>Consumer</a:t>
            </a:r>
            <a:endParaRPr lang="ko-KR" altLang="en-US" sz="1200" b="1">
              <a:solidFill>
                <a:schemeClr val="tx1"/>
              </a:solidFill>
            </a:endParaRPr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BBFEF81D-4D22-BD8B-E2C7-839B85666912}"/>
              </a:ext>
            </a:extLst>
          </p:cNvPr>
          <p:cNvCxnSpPr>
            <a:cxnSpLocks/>
          </p:cNvCxnSpPr>
          <p:nvPr/>
        </p:nvCxnSpPr>
        <p:spPr>
          <a:xfrm flipH="1">
            <a:off x="5171988" y="3739846"/>
            <a:ext cx="1375599" cy="196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1FDA310-1B93-E339-C08F-FF071F64A66A}"/>
              </a:ext>
            </a:extLst>
          </p:cNvPr>
          <p:cNvSpPr txBox="1"/>
          <p:nvPr/>
        </p:nvSpPr>
        <p:spPr>
          <a:xfrm>
            <a:off x="5399742" y="3774833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③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D9A844-5847-0016-737B-476EA4E450C2}"/>
              </a:ext>
            </a:extLst>
          </p:cNvPr>
          <p:cNvSpPr txBox="1"/>
          <p:nvPr/>
        </p:nvSpPr>
        <p:spPr>
          <a:xfrm>
            <a:off x="6989724" y="4640011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⑦</a:t>
            </a:r>
          </a:p>
        </p:txBody>
      </p:sp>
    </p:spTree>
    <p:extLst>
      <p:ext uri="{BB962C8B-B14F-4D97-AF65-F5344CB8AC3E}">
        <p14:creationId xmlns:p14="http://schemas.microsoft.com/office/powerpoint/2010/main" val="4038858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1023</TotalTime>
  <Words>169</Words>
  <Application>Microsoft Office PowerPoint</Application>
  <PresentationFormat>와이드스크린</PresentationFormat>
  <Paragraphs>111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조창일</dc:creator>
  <cp:lastModifiedBy>상민 이</cp:lastModifiedBy>
  <cp:revision>6</cp:revision>
  <dcterms:created xsi:type="dcterms:W3CDTF">2025-12-07T07:30:15Z</dcterms:created>
  <dcterms:modified xsi:type="dcterms:W3CDTF">2025-12-15T06:06:29Z</dcterms:modified>
</cp:coreProperties>
</file>